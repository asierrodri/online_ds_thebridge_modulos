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29D0301-DCD3-41A0-BD33-B5AE11C5A9A4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A49CA8-AB08-4C25-802E-C0DADA48A7A1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9BFCFD-4351-4909-8C68-A5F354BB2F0B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1F995-6C8F-4EC1-9750-E24C2340969D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40FB37-C01D-4F1F-9E48-BD71B7FB617E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AD3858-00F5-4F6D-9536-512199BAE4C0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51626E-3843-43F8-9838-61376A9B2733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6F0C75-350E-4230-9FE3-B122A06A74C0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857CAD-075E-4D8D-8B30-67694A59F41A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25282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3493080" y="1825560"/>
            <a:ext cx="25282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F79011-F755-479F-8B3E-4608D5DC5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F8CEDA-2B3F-41FA-9E1F-AEA9EDBDD3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890372-17BF-4DD0-92D6-C2D5C59B08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6744BD8-0ACB-4A9E-9419-9159824C29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7DA9C50-43D7-45D1-85F1-E879AC8754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A0B2316-9029-4041-A2D2-5C6D41EDAA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1998878-3285-4DCC-A020-0CE3CF1D5D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060B5FD-73AD-4CAD-A585-57120CDB31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E59FDB5-3F9A-4A12-A356-C07B5ED7A4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B190381-48A9-4001-B8BC-9475E4248F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4427AF5-2EB4-48F2-924B-0C758D4FCA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719241-B7BA-4FBB-A21A-24561079DAB8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47DF4B-27F7-42AE-9C5D-075F13CA9B10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D4BB7-F1BE-428C-9EB3-4252E107273C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403E58-A1ED-49AB-9086-F506AD5340B2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D16476-ACBF-4BCC-8E57-D445BC18E5FF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2B0C0A-F8B1-465B-9C88-055C05EDCCF1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A2F241-0610-4BE5-B7D0-7F4302B41622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C7010B-8C74-4F57-8649-DCF63F090250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D89EC0-5AA1-49B2-B6F9-976BE13D4FD2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0AF5BE-9C61-4325-8FC5-11BB85A5BAEA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B4E68C-0AD9-4F4D-852B-9AC08F5B5C14}" type="slidenum">
              <a:rPr b="0" lang="en-GB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towardsdatascience.com/gridsearch-the-ultimate-machine-learning-tool-6cd5fb93d07" TargetMode="External"/><Relationship Id="rId2" Type="http://schemas.openxmlformats.org/officeDocument/2006/relationships/hyperlink" Target="https://towardsdatascience.com/gridsearch-the-ultimate-machine-learning-tool-6cd5fb93d0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276640" y="2330280"/>
            <a:ext cx="7638480" cy="21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Machine Learning – Grid Search &amp; Pipelines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76640" y="2330280"/>
            <a:ext cx="7638480" cy="21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¿Cuál va a ser el mejor modelo para mi problema de ML?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603720" y="1252080"/>
            <a:ext cx="5257440" cy="38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02;ga1eac15f37_0_5"/>
          <p:cNvSpPr/>
          <p:nvPr/>
        </p:nvSpPr>
        <p:spPr>
          <a:xfrm>
            <a:off x="603720" y="336960"/>
            <a:ext cx="10387440" cy="23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chemeClr val="lt1"/>
                </a:solidFill>
                <a:latin typeface="Calibri"/>
                <a:ea typeface="Calibri"/>
              </a:rPr>
              <a:t>Escogemos un modelo, por ejemplo Decision Tree. Voy a probar varias combinaciones de hiperparámetros para ver cuál me da mejor rendimiento</a:t>
            </a: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chemeClr val="lt1"/>
                </a:solidFill>
                <a:latin typeface="Calibri"/>
                <a:ea typeface="Calibri"/>
              </a:rPr>
              <a:t>Criterion: ‘gini’ o ‘entropy’</a:t>
            </a: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chemeClr val="lt1"/>
                </a:solidFill>
                <a:latin typeface="Calibri"/>
                <a:ea typeface="Calibri"/>
              </a:rPr>
              <a:t>max_depth: profundidad del árbol</a:t>
            </a: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chemeClr val="lt1"/>
                </a:solidFill>
                <a:latin typeface="Calibri"/>
                <a:ea typeface="Calibri"/>
              </a:rPr>
              <a:t>min_samples_split</a:t>
            </a: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103;ga1eac15f37_0_5"/>
          <p:cNvSpPr/>
          <p:nvPr/>
        </p:nvSpPr>
        <p:spPr>
          <a:xfrm>
            <a:off x="603720" y="3582000"/>
            <a:ext cx="7368120" cy="29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5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76" name="Google Shape;104;ga1eac15f37_0_5"/>
          <p:cNvSpPr/>
          <p:nvPr/>
        </p:nvSpPr>
        <p:spPr>
          <a:xfrm>
            <a:off x="603720" y="28882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105;ga1eac15f37_0_5"/>
          <p:cNvSpPr/>
          <p:nvPr/>
        </p:nvSpPr>
        <p:spPr>
          <a:xfrm>
            <a:off x="603720" y="33883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max_depth=3,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106;ga1eac15f37_0_5"/>
          <p:cNvSpPr/>
          <p:nvPr/>
        </p:nvSpPr>
        <p:spPr>
          <a:xfrm>
            <a:off x="603720" y="38883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max_depth=4,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07;ga1eac15f37_0_5"/>
          <p:cNvSpPr/>
          <p:nvPr/>
        </p:nvSpPr>
        <p:spPr>
          <a:xfrm>
            <a:off x="603720" y="43884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max_depth=5,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108;ga1eac15f37_0_5"/>
          <p:cNvSpPr/>
          <p:nvPr/>
        </p:nvSpPr>
        <p:spPr>
          <a:xfrm>
            <a:off x="603720" y="48884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max_depth=6,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09;ga1eac15f37_0_5"/>
          <p:cNvSpPr/>
          <p:nvPr/>
        </p:nvSpPr>
        <p:spPr>
          <a:xfrm>
            <a:off x="603720" y="53884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max_depth=7,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10;ga1eac15f37_0_5"/>
          <p:cNvSpPr/>
          <p:nvPr/>
        </p:nvSpPr>
        <p:spPr>
          <a:xfrm>
            <a:off x="6623640" y="28882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min_samples_split=3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111;ga1eac15f37_0_5"/>
          <p:cNvSpPr/>
          <p:nvPr/>
        </p:nvSpPr>
        <p:spPr>
          <a:xfrm>
            <a:off x="6623640" y="33883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min_samples_split=4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112;ga1eac15f37_0_5"/>
          <p:cNvSpPr/>
          <p:nvPr/>
        </p:nvSpPr>
        <p:spPr>
          <a:xfrm>
            <a:off x="6623640" y="38883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min_samples_split=5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113;ga1eac15f37_0_5"/>
          <p:cNvSpPr/>
          <p:nvPr/>
        </p:nvSpPr>
        <p:spPr>
          <a:xfrm>
            <a:off x="6623640" y="43884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min_samples_split=6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14;ga1eac15f37_0_5"/>
          <p:cNvSpPr/>
          <p:nvPr/>
        </p:nvSpPr>
        <p:spPr>
          <a:xfrm>
            <a:off x="6623640" y="48884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min_samples_split=7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15;ga1eac15f37_0_5"/>
          <p:cNvSpPr/>
          <p:nvPr/>
        </p:nvSpPr>
        <p:spPr>
          <a:xfrm>
            <a:off x="6623640" y="53884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gini, max_depth=2, min_samples_split=8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21;ga4591d3bda_0_28"/>
          <p:cNvSpPr/>
          <p:nvPr/>
        </p:nvSpPr>
        <p:spPr>
          <a:xfrm>
            <a:off x="0" y="908280"/>
            <a:ext cx="7368120" cy="29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5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9" name="Google Shape;122;ga4591d3bda_0_28"/>
          <p:cNvSpPr/>
          <p:nvPr/>
        </p:nvSpPr>
        <p:spPr>
          <a:xfrm>
            <a:off x="0" y="2145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23;ga4591d3bda_0_28"/>
          <p:cNvSpPr/>
          <p:nvPr/>
        </p:nvSpPr>
        <p:spPr>
          <a:xfrm>
            <a:off x="0" y="7146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max_depth=3,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24;ga4591d3bda_0_28"/>
          <p:cNvSpPr/>
          <p:nvPr/>
        </p:nvSpPr>
        <p:spPr>
          <a:xfrm>
            <a:off x="0" y="12146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max_depth=4,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5;ga4591d3bda_0_28"/>
          <p:cNvSpPr/>
          <p:nvPr/>
        </p:nvSpPr>
        <p:spPr>
          <a:xfrm>
            <a:off x="0" y="17146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max_depth=5,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6;ga4591d3bda_0_28"/>
          <p:cNvSpPr/>
          <p:nvPr/>
        </p:nvSpPr>
        <p:spPr>
          <a:xfrm>
            <a:off x="0" y="22147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max_depth=6,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27;ga4591d3bda_0_28"/>
          <p:cNvSpPr/>
          <p:nvPr/>
        </p:nvSpPr>
        <p:spPr>
          <a:xfrm>
            <a:off x="0" y="27147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max_depth=7,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8;ga4591d3bda_0_28"/>
          <p:cNvSpPr/>
          <p:nvPr/>
        </p:nvSpPr>
        <p:spPr>
          <a:xfrm>
            <a:off x="6019920" y="2145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min_samples_split=3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29;ga4591d3bda_0_28"/>
          <p:cNvSpPr/>
          <p:nvPr/>
        </p:nvSpPr>
        <p:spPr>
          <a:xfrm>
            <a:off x="6019920" y="7146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min_samples_split=4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30;ga4591d3bda_0_28"/>
          <p:cNvSpPr/>
          <p:nvPr/>
        </p:nvSpPr>
        <p:spPr>
          <a:xfrm>
            <a:off x="6019920" y="12146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min_samples_split=5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31;ga4591d3bda_0_28"/>
          <p:cNvSpPr/>
          <p:nvPr/>
        </p:nvSpPr>
        <p:spPr>
          <a:xfrm>
            <a:off x="6019920" y="17146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min_samples_split=6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32;ga4591d3bda_0_28"/>
          <p:cNvSpPr/>
          <p:nvPr/>
        </p:nvSpPr>
        <p:spPr>
          <a:xfrm>
            <a:off x="6019920" y="22147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min_samples_split=7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33;ga4591d3bda_0_28"/>
          <p:cNvSpPr/>
          <p:nvPr/>
        </p:nvSpPr>
        <p:spPr>
          <a:xfrm>
            <a:off x="6019920" y="271476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min_samples_split=8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34;ga4591d3bda_0_28"/>
          <p:cNvSpPr/>
          <p:nvPr/>
        </p:nvSpPr>
        <p:spPr>
          <a:xfrm>
            <a:off x="2066040" y="5475600"/>
            <a:ext cx="7616520" cy="9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2200" spc="-1" strike="noStrike">
                <a:solidFill>
                  <a:schemeClr val="lt1"/>
                </a:solidFill>
                <a:latin typeface="Calibri"/>
                <a:ea typeface="Calibri"/>
              </a:rPr>
              <a:t>Calculo errores de todos los modelos, y elijo los hiperparámetros cuyo modelo tenga el mínimo error.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2200" spc="-1" strike="noStrike">
                <a:solidFill>
                  <a:schemeClr val="lt1"/>
                </a:solidFill>
                <a:latin typeface="Calibri"/>
                <a:ea typeface="Calibri"/>
              </a:rPr>
              <a:t>Por ejemplo, entropy, max_depth=3, min_samples_split=4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35;ga4591d3bda_0_28"/>
          <p:cNvSpPr/>
          <p:nvPr/>
        </p:nvSpPr>
        <p:spPr>
          <a:xfrm>
            <a:off x="0" y="2845440"/>
            <a:ext cx="7368120" cy="18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5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03" name="Google Shape;136;ga4591d3bda_0_28"/>
          <p:cNvSpPr/>
          <p:nvPr/>
        </p:nvSpPr>
        <p:spPr>
          <a:xfrm>
            <a:off x="0" y="31518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max_depth=4,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7;ga4591d3bda_0_28"/>
          <p:cNvSpPr/>
          <p:nvPr/>
        </p:nvSpPr>
        <p:spPr>
          <a:xfrm>
            <a:off x="0" y="36518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max_depth=5,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38;ga4591d3bda_0_28"/>
          <p:cNvSpPr/>
          <p:nvPr/>
        </p:nvSpPr>
        <p:spPr>
          <a:xfrm>
            <a:off x="0" y="41518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max_depth=6,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39;ga4591d3bda_0_28"/>
          <p:cNvSpPr/>
          <p:nvPr/>
        </p:nvSpPr>
        <p:spPr>
          <a:xfrm>
            <a:off x="0" y="46519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max_depth=7, min_samples_split=2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40;ga4591d3bda_0_28"/>
          <p:cNvSpPr/>
          <p:nvPr/>
        </p:nvSpPr>
        <p:spPr>
          <a:xfrm>
            <a:off x="6019920" y="315180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min_samples_split=5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41;ga4591d3bda_0_28"/>
          <p:cNvSpPr/>
          <p:nvPr/>
        </p:nvSpPr>
        <p:spPr>
          <a:xfrm>
            <a:off x="6019920" y="365184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min_samples_split=6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42;ga4591d3bda_0_28"/>
          <p:cNvSpPr/>
          <p:nvPr/>
        </p:nvSpPr>
        <p:spPr>
          <a:xfrm>
            <a:off x="6019920" y="415188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min_samples_split=7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43;ga4591d3bda_0_28"/>
          <p:cNvSpPr/>
          <p:nvPr/>
        </p:nvSpPr>
        <p:spPr>
          <a:xfrm>
            <a:off x="6019920" y="4651920"/>
            <a:ext cx="6019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Pruebo con entropy, max_depth=2, min_samples_split=8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Google Shape;144;ga4591d3bda_0_28" descr=""/>
          <p:cNvPicPr/>
          <p:nvPr/>
        </p:nvPicPr>
        <p:blipFill>
          <a:blip r:embed="rId1"/>
          <a:stretch/>
        </p:blipFill>
        <p:spPr>
          <a:xfrm>
            <a:off x="3772080" y="1971720"/>
            <a:ext cx="4952520" cy="321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76640" y="2330280"/>
            <a:ext cx="7638480" cy="21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Grid Search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Grid Search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690920"/>
            <a:ext cx="5257440" cy="38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58;ga4591d3bda_0_5"/>
          <p:cNvSpPr/>
          <p:nvPr/>
        </p:nvSpPr>
        <p:spPr>
          <a:xfrm>
            <a:off x="838080" y="1477080"/>
            <a:ext cx="10203480" cy="356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No es necesario iterar manualmente cada una de esas combinaciones, tenemos herramientas en sklearn para hacerlo de manera automática.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Existen varias técnicas como Grid Search, Random Search, Optimización Bayesiana…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La técnica más utilizada es Grid Search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Escojo un modelo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Elijo hiperparametros de ese modelo que quiero probar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Escojo un rango de valores para cada hiperparametro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Entrenamos mediante la función GridSearchCV (veremos en demo), que nos dará la mejor combinación de hiperparametros.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GB" sz="1900" spc="-1" strike="noStrike">
                <a:solidFill>
                  <a:schemeClr val="lt1"/>
                </a:solidFill>
                <a:latin typeface="Calibri"/>
                <a:ea typeface="Calibri"/>
              </a:rPr>
              <a:t>CV viene incluido en el argumento “cv”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Google Shape;159;ga4591d3bda_0_5" descr=""/>
          <p:cNvPicPr/>
          <p:nvPr/>
        </p:nvPicPr>
        <p:blipFill>
          <a:blip r:embed="rId1"/>
          <a:stretch/>
        </p:blipFill>
        <p:spPr>
          <a:xfrm>
            <a:off x="5591880" y="5260680"/>
            <a:ext cx="4496040" cy="132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276640" y="401760"/>
            <a:ext cx="7638480" cy="144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Pipelines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66;ga4608ccd15_0_0" descr=""/>
          <p:cNvPicPr/>
          <p:nvPr/>
        </p:nvPicPr>
        <p:blipFill>
          <a:blip r:embed="rId1"/>
          <a:stretch/>
        </p:blipFill>
        <p:spPr>
          <a:xfrm>
            <a:off x="3292200" y="1929600"/>
            <a:ext cx="5607360" cy="409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ff0000"/>
                </a:solidFill>
                <a:latin typeface="Calibri"/>
                <a:ea typeface="Calibri"/>
              </a:rPr>
              <a:t>Bibliografía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690920"/>
            <a:ext cx="5257440" cy="38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58;ga4591d3bda_0_5"/>
          <p:cNvSpPr/>
          <p:nvPr/>
        </p:nvSpPr>
        <p:spPr>
          <a:xfrm>
            <a:off x="838080" y="1477080"/>
            <a:ext cx="10203480" cy="356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900" spc="-1" strike="noStrike" u="sng">
                <a:solidFill>
                  <a:schemeClr val="lt1"/>
                </a:solidFill>
                <a:uFillTx/>
                <a:latin typeface="Calibri"/>
                <a:ea typeface="Calibri"/>
                <a:hlinkClick r:id="rId1"/>
              </a:rPr>
              <a:t>https://learning.oreilly.com/library/view/hands-on-machine-learning/9781492032632/ch02.html#idm45022189270600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900" spc="-1" strike="noStrike" u="sng">
                <a:solidFill>
                  <a:schemeClr val="lt1"/>
                </a:solidFill>
                <a:uFillTx/>
                <a:latin typeface="Calibri"/>
                <a:ea typeface="Calibri"/>
                <a:hlinkClick r:id="rId2"/>
              </a:rPr>
              <a:t>https://towardsdatascience.com/gridsearch-the-ultimate-machine-learning-tool-6cd5fb93d07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LibreOffice/24.2.7.2$Linux_X86_64 LibreOffice_project/420$Build-2</Application>
  <AppVersion>15.0000</AppVersion>
  <Words>775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2020-05-12T19:48:30Z</dcterms:created>
  <dc:creator>Gabriel VT</dc:creator>
  <dc:description/>
  <dc:language>es-ES</dc:language>
  <cp:lastModifiedBy/>
  <dcterms:modified xsi:type="dcterms:W3CDTF">2025-12-11T19:46:11Z</dcterms:modified>
  <cp:revision>3</cp:revision>
  <dc:subject/>
  <dc:title>Machine Learning – Grid Search &amp; Pipelines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Panorámica</vt:lpwstr>
  </property>
  <property fmtid="{D5CDD505-2E9C-101B-9397-08002B2CF9AE}" pid="4" name="Slides">
    <vt:i4>8</vt:i4>
  </property>
</Properties>
</file>