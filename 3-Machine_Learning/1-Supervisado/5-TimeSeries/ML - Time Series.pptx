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Montserrat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iqWfaeALfyfMQmylq5SW1/kvzZ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8b485b1ff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a8b485b1ff_0_2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3" name="Google Shape;93;ga8b485b1ff_0_2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a1eac15f3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a1eac15f37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9" name="Google Shape;99;ga1eac15f37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a8b485b1f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a8b485b1ff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ga8b485b1ff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8b485b1f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a8b485b1ff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ga8b485b1ff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8b485b1f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a8b485b1ff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7" name="Google Shape;137;ga8b485b1ff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a8b485b1f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a8b485b1ff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3" name="Google Shape;143;ga8b485b1ff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a8b485b1ff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a8b485b1ff_0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2" name="Google Shape;152;ga8b485b1ff_0_2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8b485b1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a8b485b1f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5" name="Google Shape;165;ga8b485b1f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8b485b1f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a8b485b1ff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4" name="Google Shape;174;ga8b485b1ff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a8b485b1ff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a8b485b1ff_0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84" name="Google Shape;184;ga8b485b1ff_0_2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a8b485b1f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a8b485b1ff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0" name="Google Shape;190;ga8b485b1ff_0_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a8b485b1ff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a8b485b1ff_0_1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8" name="Google Shape;198;ga8b485b1ff_0_1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a8b485b1f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a8b485b1ff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4" name="Google Shape;204;ga8b485b1ff_0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a8b485b1ff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a8b485b1ff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16" name="Google Shape;216;ga8b485b1ff_0_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a8b485b1ff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a8b485b1ff_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30" name="Google Shape;230;ga8b485b1ff_0_1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42" name="Google Shape;2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a8b485b1f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a8b485b1ff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48" name="Google Shape;248;ga8b485b1ff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57" name="Google Shape;2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66" name="Google Shape;26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a8b485b1ff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a8b485b1ff_0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74" name="Google Shape;274;ga8b485b1ff_0_1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a8b485b1ff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a8b485b1ff_0_2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83" name="Google Shape;283;ga8b485b1ff_0_2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a8b485b1ff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a8b485b1ff_0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91" name="Google Shape;291;ga8b485b1ff_0_2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8b485b1f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a8b485b1ff_0_2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02" name="Google Shape;302;ga8b485b1ff_0_2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ad1a4756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ad1a4756b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10" name="Google Shape;310;gad1a4756b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a8b485b1ff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a8b485b1ff_0_2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16" name="Google Shape;316;ga8b485b1ff_0_2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a8b485b1ff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ga8b485b1ff_0_2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7" name="Google Shape;327;ga8b485b1ff_0_2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a8b485b1ff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a8b485b1ff_0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39" name="Google Shape;339;ga8b485b1ff_0_2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a8b485b1ff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a8b485b1ff_0_3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9" name="Google Shape;349;ga8b485b1ff_0_3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a231b88e5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a231b88e58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59" name="Google Shape;359;ga231b88e58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a2c25b0cc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ga2c25b0cc8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67" name="Google Shape;367;ga2c25b0cc8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2276518" y="2330166"/>
            <a:ext cx="7638964" cy="219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Machine Learning – Time Series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8b485b1ff_0_256"/>
          <p:cNvSpPr txBox="1">
            <a:spLocks noGrp="1"/>
          </p:cNvSpPr>
          <p:nvPr>
            <p:ph type="title"/>
          </p:nvPr>
        </p:nvSpPr>
        <p:spPr>
          <a:xfrm>
            <a:off x="789500" y="1875050"/>
            <a:ext cx="10515600" cy="25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Time Series</a:t>
            </a:r>
            <a:endParaRPr>
              <a:solidFill>
                <a:srgbClr val="FF000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FFFF"/>
                </a:solidFill>
              </a:rPr>
              <a:t>Analítica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1eac15f37_0_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¿Qué es un Time Series?</a:t>
            </a:r>
            <a:endParaRPr/>
          </a:p>
        </p:txBody>
      </p:sp>
      <p:sp>
        <p:nvSpPr>
          <p:cNvPr id="102" name="Google Shape;102;ga1eac15f37_0_43"/>
          <p:cNvSpPr txBox="1"/>
          <p:nvPr/>
        </p:nvSpPr>
        <p:spPr>
          <a:xfrm>
            <a:off x="875675" y="1936575"/>
            <a:ext cx="5679300" cy="4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Conjunto de observaciones ordenadas en el tiempo, a través de intervalos de tiempo regulares.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intervalo de tiempo podría ser: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Anual (presupuesto anual)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Trimestral (gastos)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Mensual (tráfico aéreo)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Semanal (ventas semanales)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Diario (tiempo)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Horario (precio stocks)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Minutos (entradas en un call center)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Segundos (Tráfico web)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ga1eac15f37_0_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8225" y="3091250"/>
            <a:ext cx="5369700" cy="26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a8b485b1ff_0_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Algunos ejemplos</a:t>
            </a:r>
            <a:endParaRPr/>
          </a:p>
        </p:txBody>
      </p:sp>
      <p:sp>
        <p:nvSpPr>
          <p:cNvPr id="110" name="Google Shape;110;ga8b485b1ff_0_37"/>
          <p:cNvSpPr txBox="1"/>
          <p:nvPr/>
        </p:nvSpPr>
        <p:spPr>
          <a:xfrm>
            <a:off x="760275" y="1754975"/>
            <a:ext cx="4919100" cy="4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a) Precio acciones Google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b) Diferencia diaria de precio acciones de Google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c) Nº Strikes anuales en EEUU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d) Ventas mensuales de casas unifamiliares en EEUU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e) Precio anual de la docena de huevos en EEUU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f) Cerdos sacrificados mensualmente en Victoria, Australia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g)Total de linces atrapados en el río McKenzie (Canadá)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h) Producción cervezera mensual en Australia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i) Producción eléctrica mensual en Australia.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ga8b485b1ff_0_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4350" y="1690825"/>
            <a:ext cx="6075049" cy="44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a8b485b1ff_0_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Clasificación Series Temporales</a:t>
            </a:r>
            <a:endParaRPr/>
          </a:p>
        </p:txBody>
      </p:sp>
      <p:sp>
        <p:nvSpPr>
          <p:cNvPr id="118" name="Google Shape;118;ga8b485b1ff_0_62"/>
          <p:cNvSpPr txBox="1"/>
          <p:nvPr/>
        </p:nvSpPr>
        <p:spPr>
          <a:xfrm>
            <a:off x="2250475" y="1705950"/>
            <a:ext cx="3438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Cantidad de variables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ga8b485b1ff_0_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8462" y="2557475"/>
            <a:ext cx="2538400" cy="126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a8b485b1ff_0_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000" y="2596448"/>
            <a:ext cx="2932176" cy="1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a8b485b1ff_0_62"/>
          <p:cNvSpPr txBox="1"/>
          <p:nvPr/>
        </p:nvSpPr>
        <p:spPr>
          <a:xfrm>
            <a:off x="997025" y="2178013"/>
            <a:ext cx="24675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Univariante</a:t>
            </a: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a8b485b1ff_0_62"/>
          <p:cNvSpPr txBox="1"/>
          <p:nvPr/>
        </p:nvSpPr>
        <p:spPr>
          <a:xfrm>
            <a:off x="4323913" y="2139038"/>
            <a:ext cx="24675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Multivariante</a:t>
            </a: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a8b485b1ff_0_62"/>
          <p:cNvSpPr txBox="1"/>
          <p:nvPr/>
        </p:nvSpPr>
        <p:spPr>
          <a:xfrm>
            <a:off x="2250475" y="4103588"/>
            <a:ext cx="3438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 de Dato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a8b485b1ff_0_62"/>
          <p:cNvSpPr txBox="1"/>
          <p:nvPr/>
        </p:nvSpPr>
        <p:spPr>
          <a:xfrm>
            <a:off x="8027400" y="1705950"/>
            <a:ext cx="3438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 de Predicción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a8b485b1ff_0_62"/>
          <p:cNvSpPr txBox="1"/>
          <p:nvPr/>
        </p:nvSpPr>
        <p:spPr>
          <a:xfrm>
            <a:off x="8335800" y="2236475"/>
            <a:ext cx="28215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Determinística vs Estocástica</a:t>
            </a: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a8b485b1ff_0_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11850" y="2741574"/>
            <a:ext cx="2467500" cy="369196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a8b485b1ff_0_62"/>
          <p:cNvSpPr txBox="1"/>
          <p:nvPr/>
        </p:nvSpPr>
        <p:spPr>
          <a:xfrm>
            <a:off x="815000" y="4638163"/>
            <a:ext cx="14355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Time Series</a:t>
            </a: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a8b485b1ff_0_62"/>
          <p:cNvPicPr preferRelativeResize="0"/>
          <p:nvPr/>
        </p:nvPicPr>
        <p:blipFill rotWithShape="1">
          <a:blip r:embed="rId6">
            <a:alphaModFix/>
          </a:blip>
          <a:srcRect r="23652"/>
          <a:stretch/>
        </p:blipFill>
        <p:spPr>
          <a:xfrm>
            <a:off x="427450" y="5279700"/>
            <a:ext cx="2210559" cy="1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a8b485b1ff_0_62"/>
          <p:cNvSpPr txBox="1"/>
          <p:nvPr/>
        </p:nvSpPr>
        <p:spPr>
          <a:xfrm>
            <a:off x="3251863" y="4638175"/>
            <a:ext cx="14355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Cross-Section</a:t>
            </a: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a8b485b1ff_0_62"/>
          <p:cNvSpPr txBox="1"/>
          <p:nvPr/>
        </p:nvSpPr>
        <p:spPr>
          <a:xfrm>
            <a:off x="5688750" y="4638175"/>
            <a:ext cx="14355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Panel</a:t>
            </a: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ga8b485b1ff_0_6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23100" y="5210842"/>
            <a:ext cx="2538400" cy="133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a8b485b1ff_0_6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59008" y="5128200"/>
            <a:ext cx="1490691" cy="15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a8b485b1ff_0_6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2506" y="5186456"/>
            <a:ext cx="1583726" cy="1313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a8b485b1ff_0_55"/>
          <p:cNvSpPr txBox="1">
            <a:spLocks noGrp="1"/>
          </p:cNvSpPr>
          <p:nvPr>
            <p:ph type="title"/>
          </p:nvPr>
        </p:nvSpPr>
        <p:spPr>
          <a:xfrm>
            <a:off x="789500" y="1875050"/>
            <a:ext cx="10515600" cy="25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Objetivo de Time Series</a:t>
            </a:r>
            <a:endParaRPr>
              <a:solidFill>
                <a:srgbClr val="FF000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FFFF"/>
                </a:solidFill>
              </a:rPr>
              <a:t>Entender el pasado mediante análisis prescriptivo para predecir el futuro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a8b485b1ff_0_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Visualización Time Series</a:t>
            </a:r>
            <a:endParaRPr/>
          </a:p>
        </p:txBody>
      </p:sp>
      <p:pic>
        <p:nvPicPr>
          <p:cNvPr id="146" name="Google Shape;146;ga8b485b1ff_0_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763850"/>
            <a:ext cx="4944452" cy="174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a8b485b1ff_0_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2398" y="1763850"/>
            <a:ext cx="5321403" cy="402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a8b485b1ff_0_8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" y="3614984"/>
            <a:ext cx="4944452" cy="217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a8b485b1ff_0_2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Visualización Time Series</a:t>
            </a:r>
            <a:endParaRPr/>
          </a:p>
        </p:txBody>
      </p:sp>
      <p:pic>
        <p:nvPicPr>
          <p:cNvPr id="155" name="Google Shape;155;ga8b485b1ff_0_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2161" y="2108950"/>
            <a:ext cx="5194764" cy="180850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a8b485b1ff_0_231"/>
          <p:cNvSpPr txBox="1"/>
          <p:nvPr/>
        </p:nvSpPr>
        <p:spPr>
          <a:xfrm>
            <a:off x="760275" y="2438475"/>
            <a:ext cx="4446600" cy="10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tenemos muchas irregularidades en la serie temporal, podemos aplicar varias técnicas para la mejora de la visualización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ga8b485b1ff_0_2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200" y="4635059"/>
            <a:ext cx="5194763" cy="184363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a8b485b1ff_0_231"/>
          <p:cNvSpPr txBox="1"/>
          <p:nvPr/>
        </p:nvSpPr>
        <p:spPr>
          <a:xfrm>
            <a:off x="1749825" y="4074913"/>
            <a:ext cx="24675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Rolling</a:t>
            </a: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a8b485b1ff_0_231"/>
          <p:cNvSpPr txBox="1"/>
          <p:nvPr/>
        </p:nvSpPr>
        <p:spPr>
          <a:xfrm>
            <a:off x="7386750" y="1609713"/>
            <a:ext cx="24675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Resample</a:t>
            </a: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a8b485b1ff_0_231"/>
          <p:cNvSpPr txBox="1"/>
          <p:nvPr/>
        </p:nvSpPr>
        <p:spPr>
          <a:xfrm>
            <a:off x="7386750" y="4144013"/>
            <a:ext cx="24675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Differenciating</a:t>
            </a: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ga8b485b1ff_0_2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59025" y="4589233"/>
            <a:ext cx="5194774" cy="1935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a8b485b1ff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Componentes de un Time Series</a:t>
            </a:r>
            <a:endParaRPr/>
          </a:p>
        </p:txBody>
      </p:sp>
      <p:sp>
        <p:nvSpPr>
          <p:cNvPr id="168" name="Google Shape;168;ga8b485b1ff_0_0"/>
          <p:cNvSpPr txBox="1"/>
          <p:nvPr/>
        </p:nvSpPr>
        <p:spPr>
          <a:xfrm>
            <a:off x="838200" y="1690825"/>
            <a:ext cx="4178700" cy="47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Tendency</a:t>
            </a: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cambio a largo plazo en relación al nivel medio, o el cambio a largo plazo de la media.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Seasonality</a:t>
            </a: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 series presentan cierta periodicidad (mensual, anual…). Por ejemplo, el paro suele aumentar en invierno, y disminuir en verano.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Random/Residuals</a:t>
            </a: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eliminamos los dos componentes anteriores, nos queda la componente aleatoria. Se pretende estudiar qué tipo de comportamiento aleatorio presentan estos residuos.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Cyclic variations</a:t>
            </a: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fluctuaciones producidas a lo largo de una larga tendencia. Es poco frecuente. Por ejemplo ciclos económicos de la bolsa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a8b485b1ff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0775" y="1643800"/>
            <a:ext cx="5104522" cy="481822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a8b485b1ff_0_0"/>
          <p:cNvSpPr txBox="1"/>
          <p:nvPr/>
        </p:nvSpPr>
        <p:spPr>
          <a:xfrm>
            <a:off x="10005134" y="2998113"/>
            <a:ext cx="1899821" cy="4308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Seasonal -&gt; Estacional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Stationary -&gt; Estacionario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a8b485b1ff_0_101"/>
          <p:cNvSpPr txBox="1">
            <a:spLocks noGrp="1"/>
          </p:cNvSpPr>
          <p:nvPr>
            <p:ph type="title"/>
          </p:nvPr>
        </p:nvSpPr>
        <p:spPr>
          <a:xfrm>
            <a:off x="623875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Additive vs Multiplicative Decompose</a:t>
            </a:r>
            <a:endParaRPr/>
          </a:p>
        </p:txBody>
      </p:sp>
      <p:sp>
        <p:nvSpPr>
          <p:cNvPr id="177" name="Google Shape;177;ga8b485b1ff_0_101"/>
          <p:cNvSpPr txBox="1"/>
          <p:nvPr/>
        </p:nvSpPr>
        <p:spPr>
          <a:xfrm>
            <a:off x="623875" y="1690825"/>
            <a:ext cx="1957500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Trend</a:t>
            </a: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T(t)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Seasonality</a:t>
            </a: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S(t)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Cyclic variation</a:t>
            </a: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c(t)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Residuals</a:t>
            </a:r>
            <a:r>
              <a:rPr lang="en-GB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e(t)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a8b485b1ff_0_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1850" y="2836825"/>
            <a:ext cx="6870299" cy="34409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a8b485b1ff_0_101"/>
          <p:cNvSpPr txBox="1"/>
          <p:nvPr/>
        </p:nvSpPr>
        <p:spPr>
          <a:xfrm>
            <a:off x="3039750" y="2090850"/>
            <a:ext cx="308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Additive decompose</a:t>
            </a: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Y(t) = T(t) + S(t) + c(t) + e(t)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a8b485b1ff_0_101"/>
          <p:cNvSpPr txBox="1"/>
          <p:nvPr/>
        </p:nvSpPr>
        <p:spPr>
          <a:xfrm>
            <a:off x="6351900" y="2090850"/>
            <a:ext cx="3087600" cy="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GB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Multiplicative decompose</a:t>
            </a: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Y(t) = T(t) * S(t) * c(t) * e(t)</a:t>
            </a: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8b485b1ff_0_200"/>
          <p:cNvSpPr txBox="1">
            <a:spLocks noGrp="1"/>
          </p:cNvSpPr>
          <p:nvPr>
            <p:ph type="title"/>
          </p:nvPr>
        </p:nvSpPr>
        <p:spPr>
          <a:xfrm>
            <a:off x="789500" y="1875050"/>
            <a:ext cx="10515600" cy="25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Smoothing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a8b485b1ff_0_1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Smoothing</a:t>
            </a:r>
            <a:endParaRPr/>
          </a:p>
        </p:txBody>
      </p:sp>
      <p:sp>
        <p:nvSpPr>
          <p:cNvPr id="193" name="Google Shape;193;ga8b485b1ff_0_112"/>
          <p:cNvSpPr txBox="1"/>
          <p:nvPr/>
        </p:nvSpPr>
        <p:spPr>
          <a:xfrm>
            <a:off x="838200" y="2583700"/>
            <a:ext cx="4178700" cy="38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Método estadístico con el que creamos una función de aproximación para eliminar irregularidades en los datos, con el objetivo de obtener patrones significativos.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utiliza en modelos de predicción a corto plazo, para datos que no tienen una variación grande a lo largo del tiempo.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ga8b485b1ff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7700" y="2457548"/>
            <a:ext cx="5846375" cy="26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a8b485b1ff_0_177"/>
          <p:cNvSpPr txBox="1">
            <a:spLocks noGrp="1"/>
          </p:cNvSpPr>
          <p:nvPr>
            <p:ph type="title"/>
          </p:nvPr>
        </p:nvSpPr>
        <p:spPr>
          <a:xfrm>
            <a:off x="789500" y="1875050"/>
            <a:ext cx="10515600" cy="25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Modelos de smoothing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a8b485b1ff_0_1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Simple Exponential Smoothing (SES)</a:t>
            </a:r>
            <a:endParaRPr/>
          </a:p>
        </p:txBody>
      </p:sp>
      <p:sp>
        <p:nvSpPr>
          <p:cNvPr id="207" name="Google Shape;207;ga8b485b1ff_0_120"/>
          <p:cNvSpPr txBox="1"/>
          <p:nvPr/>
        </p:nvSpPr>
        <p:spPr>
          <a:xfrm>
            <a:off x="838200" y="1690825"/>
            <a:ext cx="104328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emplea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sobre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GB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n-GB" sz="16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tienen</a:t>
            </a:r>
            <a:r>
              <a:rPr lang="en-GB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tendencia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estacionalidad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muy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clara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Se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compone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un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parámetro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llamado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alpha (0-1), que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determina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cuánto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suaviza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serie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temporal.</a:t>
            </a:r>
            <a:endParaRPr sz="15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ga8b485b1ff_0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8425" y="2440475"/>
            <a:ext cx="20955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a8b485b1ff_0_120"/>
          <p:cNvSpPr txBox="1"/>
          <p:nvPr/>
        </p:nvSpPr>
        <p:spPr>
          <a:xfrm>
            <a:off x="879600" y="3095425"/>
            <a:ext cx="104328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Siendo L el nivel calculado por SES, e Y el de la propia serie temporal.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Cuanto mayor es alpha, más se asemeja a la serie original.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ga8b485b1ff_0_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9601" y="4074325"/>
            <a:ext cx="2007600" cy="218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a8b485b1ff_0_1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28200" y="2195550"/>
            <a:ext cx="2699425" cy="12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a8b485b1ff_0_1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71682" y="4074325"/>
            <a:ext cx="4978693" cy="21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a8b485b1ff_0_1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Double Exponential Smoothing (DES)</a:t>
            </a:r>
            <a:endParaRPr/>
          </a:p>
        </p:txBody>
      </p:sp>
      <p:sp>
        <p:nvSpPr>
          <p:cNvPr id="219" name="Google Shape;219;ga8b485b1ff_0_134"/>
          <p:cNvSpPr txBox="1"/>
          <p:nvPr/>
        </p:nvSpPr>
        <p:spPr>
          <a:xfrm>
            <a:off x="838200" y="1690825"/>
            <a:ext cx="104328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Simple Exponential Smoothing no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funciona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muy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bien con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tendencias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los Time Series. Double Exponential Smoothing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maneja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mejor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 </a:t>
            </a:r>
            <a:r>
              <a:rPr lang="en-GB" sz="16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tendencia</a:t>
            </a:r>
            <a:r>
              <a:rPr lang="en-GB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 sin seasonality,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comparación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otros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Ahora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además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depender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alpha,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dependerá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también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beta.</a:t>
            </a:r>
            <a:endParaRPr sz="15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a8b485b1ff_0_134"/>
          <p:cNvSpPr txBox="1"/>
          <p:nvPr/>
        </p:nvSpPr>
        <p:spPr>
          <a:xfrm>
            <a:off x="6796887" y="2955715"/>
            <a:ext cx="33093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 es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numero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puntos a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predecir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a8b485b1ff_0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7725" y="2932750"/>
            <a:ext cx="14668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a8b485b1ff_0_1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1513" y="2404500"/>
            <a:ext cx="2019275" cy="3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a8b485b1ff_0_1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3650" y="3513550"/>
            <a:ext cx="2019275" cy="441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a8b485b1ff_0_134"/>
          <p:cNvSpPr/>
          <p:nvPr/>
        </p:nvSpPr>
        <p:spPr>
          <a:xfrm>
            <a:off x="5796200" y="2689250"/>
            <a:ext cx="156000" cy="3411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8E7CC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a8b485b1ff_0_134"/>
          <p:cNvSpPr/>
          <p:nvPr/>
        </p:nvSpPr>
        <p:spPr>
          <a:xfrm rot="10793389">
            <a:off x="6318758" y="3320910"/>
            <a:ext cx="156000" cy="3411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8E7CC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ga8b485b1ff_0_1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72100" y="4050072"/>
            <a:ext cx="6282369" cy="259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56925A7-17B4-4998-B823-EB2D3E70863F}"/>
              </a:ext>
            </a:extLst>
          </p:cNvPr>
          <p:cNvSpPr txBox="1"/>
          <p:nvPr/>
        </p:nvSpPr>
        <p:spPr>
          <a:xfrm>
            <a:off x="914400" y="3030350"/>
            <a:ext cx="3863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En nuestro código Alpha será </a:t>
            </a:r>
            <a:r>
              <a:rPr lang="es-ES" i="1" dirty="0" err="1">
                <a:solidFill>
                  <a:schemeClr val="bg1"/>
                </a:solidFill>
              </a:rPr>
              <a:t>smoothing_level</a:t>
            </a:r>
            <a:endParaRPr lang="es-ES" i="1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Mientras que Beta será </a:t>
            </a:r>
            <a:r>
              <a:rPr lang="es-ES" i="1" dirty="0" err="1">
                <a:solidFill>
                  <a:schemeClr val="bg1"/>
                </a:solidFill>
              </a:rPr>
              <a:t>smoothing_slope</a:t>
            </a:r>
            <a:r>
              <a:rPr lang="es-ES" i="1" dirty="0">
                <a:solidFill>
                  <a:schemeClr val="bg1"/>
                </a:solidFill>
              </a:rPr>
              <a:t>.</a:t>
            </a:r>
          </a:p>
          <a:p>
            <a:endParaRPr lang="es-ES" i="1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Cuánto más cercano a 1, menos suavizado.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8b485b1ff_0_1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Triple Exponential Smoothing (TES)</a:t>
            </a:r>
            <a:endParaRPr/>
          </a:p>
        </p:txBody>
      </p:sp>
      <p:sp>
        <p:nvSpPr>
          <p:cNvPr id="233" name="Google Shape;233;ga8b485b1ff_0_151"/>
          <p:cNvSpPr txBox="1"/>
          <p:nvPr/>
        </p:nvSpPr>
        <p:spPr>
          <a:xfrm>
            <a:off x="838200" y="1690825"/>
            <a:ext cx="104328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Solo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nos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falta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un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componente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los Time Series que no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hemos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podido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modelar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bien, y es seasonality. Triple Exponential Smoothing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incluye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un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parámetro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poder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modelar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los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 lo largo del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Se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emplea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series </a:t>
            </a:r>
            <a:r>
              <a:rPr lang="en-GB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 ambas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tendencia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estacionalidad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clara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(seasonality)</a:t>
            </a:r>
            <a:endParaRPr sz="15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ga8b485b1ff_0_1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5275" y="2669725"/>
            <a:ext cx="2171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a8b485b1ff_0_1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3416175"/>
            <a:ext cx="2928845" cy="4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a8b485b1ff_0_1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52275" y="3454502"/>
            <a:ext cx="3309300" cy="36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a8b485b1ff_0_1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35186" y="3454500"/>
            <a:ext cx="3195639" cy="3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a8b485b1ff_0_1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86872" y="4428450"/>
            <a:ext cx="4220925" cy="20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 txBox="1">
            <a:spLocks noGrp="1"/>
          </p:cNvSpPr>
          <p:nvPr>
            <p:ph type="title"/>
          </p:nvPr>
        </p:nvSpPr>
        <p:spPr>
          <a:xfrm>
            <a:off x="789500" y="1875050"/>
            <a:ext cx="10515600" cy="25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Stationary &amp; Correlation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a8b485b1ff_0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Stationary</a:t>
            </a:r>
            <a:endParaRPr/>
          </a:p>
        </p:txBody>
      </p:sp>
      <p:sp>
        <p:nvSpPr>
          <p:cNvPr id="251" name="Google Shape;251;ga8b485b1ff_0_12"/>
          <p:cNvSpPr txBox="1"/>
          <p:nvPr/>
        </p:nvSpPr>
        <p:spPr>
          <a:xfrm>
            <a:off x="906400" y="1608850"/>
            <a:ext cx="5289300" cy="4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serie es stationary (estacionaria) cuando sus propiedades estadísticas no varían con el tiempo.</a:t>
            </a: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serie NO es estacionaria cuando su tendencia cambia con el tiempo, su varianza, o tiene seasonality (patrones periódicos).</a:t>
            </a: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7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¿Por qué es importante este concepto?</a:t>
            </a:r>
            <a:endParaRPr sz="17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mayoría de modelos trabajan con series estacionarias. Hay que convertirlas para poder modelar los datos. Tendrán una media, varianza y autocorrelación constantes y podremos aplicar la mayoría de conceptos estadísticos.</a:t>
            </a: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ga8b485b1ff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8225" y="1505300"/>
            <a:ext cx="5369700" cy="353293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a8b485b1ff_0_12"/>
          <p:cNvSpPr txBox="1"/>
          <p:nvPr/>
        </p:nvSpPr>
        <p:spPr>
          <a:xfrm>
            <a:off x="906400" y="5495700"/>
            <a:ext cx="10689000" cy="11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 técnicas autoregresivas son modelos lineales que dependen de instantes anteriores del Time Series. Necesitamos que las features sean independientes y no estén correlacionadas unas con otras. Por eso quitamos la seasonality, para que no exista correlación alta. Las features tienen que ser totalmente independientes.</a:t>
            </a: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"/>
          <p:cNvSpPr txBox="1"/>
          <p:nvPr/>
        </p:nvSpPr>
        <p:spPr>
          <a:xfrm>
            <a:off x="637449" y="1543988"/>
            <a:ext cx="5026751" cy="222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Gráfica que mide la correlación de un instante vs sus instantes anteriores.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autocorrelación va de -1 a 1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habitual que cada instante tenga correlación alta con los mas próximos y baja con los mas lejanos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"/>
          <p:cNvSpPr txBox="1">
            <a:spLocks noGrp="1"/>
          </p:cNvSpPr>
          <p:nvPr>
            <p:ph type="title"/>
          </p:nvPr>
        </p:nvSpPr>
        <p:spPr>
          <a:xfrm>
            <a:off x="492625" y="319550"/>
            <a:ext cx="10515600" cy="1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700">
                <a:solidFill>
                  <a:srgbClr val="FF0000"/>
                </a:solidFill>
              </a:rPr>
              <a:t>Autocorrelation plot</a:t>
            </a:r>
            <a:endParaRPr sz="3700"/>
          </a:p>
        </p:txBody>
      </p:sp>
      <p:pic>
        <p:nvPicPr>
          <p:cNvPr id="261" name="Google Shape;261;p3" descr="A Gentle Introduction to Autocorrelation and Partial Autocorrela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5628" y="2534826"/>
            <a:ext cx="47498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8877" y="3276600"/>
            <a:ext cx="4407823" cy="28205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7556B42-B51C-4DD1-99D2-2AD08C7EC4A2}"/>
              </a:ext>
            </a:extLst>
          </p:cNvPr>
          <p:cNvSpPr txBox="1"/>
          <p:nvPr/>
        </p:nvSpPr>
        <p:spPr>
          <a:xfrm>
            <a:off x="5965628" y="1543988"/>
            <a:ext cx="22894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· Si es positiva &gt; AR</a:t>
            </a:r>
          </a:p>
          <a:p>
            <a:r>
              <a:rPr lang="es-ES" dirty="0">
                <a:solidFill>
                  <a:schemeClr val="bg1"/>
                </a:solidFill>
              </a:rPr>
              <a:t>· Si es negativa &gt; MA</a:t>
            </a:r>
          </a:p>
          <a:p>
            <a:r>
              <a:rPr lang="es-ES" dirty="0">
                <a:solidFill>
                  <a:schemeClr val="bg1"/>
                </a:solidFill>
              </a:rPr>
              <a:t>· Nula (aleatoria) &gt; ARIMA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"/>
          <p:cNvSpPr txBox="1"/>
          <p:nvPr/>
        </p:nvSpPr>
        <p:spPr>
          <a:xfrm>
            <a:off x="607849" y="1208488"/>
            <a:ext cx="5367000" cy="48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hipótesis es una pregunta que acepta si/no como respuesta.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H0: hipótesis nula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H1: hipótesis alternativa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¿El salario medio de España es igual que el europeo?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H0: El salario medio España </a:t>
            </a: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Salario medio europeo</a:t>
            </a:r>
            <a:endParaRPr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H1: El salario medio España </a:t>
            </a: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&lt;&gt;</a:t>
            </a: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Salario medio europeo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valores p evalúan qué tan bien los datos de la muestra apoyan el argumento de que la hipótesis nula es verdadera.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Valores p altos: los datos son probables con una hipótesis nula verdadera.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Valores p bajos: los datos son poco probables con una hipótesis nula verdadera.</a:t>
            </a:r>
            <a:endParaRPr sz="1200">
              <a:solidFill>
                <a:srgbClr val="4D4F5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Pvalor &lt; alpha = 0,05 –&gt; Aceptas la H1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Pvalor &gt;= alpha = 0,05 –&gt;“Aceptas la H0”</a:t>
            </a:r>
            <a:endParaRPr sz="1150" b="1">
              <a:solidFill>
                <a:srgbClr val="2E465B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492625" y="319550"/>
            <a:ext cx="10515600" cy="1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700">
                <a:solidFill>
                  <a:srgbClr val="FF0000"/>
                </a:solidFill>
              </a:rPr>
              <a:t>Test de hipotesis</a:t>
            </a:r>
            <a:endParaRPr sz="3700"/>
          </a:p>
        </p:txBody>
      </p:sp>
      <p:pic>
        <p:nvPicPr>
          <p:cNvPr id="270" name="Google Shape;27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22" y="1466215"/>
            <a:ext cx="5172075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a8b485b1ff_0_184"/>
          <p:cNvSpPr txBox="1">
            <a:spLocks noGrp="1"/>
          </p:cNvSpPr>
          <p:nvPr>
            <p:ph type="title"/>
          </p:nvPr>
        </p:nvSpPr>
        <p:spPr>
          <a:xfrm>
            <a:off x="441960" y="161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4000">
                <a:solidFill>
                  <a:srgbClr val="FF0000"/>
                </a:solidFill>
              </a:rPr>
              <a:t>¿Cómo compruebo si una serie es Stationary?</a:t>
            </a:r>
            <a:endParaRPr sz="4000"/>
          </a:p>
        </p:txBody>
      </p:sp>
      <p:sp>
        <p:nvSpPr>
          <p:cNvPr id="277" name="Google Shape;277;ga8b485b1ff_0_184"/>
          <p:cNvSpPr txBox="1"/>
          <p:nvPr/>
        </p:nvSpPr>
        <p:spPr>
          <a:xfrm>
            <a:off x="441960" y="1366410"/>
            <a:ext cx="10160100" cy="284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Representando la serie</a:t>
            </a: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que no crezca/decrezca, tenga una tendencia constante.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Seasonality</a:t>
            </a: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se comprueba fácilmente de manera gráfica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Estadísticos</a:t>
            </a: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divide el Time Series en varias ventanas y calcula los estadísticos para cada ventana.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Root Tests</a:t>
            </a: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se plantea la hipótesis nula de que los estadísticos no son constantes en el tiempo. El objetivo es rechazar la hipótesis nula. Rechazaremos la hipótesis nula si su p-value es inferior a su nivel de significación (0.05).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AutoNum type="alphaL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Augmented Dickey Fuller test (ADH Test)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AutoNum type="alphaLcPeriod"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Kwiatkowski-Phillips-Schmidt-Shin – KPSS test: tendencia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AutoNum type="alphaLcPeriod"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Philips Perron test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a8b485b1ff_0_184"/>
          <p:cNvSpPr txBox="1"/>
          <p:nvPr/>
        </p:nvSpPr>
        <p:spPr>
          <a:xfrm>
            <a:off x="441960" y="38779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4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¿Qué hago para hacerla Stationary?</a:t>
            </a:r>
            <a:endParaRPr sz="4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a8b485b1ff_0_184"/>
          <p:cNvSpPr txBox="1"/>
          <p:nvPr/>
        </p:nvSpPr>
        <p:spPr>
          <a:xfrm>
            <a:off x="441960" y="4858275"/>
            <a:ext cx="10160100" cy="284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Seasonality</a:t>
            </a: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habrá que quitar la componente estacional. Diferenciando (siguiente diapo) o utilizando un SARIMA, que tiene en cuenta la seasonality.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Tendencia</a:t>
            </a: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hay que quitarla. Puede servir restar la media del TS, restar la componente de la tendencia del modelo aditivo o diferenciar con un lag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Autocorrelación</a:t>
            </a: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diferenciar primero por un lag y luego de nuevo si es necesario para eliminar la autocorrelación.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a8b485b1ff_0_216"/>
          <p:cNvSpPr txBox="1"/>
          <p:nvPr/>
        </p:nvSpPr>
        <p:spPr>
          <a:xfrm>
            <a:off x="838200" y="2124300"/>
            <a:ext cx="4976400" cy="3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Plot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lo más probable es que con un simple plot, veamos los patrones repetidos en la serie temporal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 Correlation Function (ACF)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Cuánto de correlacionados están los valores con instantes anteriores.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correlación lineal nos da un indicador de cuánto se relaciona linealmente una variable con otra. La autocorrelación sirve para ver si hay relación entre cada instante y sus lags, es decir, instantes anteriores.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existe una estacionalidad mensual, habrá correlación entre cada instante y su valor 12 instantes más atrás. 24 instantes más atrás también estará relacionado, pero no tanto.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a8b485b1ff_0_2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4300">
                <a:solidFill>
                  <a:srgbClr val="FF0000"/>
                </a:solidFill>
              </a:rPr>
              <a:t>¿Cómo compruebo que el TS es seasonal?</a:t>
            </a:r>
            <a:endParaRPr sz="4300"/>
          </a:p>
        </p:txBody>
      </p:sp>
      <p:pic>
        <p:nvPicPr>
          <p:cNvPr id="287" name="Google Shape;287;ga8b485b1ff_0_2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2000" y="2170376"/>
            <a:ext cx="5411125" cy="330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a8b485b1ff_0_205"/>
          <p:cNvSpPr txBox="1"/>
          <p:nvPr/>
        </p:nvSpPr>
        <p:spPr>
          <a:xfrm>
            <a:off x="838200" y="1452776"/>
            <a:ext cx="4976400" cy="197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Moving Average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aplicar moving average sobre la ventana estacional (media de time series para cada ventana)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Seasonal difference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resta de Y(t) - Y(t-s), siendo s el periodo estacional: 12 (meses), 4 (semanas)...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a8b485b1ff_0_2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4300">
                <a:solidFill>
                  <a:srgbClr val="FF0000"/>
                </a:solidFill>
              </a:rPr>
              <a:t>Deseasonalize</a:t>
            </a:r>
            <a:endParaRPr sz="4300"/>
          </a:p>
        </p:txBody>
      </p:sp>
      <p:pic>
        <p:nvPicPr>
          <p:cNvPr id="295" name="Google Shape;295;ga8b485b1ff_0_2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1900" y="3175000"/>
            <a:ext cx="949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a8b485b1ff_0_205"/>
          <p:cNvSpPr txBox="1"/>
          <p:nvPr/>
        </p:nvSpPr>
        <p:spPr>
          <a:xfrm>
            <a:off x="6208300" y="1452776"/>
            <a:ext cx="4976400" cy="158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Restar Seasonal component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descomponer la serie mediante un modelo aditivo, y restarle la componente de seasonality a la serie.</a:t>
            </a:r>
            <a:endParaRPr/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SARIMA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usar un modelo que integre automáticamente este componente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ga8b485b1ff_0_205"/>
          <p:cNvCxnSpPr/>
          <p:nvPr/>
        </p:nvCxnSpPr>
        <p:spPr>
          <a:xfrm>
            <a:off x="7937500" y="4229100"/>
            <a:ext cx="508000" cy="0"/>
          </a:xfrm>
          <a:prstGeom prst="straightConnector1">
            <a:avLst/>
          </a:prstGeom>
          <a:noFill/>
          <a:ln w="44450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8" name="Google Shape;298;ga8b485b1ff_0_205"/>
          <p:cNvSpPr txBox="1"/>
          <p:nvPr/>
        </p:nvSpPr>
        <p:spPr>
          <a:xfrm>
            <a:off x="7334250" y="3815174"/>
            <a:ext cx="171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Seasonal lag = 12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a8b485b1ff_0_224"/>
          <p:cNvSpPr txBox="1"/>
          <p:nvPr/>
        </p:nvSpPr>
        <p:spPr>
          <a:xfrm>
            <a:off x="5806975" y="1732388"/>
            <a:ext cx="5443800" cy="44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Missings en los valores</a:t>
            </a: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Backward fill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lo más probable es que con un simple plot, veamos los patrones repetidos en la serie temporal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Forward fill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Cuánto de correlacionados están los valores con instantes anteriores.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Interpolate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interpolar valores en función del anterior y posterior. Se suele usar la media.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AutoNum type="arabicPeriod"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KNN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similitud con los n últimos valores de la serie.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AutoNum type="arabicPeriod"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interpolation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AutoNum type="arabicPeriod"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Quadratic/Cubic interpolation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Missings en las fechas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Podría ocurrir que falte alguna fecha. Se podría solucionar obteniendo un range desde el primer valor al último, equiespaciandolo como nuestros datos (diario, horario...), y a este vector le aplicamos un left join de la serie original. 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Obtendremos como resultado un TS sin huecos en el tiempo y con algunos missings en los valores, que habrá que rellenar con las técnicas anteriores.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a8b485b1ff_0_2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4300">
                <a:solidFill>
                  <a:srgbClr val="FF0000"/>
                </a:solidFill>
              </a:rPr>
              <a:t>Missings</a:t>
            </a:r>
            <a:endParaRPr sz="4300"/>
          </a:p>
        </p:txBody>
      </p:sp>
      <p:pic>
        <p:nvPicPr>
          <p:cNvPr id="306" name="Google Shape;306;ga8b485b1ff_0_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825" y="1536050"/>
            <a:ext cx="4212661" cy="486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ad1a4756b6_0_0"/>
          <p:cNvSpPr txBox="1">
            <a:spLocks noGrp="1"/>
          </p:cNvSpPr>
          <p:nvPr>
            <p:ph type="title"/>
          </p:nvPr>
        </p:nvSpPr>
        <p:spPr>
          <a:xfrm>
            <a:off x="789500" y="1875050"/>
            <a:ext cx="10515600" cy="25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0000"/>
                </a:solidFill>
              </a:rPr>
              <a:t>Time Series</a:t>
            </a:r>
            <a:endParaRPr>
              <a:solidFill>
                <a:srgbClr val="FF000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>
                <a:solidFill>
                  <a:srgbClr val="FFFFFF"/>
                </a:solidFill>
              </a:rPr>
              <a:t>Técnicas de Regresión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a8b485b1ff_0_266"/>
          <p:cNvSpPr txBox="1"/>
          <p:nvPr/>
        </p:nvSpPr>
        <p:spPr>
          <a:xfrm>
            <a:off x="884300" y="1455925"/>
            <a:ext cx="105156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que predice valores futuros basados en los datos pasados. Para utilizar un modelo AR necesitamos un TS stationary.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la fórmula beta es un parámetro que podremos ir modificando, de -1 a 1, y epsilon es ruido.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es el orden del modelo de autoregresión. Se suele usar 1 o 2.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Alpha es el intercept.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a8b485b1ff_0_266"/>
          <p:cNvSpPr txBox="1">
            <a:spLocks noGrp="1"/>
          </p:cNvSpPr>
          <p:nvPr>
            <p:ph type="title"/>
          </p:nvPr>
        </p:nvSpPr>
        <p:spPr>
          <a:xfrm>
            <a:off x="930350" y="802875"/>
            <a:ext cx="9852000" cy="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100">
                <a:solidFill>
                  <a:srgbClr val="FF0000"/>
                </a:solidFill>
              </a:rPr>
              <a:t>Auto Regressive (AR)</a:t>
            </a:r>
            <a:endParaRPr sz="3100"/>
          </a:p>
        </p:txBody>
      </p:sp>
      <p:pic>
        <p:nvPicPr>
          <p:cNvPr id="320" name="Google Shape;320;ga8b485b1ff_0_2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3849" y="2808100"/>
            <a:ext cx="4198650" cy="48833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a8b485b1ff_0_266"/>
          <p:cNvSpPr txBox="1"/>
          <p:nvPr/>
        </p:nvSpPr>
        <p:spPr>
          <a:xfrm>
            <a:off x="930350" y="4543200"/>
            <a:ext cx="10423500" cy="8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Básicamente el MA predice valores futuros utilizando los errores cometidos en el pasado. También necesitamos un TS stationary.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es el orden del modelo MA.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ga8b485b1ff_0_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3531" y="5357400"/>
            <a:ext cx="4424943" cy="559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a8b485b1ff_0_266"/>
          <p:cNvSpPr txBox="1">
            <a:spLocks noGrp="1"/>
          </p:cNvSpPr>
          <p:nvPr>
            <p:ph type="title"/>
          </p:nvPr>
        </p:nvSpPr>
        <p:spPr>
          <a:xfrm>
            <a:off x="930350" y="3897825"/>
            <a:ext cx="9852000" cy="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100">
                <a:solidFill>
                  <a:srgbClr val="FF0000"/>
                </a:solidFill>
              </a:rPr>
              <a:t>Moving Average (MA)</a:t>
            </a:r>
            <a:endParaRPr sz="3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a8b485b1ff_0_249"/>
          <p:cNvSpPr txBox="1"/>
          <p:nvPr/>
        </p:nvSpPr>
        <p:spPr>
          <a:xfrm>
            <a:off x="623125" y="1237725"/>
            <a:ext cx="4967700" cy="5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sng" strike="noStrike" cap="none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AutoRegressive Integrated Moving Average</a:t>
            </a:r>
            <a:endParaRPr sz="1600" b="0" i="0" u="sng" strike="noStrike" cap="none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que utiliza valores y errores pasados para realizar predicciones en una serie temporal.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sng" strike="noStrike" cap="none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Seasonality</a:t>
            </a: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serie temporal NO puede tener seasonality. ARIMA lo modelará con el parámetro d. O diferencio por el lag de su seasonality o utilizo SARIMA.</a:t>
            </a: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sng" strike="noStrike" cap="none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¿Por qué no puede tener seasonality?</a:t>
            </a: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Este modelo es una REGRESIÓN basada en instantes anteriores, por lo que no puede existir correlación alta entre instantes de la serie temporal. Seasonality implica repetición de patrones cada X periodo (12 meses, 24h...), por lo que NO podemos usar datos con seasonality. Necesitamos garantizar la independencia de los lags de la serie.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sng" strike="noStrike" cap="none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SARIMA</a:t>
            </a: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utilizar el modelo SARIMA para series temporales con seasonality.</a:t>
            </a: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sng" strike="noStrike" cap="none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Stationary</a:t>
            </a: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TS tiene que ser stationary. Lo haremos con el parámetro d</a:t>
            </a:r>
            <a:endParaRPr sz="16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a8b485b1ff_0_249"/>
          <p:cNvSpPr txBox="1">
            <a:spLocks noGrp="1"/>
          </p:cNvSpPr>
          <p:nvPr>
            <p:ph type="title"/>
          </p:nvPr>
        </p:nvSpPr>
        <p:spPr>
          <a:xfrm>
            <a:off x="723000" y="334400"/>
            <a:ext cx="8477400" cy="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4300">
                <a:solidFill>
                  <a:srgbClr val="FF0000"/>
                </a:solidFill>
              </a:rPr>
              <a:t>ARIMA</a:t>
            </a:r>
            <a:endParaRPr sz="4300"/>
          </a:p>
        </p:txBody>
      </p:sp>
      <p:sp>
        <p:nvSpPr>
          <p:cNvPr id="331" name="Google Shape;331;ga8b485b1ff_0_249"/>
          <p:cNvSpPr txBox="1"/>
          <p:nvPr/>
        </p:nvSpPr>
        <p:spPr>
          <a:xfrm>
            <a:off x="6255250" y="4242400"/>
            <a:ext cx="5183700" cy="22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sng" strike="noStrike" cap="none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¿Cómo consigo un TS stationary?</a:t>
            </a:r>
            <a:endParaRPr sz="1600" b="0" i="0" u="sng" strike="noStrike" cap="none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Diferenciándolo una o dos veces. Restando cada valor por su anterior.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Esto sería el parámetro “d” de ARIMA. Si la serie ya es stationary, d=0.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0" i="0" u="sng" strike="noStrike" cap="none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¿Cómo elimino la seasonality?</a:t>
            </a:r>
            <a:endParaRPr sz="1600" b="0" i="0" u="sng" strike="noStrike" cap="none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Diferenciándolo por el periodo de la estacionalidad. Por ejemplo, diferenciando de 12 en 12, si tenemos datos mensuales.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usando un SARIMA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a8b485b1ff_0_249"/>
          <p:cNvSpPr txBox="1"/>
          <p:nvPr/>
        </p:nvSpPr>
        <p:spPr>
          <a:xfrm>
            <a:off x="6481750" y="1095200"/>
            <a:ext cx="47307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GB" sz="7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      d      q</a:t>
            </a:r>
            <a:endParaRPr sz="7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a8b485b1ff_0_249"/>
          <p:cNvSpPr txBox="1"/>
          <p:nvPr/>
        </p:nvSpPr>
        <p:spPr>
          <a:xfrm>
            <a:off x="6067050" y="2431500"/>
            <a:ext cx="1743300" cy="1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 Regressive (AR)</a:t>
            </a:r>
            <a:endParaRPr sz="11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Cantidad de lags usados como predictores</a:t>
            </a:r>
            <a:endParaRPr sz="1100" b="0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a8b485b1ff_0_249"/>
          <p:cNvSpPr txBox="1"/>
          <p:nvPr/>
        </p:nvSpPr>
        <p:spPr>
          <a:xfrm>
            <a:off x="9853175" y="2400775"/>
            <a:ext cx="1743300" cy="1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Moving Average (MA)</a:t>
            </a:r>
            <a:endParaRPr sz="11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Cantidad de errores utilizados en la predicción</a:t>
            </a:r>
            <a:endParaRPr sz="1100" b="0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a8b485b1ff_0_249"/>
          <p:cNvSpPr txBox="1"/>
          <p:nvPr/>
        </p:nvSpPr>
        <p:spPr>
          <a:xfrm>
            <a:off x="8155950" y="2400775"/>
            <a:ext cx="1743300" cy="11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Integrated (I)</a:t>
            </a:r>
            <a:endParaRPr sz="11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Número de veces que hay que diferenciar el TS</a:t>
            </a:r>
            <a:endParaRPr sz="1100" b="0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a8b485b1ff_0_278"/>
          <p:cNvSpPr txBox="1"/>
          <p:nvPr/>
        </p:nvSpPr>
        <p:spPr>
          <a:xfrm>
            <a:off x="637450" y="1543988"/>
            <a:ext cx="5529300" cy="3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1" i="0" u="none" strike="noStrike" cap="none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¿Para qué diferenciamos?</a:t>
            </a: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Para convertir un non-stationary TS en un stationary. Por tanto, primero habrá que comprobar que efectivamente el TS es stationary. Para ello podemos aplicar el</a:t>
            </a:r>
            <a:r>
              <a:rPr lang="en-GB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test Augmented Dickey Fuller.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obtener el valor óptimo de diferenciación hay que fijarse en la ACF (Autocorrelation Function). Buscamos que los lags no tengan autocorrelación. Posibles escenarios: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AutoNum type="arabicPeriod"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partir de cierto lag, tiene una caída brusca en correlación: diferenciaremos por ese lag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AutoNum type="arabicPeriod"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caída exponencial: sería una buena situación. Diferenciaríamos por el lag 1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AutoNum type="arabicPeriod"/>
            </a:pPr>
            <a:r>
              <a:rPr lang="en-GB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lags o más con autocorrelación alta: tiene pinta de que tendremos que diferenciar dos veces.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a8b485b1ff_0_278"/>
          <p:cNvSpPr txBox="1">
            <a:spLocks noGrp="1"/>
          </p:cNvSpPr>
          <p:nvPr>
            <p:ph type="title"/>
          </p:nvPr>
        </p:nvSpPr>
        <p:spPr>
          <a:xfrm>
            <a:off x="492625" y="319550"/>
            <a:ext cx="10515600" cy="1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700">
                <a:solidFill>
                  <a:srgbClr val="FF0000"/>
                </a:solidFill>
              </a:rPr>
              <a:t>Valor differencing (d)</a:t>
            </a:r>
            <a:endParaRPr sz="3700"/>
          </a:p>
        </p:txBody>
      </p:sp>
      <p:pic>
        <p:nvPicPr>
          <p:cNvPr id="343" name="Google Shape;343;ga8b485b1ff_0_2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1725" y="1686550"/>
            <a:ext cx="4705325" cy="460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a8b485b1ff_0_278"/>
          <p:cNvPicPr preferRelativeResize="0"/>
          <p:nvPr/>
        </p:nvPicPr>
        <p:blipFill rotWithShape="1">
          <a:blip r:embed="rId4">
            <a:alphaModFix/>
          </a:blip>
          <a:srcRect l="17183" t="56170" r="49978" b="23560"/>
          <a:stretch/>
        </p:blipFill>
        <p:spPr>
          <a:xfrm>
            <a:off x="781000" y="5073325"/>
            <a:ext cx="2621560" cy="122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a8b485b1ff_0_2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71885" y="5084229"/>
            <a:ext cx="2669240" cy="1206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a8b485b1ff_0_308"/>
          <p:cNvSpPr txBox="1"/>
          <p:nvPr/>
        </p:nvSpPr>
        <p:spPr>
          <a:xfrm>
            <a:off x="637450" y="1544000"/>
            <a:ext cx="102714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ARIMA que permite modelizar los comportamientos de seasonalidad, es decir, patrones repetitivos en los datos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a8b485b1ff_0_308"/>
          <p:cNvSpPr txBox="1">
            <a:spLocks noGrp="1"/>
          </p:cNvSpPr>
          <p:nvPr>
            <p:ph type="title"/>
          </p:nvPr>
        </p:nvSpPr>
        <p:spPr>
          <a:xfrm>
            <a:off x="492625" y="319550"/>
            <a:ext cx="10515600" cy="1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700">
                <a:solidFill>
                  <a:srgbClr val="FF0000"/>
                </a:solidFill>
              </a:rPr>
              <a:t>SARIMA</a:t>
            </a:r>
            <a:endParaRPr sz="3700"/>
          </a:p>
        </p:txBody>
      </p:sp>
      <p:sp>
        <p:nvSpPr>
          <p:cNvPr id="353" name="Google Shape;353;ga8b485b1ff_0_308"/>
          <p:cNvSpPr txBox="1"/>
          <p:nvPr/>
        </p:nvSpPr>
        <p:spPr>
          <a:xfrm>
            <a:off x="782275" y="5244100"/>
            <a:ext cx="102714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Añadimos una variable exógena, que básicamente es una variable externa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a8b485b1ff_0_308"/>
          <p:cNvSpPr txBox="1">
            <a:spLocks noGrp="1"/>
          </p:cNvSpPr>
          <p:nvPr>
            <p:ph type="title"/>
          </p:nvPr>
        </p:nvSpPr>
        <p:spPr>
          <a:xfrm>
            <a:off x="637450" y="4019650"/>
            <a:ext cx="10515600" cy="1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700">
                <a:solidFill>
                  <a:srgbClr val="FF0000"/>
                </a:solidFill>
              </a:rPr>
              <a:t>SARIMAX</a:t>
            </a:r>
            <a:endParaRPr sz="3700"/>
          </a:p>
        </p:txBody>
      </p:sp>
      <p:pic>
        <p:nvPicPr>
          <p:cNvPr id="355" name="Google Shape;355;ga8b485b1ff_0_3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5449" y="2082224"/>
            <a:ext cx="4520625" cy="19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a231b88e58_0_24"/>
          <p:cNvSpPr txBox="1"/>
          <p:nvPr/>
        </p:nvSpPr>
        <p:spPr>
          <a:xfrm>
            <a:off x="637450" y="1544000"/>
            <a:ext cx="9984600" cy="3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transformar la serie temporal en un conjunto de lags, que serían las features del modelo, e intentaríamos predecir como si fuese un modelo clásico supervisado de regresión.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este caso podríamos aplicar otros algoritmos: DecisionTreeRegressor, RandomForestRegressor...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a231b88e58_0_24"/>
          <p:cNvSpPr txBox="1">
            <a:spLocks noGrp="1"/>
          </p:cNvSpPr>
          <p:nvPr>
            <p:ph type="title"/>
          </p:nvPr>
        </p:nvSpPr>
        <p:spPr>
          <a:xfrm>
            <a:off x="492625" y="319550"/>
            <a:ext cx="10515600" cy="1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700">
                <a:solidFill>
                  <a:srgbClr val="FF0000"/>
                </a:solidFill>
              </a:rPr>
              <a:t>Otros modelos</a:t>
            </a:r>
            <a:endParaRPr sz="3700"/>
          </a:p>
        </p:txBody>
      </p:sp>
      <p:pic>
        <p:nvPicPr>
          <p:cNvPr id="363" name="Google Shape;363;ga231b88e58_0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8025" y="2892500"/>
            <a:ext cx="6322800" cy="309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a2c25b0cc8_0_5"/>
          <p:cNvSpPr txBox="1"/>
          <p:nvPr/>
        </p:nvSpPr>
        <p:spPr>
          <a:xfrm>
            <a:off x="637450" y="1544000"/>
            <a:ext cx="9984600" cy="3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Librería open source de Facebook que permite realizar forecast de series temporales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pip install fbprophet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a2c25b0cc8_0_5"/>
          <p:cNvSpPr txBox="1">
            <a:spLocks noGrp="1"/>
          </p:cNvSpPr>
          <p:nvPr>
            <p:ph type="title"/>
          </p:nvPr>
        </p:nvSpPr>
        <p:spPr>
          <a:xfrm>
            <a:off x="492625" y="319550"/>
            <a:ext cx="10515600" cy="1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GB" sz="3700">
                <a:solidFill>
                  <a:srgbClr val="FF0000"/>
                </a:solidFill>
              </a:rPr>
              <a:t>Facebook Prophet</a:t>
            </a:r>
            <a:endParaRPr sz="3700"/>
          </a:p>
        </p:txBody>
      </p:sp>
      <p:pic>
        <p:nvPicPr>
          <p:cNvPr id="371" name="Google Shape;371;ga2c25b0cc8_0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9400" y="3125975"/>
            <a:ext cx="8269824" cy="24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A77D618-FC6F-4661-8078-D7217B720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48" y="0"/>
            <a:ext cx="9427504" cy="6858000"/>
          </a:xfrm>
          <a:prstGeom prst="rect">
            <a:avLst/>
          </a:prstGeom>
        </p:spPr>
      </p:pic>
      <p:sp>
        <p:nvSpPr>
          <p:cNvPr id="7" name="Subtítulo 6">
            <a:extLst>
              <a:ext uri="{FF2B5EF4-FFF2-40B4-BE49-F238E27FC236}">
                <a16:creationId xmlns:a16="http://schemas.microsoft.com/office/drawing/2014/main" id="{6556067D-E6B5-41F7-949A-E97335289D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732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2149</Words>
  <Application>Microsoft Office PowerPoint</Application>
  <PresentationFormat>Panorámica</PresentationFormat>
  <Paragraphs>274</Paragraphs>
  <Slides>32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Calibri</vt:lpstr>
      <vt:lpstr>Arial</vt:lpstr>
      <vt:lpstr>Montserrat</vt:lpstr>
      <vt:lpstr>Office Theme</vt:lpstr>
      <vt:lpstr>Machine Learning – Time Series</vt:lpstr>
      <vt:lpstr>Time Series Analítica</vt:lpstr>
      <vt:lpstr>¿Qué es un Time Series?</vt:lpstr>
      <vt:lpstr>Algunos ejemplos</vt:lpstr>
      <vt:lpstr>Clasificación Series Temporales</vt:lpstr>
      <vt:lpstr>Objetivo de Time Series Entender el pasado mediante análisis prescriptivo para predecir el futuro</vt:lpstr>
      <vt:lpstr>Visualización Time Series</vt:lpstr>
      <vt:lpstr>Visualización Time Series</vt:lpstr>
      <vt:lpstr>Componentes de un Time Series</vt:lpstr>
      <vt:lpstr>Additive vs Multiplicative Decompose</vt:lpstr>
      <vt:lpstr>Smoothing</vt:lpstr>
      <vt:lpstr>Smoothing</vt:lpstr>
      <vt:lpstr>Modelos de smoothing</vt:lpstr>
      <vt:lpstr>Simple Exponential Smoothing (SES)</vt:lpstr>
      <vt:lpstr>Double Exponential Smoothing (DES)</vt:lpstr>
      <vt:lpstr>Triple Exponential Smoothing (TES)</vt:lpstr>
      <vt:lpstr>Stationary &amp; Correlation</vt:lpstr>
      <vt:lpstr>Stationary</vt:lpstr>
      <vt:lpstr>Autocorrelation plot</vt:lpstr>
      <vt:lpstr>Test de hipotesis</vt:lpstr>
      <vt:lpstr>¿Cómo compruebo si una serie es Stationary?</vt:lpstr>
      <vt:lpstr>¿Cómo compruebo que el TS es seasonal?</vt:lpstr>
      <vt:lpstr>Deseasonalize</vt:lpstr>
      <vt:lpstr>Missings</vt:lpstr>
      <vt:lpstr>Time Series Técnicas de Regresión</vt:lpstr>
      <vt:lpstr>Auto Regressive (AR)</vt:lpstr>
      <vt:lpstr>ARIMA</vt:lpstr>
      <vt:lpstr>Valor differencing (d)</vt:lpstr>
      <vt:lpstr>SARIMA</vt:lpstr>
      <vt:lpstr>Otros modelos</vt:lpstr>
      <vt:lpstr>Facebook Prophet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– Time Series</dc:title>
  <dc:creator>Gabriel VT</dc:creator>
  <cp:lastModifiedBy>Lili Casanova de Utrilla</cp:lastModifiedBy>
  <cp:revision>3</cp:revision>
  <dcterms:created xsi:type="dcterms:W3CDTF">2020-05-12T19:48:30Z</dcterms:created>
  <dcterms:modified xsi:type="dcterms:W3CDTF">2023-11-15T20:33:09Z</dcterms:modified>
</cp:coreProperties>
</file>