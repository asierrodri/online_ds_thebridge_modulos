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jpeg" ContentType="image/jpeg"/>
  <Override PartName="/ppt/media/image4.png" ContentType="image/png"/>
  <Override PartName="/ppt/media/image5.jpeg" ContentType="image/jpeg"/>
  <Override PartName="/ppt/media/image6.jpeg" ContentType="image/jpeg"/>
  <Override PartName="/ppt/media/image9.png" ContentType="image/png"/>
  <Override PartName="/ppt/media/image7.png" ContentType="image/png"/>
  <Override PartName="/ppt/media/image8.png" ContentType="image/png"/>
  <Override PartName="/ppt/media/image10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chemeClr val="dk1"/>
                </a:solidFill>
                <a:latin typeface="Arial"/>
              </a:rPr>
              <a:t>Pulse para desplazar la diapositiva</a:t>
            </a:r>
            <a:endParaRPr b="0" lang="es-E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813F55B-5E1B-48C5-8FAF-D492B96A3CE7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CustomShape 3"/>
          <p:cNvSpPr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</a:pPr>
            <a:fld id="{9B2F8505-EF85-46EF-B8D0-C28ED8F7F78C}" type="slidenum">
              <a:rPr b="0" lang="es-E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CustomShape 3"/>
          <p:cNvSpPr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</a:pPr>
            <a:fld id="{0A6ACE85-6670-40FB-B759-61E4C7888AC2}" type="slidenum">
              <a:rPr b="0" lang="es-E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CustomShape 3"/>
          <p:cNvSpPr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</a:pPr>
            <a:fld id="{1ABB4768-545D-4414-AD74-848D396880D9}" type="slidenum">
              <a:rPr b="0" lang="es-E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CustomShape 3"/>
          <p:cNvSpPr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</a:pPr>
            <a:fld id="{321A9666-861A-49D1-AD8D-0501FD63AE60}" type="slidenum">
              <a:rPr b="0" lang="es-E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CustomShape 3"/>
          <p:cNvSpPr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</a:pPr>
            <a:fld id="{4DED427F-81A7-405C-BB9A-B77DB64E6BAD}" type="slidenum">
              <a:rPr b="0" lang="es-E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CustomShape 3"/>
          <p:cNvSpPr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</a:pPr>
            <a:fld id="{16B088CA-1A9C-46BA-B126-60A9BD2F20AF}" type="slidenum">
              <a:rPr b="0" lang="es-E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CustomShape 3"/>
          <p:cNvSpPr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</a:pPr>
            <a:fld id="{0125A673-0A97-4B55-8779-C42F91245756}" type="slidenum">
              <a:rPr b="0" lang="es-E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CustomShape 3"/>
          <p:cNvSpPr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</a:pPr>
            <a:fld id="{315ACB5D-3C69-419E-BF7E-0A4F8C57BEE4}" type="slidenum">
              <a:rPr b="0" lang="es-E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CustomShape 3"/>
          <p:cNvSpPr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</a:pPr>
            <a:fld id="{84DC5426-0F24-40F0-8202-8D1166B53FE4}" type="slidenum">
              <a:rPr b="0" lang="es-E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CustomShape 3"/>
          <p:cNvSpPr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</a:pPr>
            <a:fld id="{F4BF5B3C-DFEC-4197-A1B5-1221FC294100}" type="slidenum">
              <a:rPr b="0" lang="es-E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2330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763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2330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763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60156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6775" lnSpcReduction="20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1470240" y="1825560"/>
            <a:ext cx="60156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6775" lnSpcReduction="20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60156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6775" lnSpcReduction="20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/>
          </p:nvPr>
        </p:nvSpPr>
        <p:spPr>
          <a:xfrm>
            <a:off x="1470240" y="4098240"/>
            <a:ext cx="60156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6775" lnSpcReduction="20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23300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23300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60156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5342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1470240" y="1825560"/>
            <a:ext cx="60156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5342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60156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6775" lnSpcReduction="20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1470240" y="1825560"/>
            <a:ext cx="60156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5342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60156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6775" lnSpcReduction="20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60156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5342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1470240" y="1825560"/>
            <a:ext cx="60156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6775" lnSpcReduction="20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1470240" y="4098240"/>
            <a:ext cx="60156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6775" lnSpcReduction="20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60156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6775" lnSpcReduction="20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1470240" y="1825560"/>
            <a:ext cx="60156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6775" lnSpcReduction="20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2330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763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rial"/>
              </a:rPr>
              <a:t>Pulse para editar el </a:t>
            </a:r>
            <a:r>
              <a:rPr b="0" lang="es-ES" sz="4400" spc="-1" strike="noStrike">
                <a:solidFill>
                  <a:schemeClr val="dk1"/>
                </a:solidFill>
                <a:latin typeface="Arial"/>
              </a:rPr>
              <a:t>formato del texto de </a:t>
            </a:r>
            <a:r>
              <a:rPr b="0" lang="es-ES" sz="4400" spc="-1" strike="noStrike">
                <a:solidFill>
                  <a:schemeClr val="dk1"/>
                </a:solidFill>
                <a:latin typeface="Arial"/>
              </a:rPr>
              <a:t>título</a:t>
            </a:r>
            <a:endParaRPr b="0" lang="es-E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252756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7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252756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7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23300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856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2133360" y="1825560"/>
            <a:ext cx="123300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856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23300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856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2133360" y="4098240"/>
            <a:ext cx="123300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856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8132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856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1692720" y="1825560"/>
            <a:ext cx="8132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856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2547360" y="1825560"/>
            <a:ext cx="8132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856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8132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856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body"/>
          </p:nvPr>
        </p:nvSpPr>
        <p:spPr>
          <a:xfrm>
            <a:off x="1692720" y="4098240"/>
            <a:ext cx="8132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856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" name="PlaceHolder 7"/>
          <p:cNvSpPr>
            <a:spLocks noGrp="1"/>
          </p:cNvSpPr>
          <p:nvPr>
            <p:ph type="body"/>
          </p:nvPr>
        </p:nvSpPr>
        <p:spPr>
          <a:xfrm>
            <a:off x="2547360" y="4098240"/>
            <a:ext cx="8132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856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252756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567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23300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7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2133360" y="1825560"/>
            <a:ext cx="123300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7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23300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856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2133360" y="1825560"/>
            <a:ext cx="123300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7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23300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856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23300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7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2133360" y="1825560"/>
            <a:ext cx="123300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856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2133360" y="4098240"/>
            <a:ext cx="123300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856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23300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856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2133360" y="1825560"/>
            <a:ext cx="123300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856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252756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7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CustomShape 1"/>
          <p:cNvSpPr/>
          <p:nvPr/>
        </p:nvSpPr>
        <p:spPr>
          <a:xfrm>
            <a:off x="2233440" y="2430000"/>
            <a:ext cx="7724520" cy="19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s-ES" sz="4400" spc="-1" strike="noStrike">
                <a:solidFill>
                  <a:srgbClr val="ff0000"/>
                </a:solidFill>
                <a:latin typeface="Calibri Light"/>
                <a:ea typeface="DejaVu Sans"/>
              </a:rPr>
              <a:t>Machine Learning  </a:t>
            </a:r>
            <a:br>
              <a:rPr sz="1800"/>
            </a:br>
            <a:r>
              <a:rPr b="0" lang="es-ES" sz="4400" spc="-1" strike="noStrike">
                <a:solidFill>
                  <a:srgbClr val="ff0000"/>
                </a:solidFill>
                <a:latin typeface="Calibri Light"/>
                <a:ea typeface="DejaVu Sans"/>
              </a:rPr>
              <a:t>KNN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ustomShape 1"/>
          <p:cNvSpPr/>
          <p:nvPr/>
        </p:nvSpPr>
        <p:spPr>
          <a:xfrm>
            <a:off x="649080" y="629280"/>
            <a:ext cx="4943160" cy="16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en-US" sz="4400" spc="-1" strike="noStrike">
                <a:solidFill>
                  <a:srgbClr val="ff0000"/>
                </a:solidFill>
                <a:latin typeface="Calibri Light"/>
                <a:ea typeface="DejaVu Sans"/>
              </a:rPr>
              <a:t>¿Qué es el KNN?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CustomShape 2"/>
          <p:cNvSpPr/>
          <p:nvPr/>
        </p:nvSpPr>
        <p:spPr>
          <a:xfrm>
            <a:off x="649080" y="2438280"/>
            <a:ext cx="4943160" cy="37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i="1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KNN por sus siglas del inglés k</a:t>
            </a: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-</a:t>
            </a:r>
            <a:r>
              <a:rPr b="0" i="1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nearest neighbor.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El método KNN​ es un método de </a:t>
            </a:r>
            <a:r>
              <a:rPr b="1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clasificación</a:t>
            </a: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 supervisado que estima la probabilidad a posteriori de que un elemento x pertenezca a la clase Cj a partir de la información proporcionada por el conjunto seleccionado.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La clasificación se calcula a partir de un voto de mayoría simple de los vecinos más cercanos de cada punto: a un punto de consulta se le asigna la clase de datos que tiene más representantes dentro de los vecinos más cercanos del punto.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CustomShape 3"/>
          <p:cNvSpPr/>
          <p:nvPr/>
        </p:nvSpPr>
        <p:spPr>
          <a:xfrm>
            <a:off x="6093000" y="0"/>
            <a:ext cx="6098040" cy="685692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CustomShape 4"/>
          <p:cNvSpPr/>
          <p:nvPr/>
        </p:nvSpPr>
        <p:spPr>
          <a:xfrm>
            <a:off x="6577560" y="557640"/>
            <a:ext cx="5129280" cy="5738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algn="t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Imagen 2" descr=""/>
          <p:cNvPicPr/>
          <p:nvPr/>
        </p:nvPicPr>
        <p:blipFill>
          <a:blip r:embed="rId1"/>
          <a:stretch/>
        </p:blipFill>
        <p:spPr>
          <a:xfrm>
            <a:off x="6652800" y="1830240"/>
            <a:ext cx="5054040" cy="3193200"/>
          </a:xfrm>
          <a:prstGeom prst="rect">
            <a:avLst/>
          </a:prstGeom>
          <a:ln w="0">
            <a:noFill/>
          </a:ln>
        </p:spPr>
      </p:pic>
      <p:sp>
        <p:nvSpPr>
          <p:cNvPr id="74" name="AutoShape 2"/>
          <p:cNvSpPr/>
          <p:nvPr/>
        </p:nvSpPr>
        <p:spPr>
          <a:xfrm>
            <a:off x="908064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stomShape 1"/>
          <p:cNvSpPr/>
          <p:nvPr/>
        </p:nvSpPr>
        <p:spPr>
          <a:xfrm>
            <a:off x="665280" y="208800"/>
            <a:ext cx="4943160" cy="16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es-ES" sz="4400" spc="-1" strike="noStrike">
                <a:solidFill>
                  <a:srgbClr val="ff0000"/>
                </a:solidFill>
                <a:latin typeface="Calibri Light"/>
                <a:ea typeface="DejaVu Sans"/>
              </a:rPr>
              <a:t>¿Cómo funciona?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CustomShape 2"/>
          <p:cNvSpPr/>
          <p:nvPr/>
        </p:nvSpPr>
        <p:spPr>
          <a:xfrm>
            <a:off x="664920" y="1667160"/>
            <a:ext cx="4943160" cy="47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¿Qué criterio utilizamos? Normalmente la distancia Euclídea.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Sklearn, utiliza el aprendizaje basado en los K vecinos más cercanos de cada punto de consulta, donde K es un valor entero especificado por el usuario.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Se suelen utilizar números impares para evitar empates.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Lazy Learn Algorithm: no entrena y simplemente guarda el dataset. La computación se produce en predicción.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Funciona bien con datasets pequeños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No requiere de suposiciones en los datos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Recomendable escalar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CustomShape 3"/>
          <p:cNvSpPr/>
          <p:nvPr/>
        </p:nvSpPr>
        <p:spPr>
          <a:xfrm>
            <a:off x="6093000" y="0"/>
            <a:ext cx="6098040" cy="685692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CustomShape 4"/>
          <p:cNvSpPr/>
          <p:nvPr/>
        </p:nvSpPr>
        <p:spPr>
          <a:xfrm>
            <a:off x="6577560" y="557640"/>
            <a:ext cx="5129280" cy="5738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algn="t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Imagen 2" descr=""/>
          <p:cNvPicPr/>
          <p:nvPr/>
        </p:nvPicPr>
        <p:blipFill>
          <a:blip r:embed="rId1"/>
          <a:stretch/>
        </p:blipFill>
        <p:spPr>
          <a:xfrm>
            <a:off x="6652800" y="1830240"/>
            <a:ext cx="5054040" cy="3193200"/>
          </a:xfrm>
          <a:prstGeom prst="rect">
            <a:avLst/>
          </a:prstGeom>
          <a:ln w="0">
            <a:noFill/>
          </a:ln>
        </p:spPr>
      </p:pic>
      <p:sp>
        <p:nvSpPr>
          <p:cNvPr id="80" name="AutoShape 2"/>
          <p:cNvSpPr/>
          <p:nvPr/>
        </p:nvSpPr>
        <p:spPr>
          <a:xfrm>
            <a:off x="908064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</a:pPr>
            <a:r>
              <a:rPr b="0" lang="es-ES" sz="4400" spc="-1" strike="noStrike">
                <a:solidFill>
                  <a:srgbClr val="ff0000"/>
                </a:solidFill>
                <a:latin typeface="Calibri Light"/>
                <a:ea typeface="DejaVu Sans"/>
              </a:rPr>
              <a:t>Distancia Euclídea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CuadroTexto 1"/>
          <p:cNvSpPr/>
          <p:nvPr/>
        </p:nvSpPr>
        <p:spPr>
          <a:xfrm>
            <a:off x="838080" y="2442240"/>
            <a:ext cx="4321440" cy="19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El enfoque euclidiano, es la medida de distancia más utilizada para calcular la distancia entre las muestras de prueba y los valores de datos entrenados.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Podemos calcular la distancia euclídea en un espacio n-dimensional.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Imagen 3" descr=""/>
          <p:cNvPicPr/>
          <p:nvPr/>
        </p:nvPicPr>
        <p:blipFill>
          <a:blip r:embed="rId1"/>
          <a:stretch/>
        </p:blipFill>
        <p:spPr>
          <a:xfrm>
            <a:off x="5682240" y="1922040"/>
            <a:ext cx="6195240" cy="519840"/>
          </a:xfrm>
          <a:prstGeom prst="rect">
            <a:avLst/>
          </a:prstGeom>
          <a:ln w="0">
            <a:noFill/>
          </a:ln>
        </p:spPr>
      </p:pic>
      <p:pic>
        <p:nvPicPr>
          <p:cNvPr id="84" name="Imagen 5" descr=""/>
          <p:cNvPicPr/>
          <p:nvPr/>
        </p:nvPicPr>
        <p:blipFill>
          <a:blip r:embed="rId2"/>
          <a:stretch/>
        </p:blipFill>
        <p:spPr>
          <a:xfrm>
            <a:off x="7199640" y="2798280"/>
            <a:ext cx="2910960" cy="2232000"/>
          </a:xfrm>
          <a:prstGeom prst="rect">
            <a:avLst/>
          </a:prstGeom>
          <a:ln w="0">
            <a:noFill/>
          </a:ln>
        </p:spPr>
      </p:pic>
      <p:pic>
        <p:nvPicPr>
          <p:cNvPr id="85" name="Imagen 4" descr=""/>
          <p:cNvPicPr/>
          <p:nvPr/>
        </p:nvPicPr>
        <p:blipFill>
          <a:blip r:embed="rId3"/>
          <a:stretch/>
        </p:blipFill>
        <p:spPr>
          <a:xfrm>
            <a:off x="1110960" y="5447160"/>
            <a:ext cx="10766880" cy="104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649080" y="629280"/>
            <a:ext cx="4943160" cy="16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3888"/>
          </a:bodyPr>
          <a:p>
            <a:pPr defTabSz="914400">
              <a:lnSpc>
                <a:spcPct val="90000"/>
              </a:lnSpc>
            </a:pPr>
            <a:r>
              <a:rPr b="0" lang="es-ES" sz="4400" spc="-1" strike="noStrike">
                <a:solidFill>
                  <a:srgbClr val="ff0000"/>
                </a:solidFill>
                <a:latin typeface="Calibri Light"/>
                <a:ea typeface="DejaVu Sans"/>
              </a:rPr>
              <a:t>¿Cómo seleccionamos el valor óptimo de K?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649080" y="2438280"/>
            <a:ext cx="4943160" cy="37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La mejor elección de k depende fundamentalmente de los datos.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No existen métodos estadísticos predefinidos para encontrar el valor más favorable de K.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Iniciamos un valor K aleatorio y calculamos.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Investigación “iterativa”.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Elegir valores pequeños de K conduce a límites de decisión muy sensibles o inestables. 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Para clasificar, elegir valores mayores de K nos suaviza esos límites de decisión (reducimos efecto ruido).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CustomShape 3"/>
          <p:cNvSpPr/>
          <p:nvPr/>
        </p:nvSpPr>
        <p:spPr>
          <a:xfrm>
            <a:off x="6093000" y="0"/>
            <a:ext cx="6098040" cy="685692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CustomShape 4"/>
          <p:cNvSpPr/>
          <p:nvPr/>
        </p:nvSpPr>
        <p:spPr>
          <a:xfrm>
            <a:off x="6577560" y="557640"/>
            <a:ext cx="5129280" cy="5738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algn="t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Imagen 2" descr=""/>
          <p:cNvPicPr/>
          <p:nvPr/>
        </p:nvPicPr>
        <p:blipFill>
          <a:blip r:embed="rId1"/>
          <a:stretch/>
        </p:blipFill>
        <p:spPr>
          <a:xfrm>
            <a:off x="6652800" y="1830240"/>
            <a:ext cx="5054040" cy="3193200"/>
          </a:xfrm>
          <a:prstGeom prst="rect">
            <a:avLst/>
          </a:prstGeom>
          <a:ln w="0">
            <a:noFill/>
          </a:ln>
        </p:spPr>
      </p:pic>
      <p:sp>
        <p:nvSpPr>
          <p:cNvPr id="91" name="AutoShape 2"/>
          <p:cNvSpPr/>
          <p:nvPr/>
        </p:nvSpPr>
        <p:spPr>
          <a:xfrm>
            <a:off x="908064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649080" y="629280"/>
            <a:ext cx="4943160" cy="16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es-ES" sz="4400" spc="-1" strike="noStrike">
                <a:solidFill>
                  <a:srgbClr val="ff0000"/>
                </a:solidFill>
                <a:latin typeface="Calibri Light"/>
                <a:ea typeface="DejaVu Sans"/>
              </a:rPr>
              <a:t>Escalar variables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CustomShape 2"/>
          <p:cNvSpPr/>
          <p:nvPr/>
        </p:nvSpPr>
        <p:spPr>
          <a:xfrm>
            <a:off x="649080" y="2438280"/>
            <a:ext cx="4943160" cy="37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Los algoritmos basados ​​en la distancia se ven afectados por la escala de las variables.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Por ello, debemos tener las variables en rangos similares.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No tiene sentido calcular distancias para variables con escalas muy diversas: variable edad vs variable ingresos.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286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Para ello utilizaremos los distintos tipos de escalado: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Estandarización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Min-Max scaler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788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etc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CustomShape 3"/>
          <p:cNvSpPr/>
          <p:nvPr/>
        </p:nvSpPr>
        <p:spPr>
          <a:xfrm>
            <a:off x="6093000" y="0"/>
            <a:ext cx="6098040" cy="685692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CustomShape 4"/>
          <p:cNvSpPr/>
          <p:nvPr/>
        </p:nvSpPr>
        <p:spPr>
          <a:xfrm>
            <a:off x="6577560" y="557640"/>
            <a:ext cx="5129280" cy="5738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algn="t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AutoShape 2"/>
          <p:cNvSpPr/>
          <p:nvPr/>
        </p:nvSpPr>
        <p:spPr>
          <a:xfrm>
            <a:off x="908064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rial"/>
              <a:ea typeface="DejaVu Sans"/>
            </a:endParaRPr>
          </a:p>
        </p:txBody>
      </p:sp>
      <p:pic>
        <p:nvPicPr>
          <p:cNvPr id="97" name="Imagen 3" descr=""/>
          <p:cNvPicPr/>
          <p:nvPr/>
        </p:nvPicPr>
        <p:blipFill>
          <a:blip r:embed="rId1"/>
          <a:stretch/>
        </p:blipFill>
        <p:spPr>
          <a:xfrm>
            <a:off x="6581880" y="2124000"/>
            <a:ext cx="5124960" cy="2886120"/>
          </a:xfrm>
          <a:prstGeom prst="rect">
            <a:avLst/>
          </a:prstGeom>
          <a:ln w="0">
            <a:noFill/>
          </a:ln>
        </p:spPr>
      </p:pic>
      <p:sp>
        <p:nvSpPr>
          <p:cNvPr id="98" name="CuadroTexto 10"/>
          <p:cNvSpPr/>
          <p:nvPr/>
        </p:nvSpPr>
        <p:spPr>
          <a:xfrm>
            <a:off x="6442200" y="5398920"/>
            <a:ext cx="5581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s-ES" sz="1600" spc="-1" strike="noStrike">
                <a:solidFill>
                  <a:schemeClr val="dk1"/>
                </a:solidFill>
                <a:latin typeface="charter"/>
                <a:ea typeface="DejaVu Sans"/>
              </a:rPr>
              <a:t>Distancia euclídia = [(100000–80000) ^ 2 + (30–25) ^ 2] ^ (1/2)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9" name="Conector recto 2"/>
          <p:cNvCxnSpPr/>
          <p:nvPr/>
        </p:nvCxnSpPr>
        <p:spPr>
          <a:xfrm>
            <a:off x="6428520" y="5234400"/>
            <a:ext cx="5430960" cy="563760"/>
          </a:xfrm>
          <a:prstGeom prst="straightConnector1">
            <a:avLst/>
          </a:prstGeom>
          <a:ln>
            <a:solidFill>
              <a:srgbClr val="f90000"/>
            </a:solidFill>
          </a:ln>
        </p:spPr>
      </p:cxnSp>
      <p:cxnSp>
        <p:nvCxnSpPr>
          <p:cNvPr id="100" name="Conector recto 11"/>
          <p:cNvCxnSpPr/>
          <p:nvPr/>
        </p:nvCxnSpPr>
        <p:spPr>
          <a:xfrm flipV="1">
            <a:off x="6441840" y="5327640"/>
            <a:ext cx="5417640" cy="588240"/>
          </a:xfrm>
          <a:prstGeom prst="straightConnector1">
            <a:avLst/>
          </a:prstGeom>
          <a:ln>
            <a:solidFill>
              <a:srgbClr val="f90000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</a:pPr>
            <a:r>
              <a:rPr b="0" lang="es-ES" sz="4400" spc="-1" strike="noStrike">
                <a:solidFill>
                  <a:srgbClr val="ff0000"/>
                </a:solidFill>
                <a:latin typeface="Calibri Light"/>
                <a:ea typeface="DejaVu Sans"/>
              </a:rPr>
              <a:t>¿Cómo evaluamos el modelo?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CuadroTexto 1"/>
          <p:cNvSpPr/>
          <p:nvPr/>
        </p:nvSpPr>
        <p:spPr>
          <a:xfrm>
            <a:off x="838080" y="2360520"/>
            <a:ext cx="6112800" cy="34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Cambiar el valor de K puede afectar el rendimiento del modelo, por lo que debemos buscar su valor óptimo.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Para escoger el valor óptimo de K utilizaremos las métricas de medida de performance: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lvl="3" marL="16574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Precisión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lvl="3" marL="16574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F1-score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lvl="3" marL="16574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Matriz de confusión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lvl="3" marL="16574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AUC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lvl="3" marL="16574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etc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Problemas de rendimiento para datasets muy grandes.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3" name="Imagen 4" descr=""/>
          <p:cNvPicPr/>
          <p:nvPr/>
        </p:nvPicPr>
        <p:blipFill>
          <a:blip r:embed="rId1"/>
          <a:stretch/>
        </p:blipFill>
        <p:spPr>
          <a:xfrm>
            <a:off x="7846920" y="1938600"/>
            <a:ext cx="3881520" cy="313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</a:pPr>
            <a:r>
              <a:rPr b="0" lang="es-ES" sz="4400" spc="-1" strike="noStrike">
                <a:solidFill>
                  <a:srgbClr val="ff0000"/>
                </a:solidFill>
                <a:latin typeface="Calibri Light"/>
                <a:ea typeface="DejaVu Sans"/>
              </a:rPr>
              <a:t>Overfitting en KNN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CuadroTexto 1"/>
          <p:cNvSpPr/>
          <p:nvPr/>
        </p:nvSpPr>
        <p:spPr>
          <a:xfrm>
            <a:off x="756720" y="1785600"/>
            <a:ext cx="611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‘</a:t>
            </a: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K’s muy bajos producen overfitting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‘</a:t>
            </a: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K’s altos son más consistentes en los rangos de separación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" name="Picture 2" descr=""/>
          <p:cNvPicPr/>
          <p:nvPr/>
        </p:nvPicPr>
        <p:blipFill>
          <a:blip r:embed="rId1"/>
          <a:stretch/>
        </p:blipFill>
        <p:spPr>
          <a:xfrm>
            <a:off x="838080" y="3205440"/>
            <a:ext cx="4708440" cy="2769120"/>
          </a:xfrm>
          <a:prstGeom prst="rect">
            <a:avLst/>
          </a:prstGeom>
          <a:ln w="0">
            <a:noFill/>
          </a:ln>
        </p:spPr>
      </p:pic>
      <p:pic>
        <p:nvPicPr>
          <p:cNvPr id="107" name="Picture 4" descr="Visualize the result based on different K"/>
          <p:cNvPicPr/>
          <p:nvPr/>
        </p:nvPicPr>
        <p:blipFill>
          <a:blip r:embed="rId2"/>
          <a:stretch/>
        </p:blipFill>
        <p:spPr>
          <a:xfrm>
            <a:off x="6095880" y="2163960"/>
            <a:ext cx="5549400" cy="3810240"/>
          </a:xfrm>
          <a:prstGeom prst="rect">
            <a:avLst/>
          </a:prstGeom>
          <a:ln w="0">
            <a:noFill/>
          </a:ln>
        </p:spPr>
      </p:pic>
      <p:sp>
        <p:nvSpPr>
          <p:cNvPr id="108" name="CuadroTexto 2"/>
          <p:cNvSpPr/>
          <p:nvPr/>
        </p:nvSpPr>
        <p:spPr>
          <a:xfrm>
            <a:off x="3718440" y="3429000"/>
            <a:ext cx="162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Arial"/>
                <a:ea typeface="DejaVu Sans"/>
              </a:rPr>
              <a:t>Elbow curve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</a:pPr>
            <a:r>
              <a:rPr b="0" lang="es-ES" sz="4400" spc="-1" strike="noStrike">
                <a:solidFill>
                  <a:srgbClr val="ff0000"/>
                </a:solidFill>
                <a:latin typeface="Calibri Light"/>
                <a:ea typeface="DejaVu Sans"/>
              </a:rPr>
              <a:t>KNN Regressor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CuadroTexto 1"/>
          <p:cNvSpPr/>
          <p:nvPr/>
        </p:nvSpPr>
        <p:spPr>
          <a:xfrm>
            <a:off x="838080" y="1689840"/>
            <a:ext cx="611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Se calculan las distancias de cada punto al target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Se eligen K-vecinos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El output será la media de los targets de los K-vecinos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1" name="Picture 2" descr=""/>
          <p:cNvPicPr/>
          <p:nvPr/>
        </p:nvPicPr>
        <p:blipFill>
          <a:blip r:embed="rId1"/>
          <a:stretch/>
        </p:blipFill>
        <p:spPr>
          <a:xfrm>
            <a:off x="1200240" y="3014640"/>
            <a:ext cx="5228640" cy="3182760"/>
          </a:xfrm>
          <a:prstGeom prst="rect">
            <a:avLst/>
          </a:prstGeom>
          <a:ln w="0">
            <a:noFill/>
          </a:ln>
        </p:spPr>
      </p:pic>
      <p:pic>
        <p:nvPicPr>
          <p:cNvPr id="112" name="Picture 4" descr=""/>
          <p:cNvPicPr/>
          <p:nvPr/>
        </p:nvPicPr>
        <p:blipFill>
          <a:blip r:embed="rId2"/>
          <a:stretch/>
        </p:blipFill>
        <p:spPr>
          <a:xfrm>
            <a:off x="6951240" y="3014640"/>
            <a:ext cx="4711320" cy="1275840"/>
          </a:xfrm>
          <a:prstGeom prst="rect">
            <a:avLst/>
          </a:prstGeom>
          <a:ln w="0">
            <a:noFill/>
          </a:ln>
        </p:spPr>
      </p:pic>
      <p:sp>
        <p:nvSpPr>
          <p:cNvPr id="113" name="CuadroTexto 6"/>
          <p:cNvSpPr/>
          <p:nvPr/>
        </p:nvSpPr>
        <p:spPr>
          <a:xfrm>
            <a:off x="7914600" y="4561560"/>
            <a:ext cx="297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E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(77+59+72+60+58)/5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4265280" y="2766240"/>
            <a:ext cx="383472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9999"/>
          </a:bodyPr>
          <a:p>
            <a:pPr defTabSz="914400">
              <a:lnSpc>
                <a:spcPct val="90000"/>
              </a:lnSpc>
            </a:pPr>
            <a:r>
              <a:rPr b="0" lang="es-ES" sz="6600" spc="-1" strike="noStrike">
                <a:solidFill>
                  <a:srgbClr val="ff0000"/>
                </a:solidFill>
                <a:latin typeface="Calibri Light"/>
                <a:ea typeface="DejaVu Sans"/>
              </a:rPr>
              <a:t>Preguntas</a:t>
            </a:r>
            <a:endParaRPr b="0" lang="es-ES" sz="6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3891</TotalTime>
  <Application>LibreOffice/24.2.7.2$Linux_X86_64 LibreOffice_project/420$Build-2</Application>
  <AppVersion>15.0000</AppVersion>
  <Words>505</Words>
  <Paragraphs>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2020-08-31T20:14:59Z</dcterms:created>
  <dc:creator>Gabriel VT</dc:creator>
  <dc:description/>
  <dc:language>es-ES</dc:language>
  <cp:lastModifiedBy/>
  <dcterms:modified xsi:type="dcterms:W3CDTF">2025-12-10T16:33:43Z</dcterms:modified>
  <cp:revision>43</cp:revision>
  <dc:subject/>
  <dc:title>Machine Learning   Regresión Lineal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i4>0</vt:i4>
  </property>
  <property fmtid="{D5CDD505-2E9C-101B-9397-08002B2CF9AE}" pid="6" name="Notes">
    <vt:i4>10</vt:i4>
  </property>
  <property fmtid="{D5CDD505-2E9C-101B-9397-08002B2CF9AE}" pid="7" name="PresentationFormat">
    <vt:lpwstr>Panorámica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10</vt:i4>
  </property>
</Properties>
</file>