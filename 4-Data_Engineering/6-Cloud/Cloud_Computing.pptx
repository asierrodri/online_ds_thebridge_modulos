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7.png" ContentType="image/png"/>
  <Override PartName="/ppt/media/image16.png" ContentType="image/png"/>
  <Override PartName="/ppt/media/image23.gif" ContentType="image/gif"/>
  <Override PartName="/ppt/media/image5.jpeg" ContentType="image/jpeg"/>
  <Override PartName="/ppt/media/image22.png" ContentType="image/png"/>
  <Override PartName="/ppt/media/image19.jpeg" ContentType="image/jpeg"/>
  <Override PartName="/ppt/media/image21.png" ContentType="image/png"/>
  <Override PartName="/ppt/media/image15.jpeg" ContentType="image/jpeg"/>
  <Override PartName="/ppt/media/image10.png" ContentType="image/png"/>
  <Override PartName="/ppt/media/image1.png" ContentType="image/png"/>
  <Override PartName="/ppt/media/image14.png" ContentType="image/png"/>
  <Override PartName="/ppt/media/image2.jpeg" ContentType="image/jpeg"/>
  <Override PartName="/ppt/media/image4.jpeg" ContentType="image/jpeg"/>
  <Override PartName="/ppt/media/image6.png" ContentType="image/pn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4D6222-2D23-4765-B691-92A53AAEA5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DFA558-854D-4EA6-8301-9DABABD80E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28B81BF-C98F-4870-9762-00CAA1EDBA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D6BE6A9-8728-4EBA-BE70-31E80D3200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0FCDFE2-DADC-4C59-B6FF-568F37CC61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356C19F-7D3B-4868-A766-9B4562BDE8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ACCD1B0-613B-48C9-A023-2CCD1C415A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98DB4D3-B977-479B-9F46-6178FB5541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2CE1626-9EF8-4BC5-83A1-4315C51689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F410C0C-B407-442C-84F5-0DD1299EE8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8079BFD-03A6-4266-950A-AA475527F5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del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texto de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CE0671-CA96-4B6C-9B2B-C0572D478E3B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del texto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</a:t>
            </a: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</a:t>
            </a: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</a:t>
            </a: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</a:t>
            </a: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</a:t>
            </a: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557028-07E3-4845-8C41-D0C838225FCD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del texto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5C16AB-1E86-49AC-8A48-1FC2C13CF727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del texto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EEC810-F3C0-420E-A351-719EE8D0F41D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7485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C36CA3-AB69-41F6-8065-515FA429FA1D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85ED25-894B-44B3-8124-67F187793863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277325-FC02-45E2-B3F9-A7C408802B48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D333E4-A65F-49AC-A0BB-62E8CB5A17E4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C6D54C-D656-46E0-B0FF-250646CBE1FC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A3091B-072B-4BE1-A9BA-C0C5FF3072B1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1EA99C-DEBA-4F04-87CA-F3E8E8D0B6D9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1.png"/><Relationship Id="rId10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lMWBBCNaDB0" TargetMode="Externa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aws.amazon.com/es/free/?all-free-tier.sort-by=item.additionalFields.SortRank&amp;all-free-tier.sort-order=asc" TargetMode="External"/><Relationship Id="rId2" Type="http://schemas.openxmlformats.org/officeDocument/2006/relationships/image" Target="../media/image23.gif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447200"/>
            <a:ext cx="9143640" cy="213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pc="-1" strike="noStrike">
                <a:solidFill>
                  <a:schemeClr val="lt1"/>
                </a:solidFill>
                <a:latin typeface="Calibri"/>
                <a:ea typeface="Calibri"/>
              </a:rPr>
              <a:t>Cloud Computing</a:t>
            </a:r>
            <a:br>
              <a:rPr sz="6000"/>
            </a:br>
            <a:r>
              <a:rPr b="0" lang="es-ES" sz="4000" spc="-1" strike="noStrike">
                <a:solidFill>
                  <a:srgbClr val="ff0000"/>
                </a:solidFill>
                <a:latin typeface="Calibri"/>
                <a:ea typeface="Calibri"/>
              </a:rPr>
              <a:t>Fundamentos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42026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lt1"/>
                </a:solidFill>
                <a:latin typeface="Calibri"/>
                <a:ea typeface="Calibri"/>
              </a:rPr>
              <a:t>Data Science Bootcamp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lt1"/>
                </a:solidFill>
                <a:latin typeface="Calibri"/>
                <a:ea typeface="Calibri"/>
              </a:rPr>
              <a:t>The Bridge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Google Shape;90;p1" descr="Events organizados por The Bridge | Digital Talent Accelerator | Eventbrite"/>
          <p:cNvPicPr/>
          <p:nvPr/>
        </p:nvPicPr>
        <p:blipFill>
          <a:blip r:embed="rId1"/>
          <a:stretch/>
        </p:blipFill>
        <p:spPr>
          <a:xfrm>
            <a:off x="10630080" y="5505480"/>
            <a:ext cx="823680" cy="82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La vida sin Cloud Computing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Cada empresa ha creado sus propias soluciones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97;p4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72" name="Google Shape;98;p43"/>
          <p:cNvSpPr/>
          <p:nvPr/>
        </p:nvSpPr>
        <p:spPr>
          <a:xfrm>
            <a:off x="497520" y="1762200"/>
            <a:ext cx="3277080" cy="466956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3" name="Google Shape;99;p43"/>
          <p:cNvSpPr/>
          <p:nvPr/>
        </p:nvSpPr>
        <p:spPr>
          <a:xfrm>
            <a:off x="497520" y="3697200"/>
            <a:ext cx="317880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800" spc="-1" strike="noStrike">
                <a:solidFill>
                  <a:srgbClr val="d8d8d8"/>
                </a:solidFill>
                <a:latin typeface="Quattrocento Sans"/>
                <a:ea typeface="Quattrocento Sans"/>
              </a:rPr>
              <a:t>Concurrencia online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Google Shape;100;p43" descr="Fear and lockdowns push Black Friday shopping further online | Business|  Economy and finance news from a German perspective | DW | 26.11.2020"/>
          <p:cNvPicPr/>
          <p:nvPr/>
        </p:nvPicPr>
        <p:blipFill>
          <a:blip r:embed="rId1"/>
          <a:stretch/>
        </p:blipFill>
        <p:spPr>
          <a:xfrm>
            <a:off x="497520" y="1762200"/>
            <a:ext cx="3277080" cy="184428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01;p43"/>
          <p:cNvSpPr/>
          <p:nvPr/>
        </p:nvSpPr>
        <p:spPr>
          <a:xfrm>
            <a:off x="587880" y="4728600"/>
            <a:ext cx="2934720" cy="15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400" spc="-1" strike="noStrike">
                <a:solidFill>
                  <a:srgbClr val="d8d8d8"/>
                </a:solidFill>
                <a:latin typeface="Arial"/>
                <a:ea typeface="Arial"/>
              </a:rPr>
              <a:t>Tiendas online y e-commerce cargadas de peticiones los días de picos de ventas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400" spc="-1" strike="noStrike">
                <a:solidFill>
                  <a:srgbClr val="d8d8d8"/>
                </a:solidFill>
                <a:latin typeface="Arial"/>
                <a:ea typeface="Arial"/>
              </a:rPr>
              <a:t>Webs saturadas los días de lanzamiento de ofertas o nuevos productos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102;p43"/>
          <p:cNvSpPr/>
          <p:nvPr/>
        </p:nvSpPr>
        <p:spPr>
          <a:xfrm>
            <a:off x="4305600" y="1762200"/>
            <a:ext cx="3277080" cy="466956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7" name="Google Shape;103;p43"/>
          <p:cNvSpPr/>
          <p:nvPr/>
        </p:nvSpPr>
        <p:spPr>
          <a:xfrm>
            <a:off x="4305600" y="3697200"/>
            <a:ext cx="317880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800" spc="-1" strike="noStrike">
                <a:solidFill>
                  <a:srgbClr val="d8d8d8"/>
                </a:solidFill>
                <a:latin typeface="Quattrocento Sans"/>
                <a:ea typeface="Quattrocento Sans"/>
              </a:rPr>
              <a:t>Servicios de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800" spc="-1" strike="noStrike">
                <a:solidFill>
                  <a:srgbClr val="d8d8d8"/>
                </a:solidFill>
                <a:latin typeface="Quattrocento Sans"/>
                <a:ea typeface="Quattrocento Sans"/>
              </a:rPr>
              <a:t>IA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104;p43"/>
          <p:cNvSpPr/>
          <p:nvPr/>
        </p:nvSpPr>
        <p:spPr>
          <a:xfrm>
            <a:off x="4427640" y="4674600"/>
            <a:ext cx="293472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400" spc="-1" strike="noStrike">
                <a:solidFill>
                  <a:srgbClr val="d8d8d8"/>
                </a:solidFill>
                <a:latin typeface="Arial"/>
                <a:ea typeface="Arial"/>
              </a:rPr>
              <a:t>No todas las empresas cuentan con equipos de Data Scientist, que desarrollen complejos modelos de Machine Learning como reconocimiento de objetos o tratamiento de lenguaje natural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Google Shape;105;p43" descr="Microsoft Build 2019: How Cognitive Services is better at handlin rich  information | Code Matters"/>
          <p:cNvPicPr/>
          <p:nvPr/>
        </p:nvPicPr>
        <p:blipFill>
          <a:blip r:embed="rId2"/>
          <a:stretch/>
        </p:blipFill>
        <p:spPr>
          <a:xfrm>
            <a:off x="4305600" y="1757160"/>
            <a:ext cx="3277080" cy="179064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106;p43"/>
          <p:cNvSpPr/>
          <p:nvPr/>
        </p:nvSpPr>
        <p:spPr>
          <a:xfrm>
            <a:off x="8113320" y="1762200"/>
            <a:ext cx="3277080" cy="466956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1" name="Google Shape;107;p43"/>
          <p:cNvSpPr/>
          <p:nvPr/>
        </p:nvSpPr>
        <p:spPr>
          <a:xfrm>
            <a:off x="8162640" y="3697200"/>
            <a:ext cx="317880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800" spc="-1" strike="noStrike">
                <a:solidFill>
                  <a:srgbClr val="d8d8d8"/>
                </a:solidFill>
                <a:latin typeface="Quattrocento Sans"/>
                <a:ea typeface="Quattrocento Sans"/>
              </a:rPr>
              <a:t>Deployments de software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108;p43"/>
          <p:cNvSpPr/>
          <p:nvPr/>
        </p:nvSpPr>
        <p:spPr>
          <a:xfrm>
            <a:off x="8229240" y="4677480"/>
            <a:ext cx="2947320" cy="11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400" spc="-1" strike="noStrike">
                <a:solidFill>
                  <a:srgbClr val="d8d8d8"/>
                </a:solidFill>
                <a:latin typeface="Arial"/>
                <a:ea typeface="Arial"/>
              </a:rPr>
              <a:t>Hay que tener en cuenta muchas cosas para desplegar software productivo: testing, versionado, capacidad de cómputo del servidor, entre otras…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Google Shape;109;p43" descr="Pokémon Go Servers need work - Imgflip"/>
          <p:cNvPicPr/>
          <p:nvPr/>
        </p:nvPicPr>
        <p:blipFill>
          <a:blip r:embed="rId3"/>
          <a:srcRect l="11861" t="12321" r="3229" b="14997"/>
          <a:stretch/>
        </p:blipFill>
        <p:spPr>
          <a:xfrm>
            <a:off x="8113320" y="1757160"/>
            <a:ext cx="3277080" cy="179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¿Qué es Cloud Computing?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19;p44" descr="Dedicated Server or Managed Server? What you need to consider to choose one  of them - Blog MasterDC.com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24;p45"/>
          <p:cNvSpPr/>
          <p:nvPr/>
        </p:nvSpPr>
        <p:spPr>
          <a:xfrm>
            <a:off x="716760" y="3837240"/>
            <a:ext cx="3274560" cy="2271240"/>
          </a:xfrm>
          <a:prstGeom prst="rect">
            <a:avLst/>
          </a:prstGeom>
          <a:solidFill>
            <a:srgbClr val="0070c0">
              <a:alpha val="5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Cloud Computing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Definición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27;p45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0" name="Google Shape;128;p45"/>
          <p:cNvSpPr/>
          <p:nvPr/>
        </p:nvSpPr>
        <p:spPr>
          <a:xfrm>
            <a:off x="1694880" y="1994760"/>
            <a:ext cx="8559360" cy="10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2000" spc="-1" strike="noStrike">
                <a:solidFill>
                  <a:schemeClr val="lt1"/>
                </a:solidFill>
                <a:latin typeface="Quattrocento Sans"/>
                <a:ea typeface="Quattrocento Sans"/>
              </a:rPr>
              <a:t>“</a:t>
            </a:r>
            <a:r>
              <a:rPr b="0" i="1" lang="es-ES" sz="2000" spc="-1" strike="noStrike">
                <a:solidFill>
                  <a:schemeClr val="lt1"/>
                </a:solidFill>
                <a:latin typeface="Quattrocento Sans"/>
                <a:ea typeface="Quattrocento Sans"/>
              </a:rPr>
              <a:t>Servicio de recursos informáticos bajo demanda, como data centers, aplicaciones o sistemas de autenticación, consumidos a través de Internet y con un modelo de pago por uso”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29;p45" descr="IconExperience » G-Collection » Person Icon"/>
          <p:cNvPicPr/>
          <p:nvPr/>
        </p:nvPicPr>
        <p:blipFill>
          <a:blip r:embed="rId1"/>
          <a:stretch/>
        </p:blipFill>
        <p:spPr>
          <a:xfrm>
            <a:off x="1654920" y="4280400"/>
            <a:ext cx="1180800" cy="1180800"/>
          </a:xfrm>
          <a:prstGeom prst="rect">
            <a:avLst/>
          </a:prstGeom>
          <a:ln w="0">
            <a:noFill/>
          </a:ln>
        </p:spPr>
      </p:pic>
      <p:pic>
        <p:nvPicPr>
          <p:cNvPr id="92" name="Google Shape;130;p45" descr="Flat laptop icon design - Transparent PNG &amp; SVG vector file"/>
          <p:cNvPicPr/>
          <p:nvPr/>
        </p:nvPicPr>
        <p:blipFill>
          <a:blip r:embed="rId2"/>
          <a:stretch/>
        </p:blipFill>
        <p:spPr>
          <a:xfrm>
            <a:off x="2658240" y="441360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93" name="Google Shape;131;p45" descr="Host Server Icon - Server Icons Png - Free Transparent PNG Download - PNGkey"/>
          <p:cNvPicPr/>
          <p:nvPr/>
        </p:nvPicPr>
        <p:blipFill>
          <a:blip r:embed="rId3"/>
          <a:srcRect l="25560" t="0" r="26053" b="0"/>
          <a:stretch/>
        </p:blipFill>
        <p:spPr>
          <a:xfrm>
            <a:off x="1368720" y="4197240"/>
            <a:ext cx="787320" cy="89892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32;p45" descr="Servers - Database Server Application Server Icon, HD Png Download ,  Transparent Png Image - PNGitem"/>
          <p:cNvPicPr/>
          <p:nvPr/>
        </p:nvPicPr>
        <p:blipFill>
          <a:blip r:embed="rId4"/>
          <a:stretch/>
        </p:blipFill>
        <p:spPr>
          <a:xfrm>
            <a:off x="1274760" y="5024520"/>
            <a:ext cx="759960" cy="73368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133;p45" descr="Servers - Database Server Application Server Icon, HD Png Download ,  Transparent Png Image - PNGitem"/>
          <p:cNvPicPr/>
          <p:nvPr/>
        </p:nvPicPr>
        <p:blipFill>
          <a:blip r:embed="rId5"/>
          <a:stretch/>
        </p:blipFill>
        <p:spPr>
          <a:xfrm>
            <a:off x="716760" y="4333320"/>
            <a:ext cx="759960" cy="73368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134;p45" descr="Home Server icono - ico,png,icns,Iconos Descargar libre"/>
          <p:cNvPicPr/>
          <p:nvPr/>
        </p:nvPicPr>
        <p:blipFill>
          <a:blip r:embed="rId6"/>
          <a:stretch/>
        </p:blipFill>
        <p:spPr>
          <a:xfrm>
            <a:off x="918000" y="4775400"/>
            <a:ext cx="685800" cy="68580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135;p45"/>
          <p:cNvSpPr/>
          <p:nvPr/>
        </p:nvSpPr>
        <p:spPr>
          <a:xfrm>
            <a:off x="6204960" y="3837240"/>
            <a:ext cx="2459520" cy="2271240"/>
          </a:xfrm>
          <a:prstGeom prst="rect">
            <a:avLst/>
          </a:prstGeom>
          <a:solidFill>
            <a:srgbClr val="0070c0">
              <a:alpha val="5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98" name="Google Shape;136;p45" descr="IconExperience » G-Collection » Person Icon"/>
          <p:cNvPicPr/>
          <p:nvPr/>
        </p:nvPicPr>
        <p:blipFill>
          <a:blip r:embed="rId7"/>
          <a:stretch/>
        </p:blipFill>
        <p:spPr>
          <a:xfrm>
            <a:off x="6328080" y="4280400"/>
            <a:ext cx="1180800" cy="118080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137;p45" descr="Flat laptop icon design - Transparent PNG &amp; SVG vector file"/>
          <p:cNvPicPr/>
          <p:nvPr/>
        </p:nvPicPr>
        <p:blipFill>
          <a:blip r:embed="rId8"/>
          <a:stretch/>
        </p:blipFill>
        <p:spPr>
          <a:xfrm>
            <a:off x="7331400" y="441360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138;p45"/>
          <p:cNvSpPr/>
          <p:nvPr/>
        </p:nvSpPr>
        <p:spPr>
          <a:xfrm>
            <a:off x="4191120" y="4635360"/>
            <a:ext cx="1904760" cy="558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1" name="Google Shape;139;p45"/>
          <p:cNvSpPr/>
          <p:nvPr/>
        </p:nvSpPr>
        <p:spPr>
          <a:xfrm>
            <a:off x="9056520" y="3837240"/>
            <a:ext cx="2459520" cy="2271240"/>
          </a:xfrm>
          <a:prstGeom prst="rect">
            <a:avLst/>
          </a:prstGeom>
          <a:solidFill>
            <a:srgbClr val="00b050">
              <a:alpha val="4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02" name="Google Shape;140;p45" descr="Icono O cloud computing Gratis de WHCompare Isometric Web Hosting &amp; Servers"/>
          <p:cNvPicPr/>
          <p:nvPr/>
        </p:nvPicPr>
        <p:blipFill>
          <a:blip r:embed="rId9"/>
          <a:stretch/>
        </p:blipFill>
        <p:spPr>
          <a:xfrm>
            <a:off x="9533880" y="4197240"/>
            <a:ext cx="1595520" cy="1595520"/>
          </a:xfrm>
          <a:prstGeom prst="rect">
            <a:avLst/>
          </a:prstGeom>
          <a:ln w="0">
            <a:noFill/>
          </a:ln>
        </p:spPr>
      </p:pic>
      <p:cxnSp>
        <p:nvCxnSpPr>
          <p:cNvPr id="103" name="Google Shape;141;p45"/>
          <p:cNvCxnSpPr/>
          <p:nvPr/>
        </p:nvCxnSpPr>
        <p:spPr>
          <a:xfrm>
            <a:off x="8407080" y="4700160"/>
            <a:ext cx="965880" cy="360"/>
          </a:xfrm>
          <a:prstGeom prst="straightConnector1">
            <a:avLst/>
          </a:prstGeom>
          <a:ln w="44450">
            <a:solidFill>
              <a:srgbClr val="00b050"/>
            </a:solidFill>
            <a:round/>
            <a:tailEnd len="med" type="triangle" w="med"/>
          </a:ln>
        </p:spPr>
      </p:cxnSp>
      <p:cxnSp>
        <p:nvCxnSpPr>
          <p:cNvPr id="104" name="Google Shape;142;p45"/>
          <p:cNvCxnSpPr/>
          <p:nvPr/>
        </p:nvCxnSpPr>
        <p:spPr>
          <a:xfrm flipH="1">
            <a:off x="8396280" y="4973040"/>
            <a:ext cx="977760" cy="360"/>
          </a:xfrm>
          <a:prstGeom prst="straightConnector1">
            <a:avLst/>
          </a:prstGeom>
          <a:ln w="44450">
            <a:solidFill>
              <a:srgbClr val="00b050"/>
            </a:solidFill>
            <a:round/>
            <a:tailEnd len="med" type="triangle" w="med"/>
          </a:ln>
        </p:spPr>
      </p:cxnSp>
      <p:sp>
        <p:nvSpPr>
          <p:cNvPr id="105" name="Google Shape;143;p45"/>
          <p:cNvSpPr/>
          <p:nvPr/>
        </p:nvSpPr>
        <p:spPr>
          <a:xfrm>
            <a:off x="2785680" y="5698080"/>
            <a:ext cx="1205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On Premise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44;p45"/>
          <p:cNvSpPr/>
          <p:nvPr/>
        </p:nvSpPr>
        <p:spPr>
          <a:xfrm>
            <a:off x="7413840" y="5750280"/>
            <a:ext cx="1205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On Premise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45;p45"/>
          <p:cNvSpPr/>
          <p:nvPr/>
        </p:nvSpPr>
        <p:spPr>
          <a:xfrm>
            <a:off x="10470600" y="5750280"/>
            <a:ext cx="1205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Cloud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Cloud Computing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Características principales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52;p46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11" name="Google Shape;153;p46"/>
          <p:cNvSpPr/>
          <p:nvPr/>
        </p:nvSpPr>
        <p:spPr>
          <a:xfrm>
            <a:off x="338040" y="23835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Autoescalado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54;p46"/>
          <p:cNvSpPr/>
          <p:nvPr/>
        </p:nvSpPr>
        <p:spPr>
          <a:xfrm>
            <a:off x="561960" y="2766960"/>
            <a:ext cx="255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Despliegue de instancias de manera automática en función de la saturación del servidor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55;p46"/>
          <p:cNvSpPr/>
          <p:nvPr/>
        </p:nvSpPr>
        <p:spPr>
          <a:xfrm>
            <a:off x="3081600" y="23932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Pay as a service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56;p46"/>
          <p:cNvSpPr/>
          <p:nvPr/>
        </p:nvSpPr>
        <p:spPr>
          <a:xfrm>
            <a:off x="3301200" y="2793600"/>
            <a:ext cx="255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Pago por cada uso del servicio, no por tener el servicio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57;p46"/>
          <p:cNvSpPr/>
          <p:nvPr/>
        </p:nvSpPr>
        <p:spPr>
          <a:xfrm>
            <a:off x="7714440" y="42537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Seguridad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58;p46"/>
          <p:cNvSpPr/>
          <p:nvPr/>
        </p:nvSpPr>
        <p:spPr>
          <a:xfrm>
            <a:off x="7934040" y="4653720"/>
            <a:ext cx="2552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Protocolos y herramientas de seguridad ya implementados en el propio Cloud. Servicios de backup y replicación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59;p46"/>
          <p:cNvSpPr/>
          <p:nvPr/>
        </p:nvSpPr>
        <p:spPr>
          <a:xfrm>
            <a:off x="5986080" y="23932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Ahorro tiempo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160;p46"/>
          <p:cNvSpPr/>
          <p:nvPr/>
        </p:nvSpPr>
        <p:spPr>
          <a:xfrm>
            <a:off x="6205680" y="2793600"/>
            <a:ext cx="255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Mayor velocidad y agilidad en los despliegues de software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161;p46"/>
          <p:cNvSpPr/>
          <p:nvPr/>
        </p:nvSpPr>
        <p:spPr>
          <a:xfrm>
            <a:off x="4821480" y="43437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Virtualización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62;p46"/>
          <p:cNvSpPr/>
          <p:nvPr/>
        </p:nvSpPr>
        <p:spPr>
          <a:xfrm>
            <a:off x="4981320" y="4744080"/>
            <a:ext cx="2673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Permite emular de forma virtual un servidor, ordenador, sistema operativo u otros recursos, dentro de un equipo real.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63;p46"/>
          <p:cNvSpPr/>
          <p:nvPr/>
        </p:nvSpPr>
        <p:spPr>
          <a:xfrm>
            <a:off x="8858520" y="23961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Facilidad de uso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64;p46"/>
          <p:cNvSpPr/>
          <p:nvPr/>
        </p:nvSpPr>
        <p:spPr>
          <a:xfrm>
            <a:off x="9078120" y="2796120"/>
            <a:ext cx="255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Interfaz de usuario sencilla para la creación, configuración y mantenimiento de recursos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65;p46"/>
          <p:cNvSpPr/>
          <p:nvPr/>
        </p:nvSpPr>
        <p:spPr>
          <a:xfrm>
            <a:off x="1705680" y="43437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Alta disponibilidad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66;p46"/>
          <p:cNvSpPr/>
          <p:nvPr/>
        </p:nvSpPr>
        <p:spPr>
          <a:xfrm>
            <a:off x="1925280" y="4744080"/>
            <a:ext cx="2552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Los proveedores cloud garantizan una alta disponibilidad de los servicios con prevención de caídas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Clasificación de servicios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Tipos de Servicios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Según su capa de abstracción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78;p48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129" name="Google Shape;179;p48" descr="Who Manages Cloud IaaS, PaaS, and SaaS Services – The Enterprise Cloud Blog"/>
          <p:cNvPicPr/>
          <p:nvPr/>
        </p:nvPicPr>
        <p:blipFill>
          <a:blip r:embed="rId1"/>
          <a:stretch/>
        </p:blipFill>
        <p:spPr>
          <a:xfrm>
            <a:off x="1880280" y="2103120"/>
            <a:ext cx="8431560" cy="402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84;p49"/>
          <p:cNvSpPr/>
          <p:nvPr/>
        </p:nvSpPr>
        <p:spPr>
          <a:xfrm>
            <a:off x="3162240" y="1787400"/>
            <a:ext cx="5702040" cy="4729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Tipos de Servicios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Según su capa de abstracción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87;p49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134" name="Google Shape;188;p49" descr="Cloud Computing - Choosing the Right Deployment Method | ERP Solutions &amp;  Software From K3 Syspro"/>
          <p:cNvPicPr/>
          <p:nvPr/>
        </p:nvPicPr>
        <p:blipFill>
          <a:blip r:embed="rId1"/>
          <a:stretch/>
        </p:blipFill>
        <p:spPr>
          <a:xfrm>
            <a:off x="3378240" y="1787400"/>
            <a:ext cx="5180760" cy="456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93;p50" descr="Microsoft Azure Cloud Technology - TEKenable"/>
          <p:cNvPicPr/>
          <p:nvPr/>
        </p:nvPicPr>
        <p:blipFill>
          <a:blip r:embed="rId1"/>
          <a:stretch/>
        </p:blipFill>
        <p:spPr>
          <a:xfrm>
            <a:off x="7920" y="0"/>
            <a:ext cx="121773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98;p51" descr=""/>
          <p:cNvPicPr/>
          <p:nvPr/>
        </p:nvPicPr>
        <p:blipFill>
          <a:blip r:embed="rId1"/>
          <a:stretch/>
        </p:blipFill>
        <p:spPr>
          <a:xfrm>
            <a:off x="3646800" y="0"/>
            <a:ext cx="48981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Servicios más usados en Data Science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836892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Extracción, tratamiento, almacenamiento y publicación de servicios de datos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205;p52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40" name="Google Shape;206;p52"/>
          <p:cNvSpPr/>
          <p:nvPr/>
        </p:nvSpPr>
        <p:spPr>
          <a:xfrm>
            <a:off x="1282320" y="236664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Maquinas Virtuales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07;p52"/>
          <p:cNvSpPr/>
          <p:nvPr/>
        </p:nvSpPr>
        <p:spPr>
          <a:xfrm>
            <a:off x="1360080" y="273600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Maquina virtual Linux para desarrollo de software y computación en la nube.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GPU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208;p52"/>
          <p:cNvSpPr/>
          <p:nvPr/>
        </p:nvSpPr>
        <p:spPr>
          <a:xfrm>
            <a:off x="4459320" y="237492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APIs de datos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209;p52"/>
          <p:cNvSpPr/>
          <p:nvPr/>
        </p:nvSpPr>
        <p:spPr>
          <a:xfrm>
            <a:off x="4537080" y="274428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Autoservicio de datos como Google Maps API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210;p52"/>
          <p:cNvSpPr/>
          <p:nvPr/>
        </p:nvSpPr>
        <p:spPr>
          <a:xfrm>
            <a:off x="7684200" y="237492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Publicación de API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211;p52"/>
          <p:cNvSpPr/>
          <p:nvPr/>
        </p:nvSpPr>
        <p:spPr>
          <a:xfrm>
            <a:off x="7761960" y="274428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Creación de un servicio Web para publicar un servicio de datos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212;p52"/>
          <p:cNvSpPr/>
          <p:nvPr/>
        </p:nvSpPr>
        <p:spPr>
          <a:xfrm>
            <a:off x="4577760" y="359244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Bases de datos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213;p52"/>
          <p:cNvSpPr/>
          <p:nvPr/>
        </p:nvSpPr>
        <p:spPr>
          <a:xfrm>
            <a:off x="4655520" y="396468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Despliegue y configuración de una base de datos relacional o no relacional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214;p52"/>
          <p:cNvSpPr/>
          <p:nvPr/>
        </p:nvSpPr>
        <p:spPr>
          <a:xfrm>
            <a:off x="2813760" y="49906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Servicios de IA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215;p52"/>
          <p:cNvSpPr/>
          <p:nvPr/>
        </p:nvSpPr>
        <p:spPr>
          <a:xfrm>
            <a:off x="2891520" y="536004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Algoritmos de IA ya entrenados y listos para consumir vía API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216;p52"/>
          <p:cNvSpPr/>
          <p:nvPr/>
        </p:nvSpPr>
        <p:spPr>
          <a:xfrm>
            <a:off x="5970960" y="49438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Plataformas de datos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217;p52"/>
          <p:cNvSpPr/>
          <p:nvPr/>
        </p:nvSpPr>
        <p:spPr>
          <a:xfrm>
            <a:off x="6048720" y="531324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Plataformas de desarrollo de  pipelines para ETLs o Machine Learning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218;p52"/>
          <p:cNvSpPr/>
          <p:nvPr/>
        </p:nvSpPr>
        <p:spPr>
          <a:xfrm>
            <a:off x="7761960" y="361404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Internet of Things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19;p52"/>
          <p:cNvSpPr/>
          <p:nvPr/>
        </p:nvSpPr>
        <p:spPr>
          <a:xfrm>
            <a:off x="7839720" y="398340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Servicios de streaming, limpieza y almacenamiento de datos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220;p52"/>
          <p:cNvSpPr/>
          <p:nvPr/>
        </p:nvSpPr>
        <p:spPr>
          <a:xfrm>
            <a:off x="1282320" y="36766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Serverless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221;p52"/>
          <p:cNvSpPr/>
          <p:nvPr/>
        </p:nvSpPr>
        <p:spPr>
          <a:xfrm>
            <a:off x="1360080" y="404604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Funciones de código preparadas para ser ejecutadas con un trigger 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Cloud en la empresa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Ventajas de usar Cloud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32;p54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59" name="Google Shape;233;p54"/>
          <p:cNvSpPr/>
          <p:nvPr/>
        </p:nvSpPr>
        <p:spPr>
          <a:xfrm>
            <a:off x="716760" y="2040480"/>
            <a:ext cx="295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Reducción de Infraestructuras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34;p54"/>
          <p:cNvSpPr/>
          <p:nvPr/>
        </p:nvSpPr>
        <p:spPr>
          <a:xfrm>
            <a:off x="794520" y="268668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No es necesario invertir en servidores ya que tendremos pago por uso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235;p54"/>
          <p:cNvSpPr/>
          <p:nvPr/>
        </p:nvSpPr>
        <p:spPr>
          <a:xfrm>
            <a:off x="4478400" y="2021760"/>
            <a:ext cx="295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Reducción de especialistas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Google Shape;236;p54"/>
          <p:cNvSpPr/>
          <p:nvPr/>
        </p:nvSpPr>
        <p:spPr>
          <a:xfrm>
            <a:off x="4556160" y="266832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Más facilidades para el despliegue de infraestructura a través de los portales Cloud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37;p54"/>
          <p:cNvSpPr/>
          <p:nvPr/>
        </p:nvSpPr>
        <p:spPr>
          <a:xfrm>
            <a:off x="8313120" y="21603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Ahorro de tiempo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238;p54"/>
          <p:cNvSpPr/>
          <p:nvPr/>
        </p:nvSpPr>
        <p:spPr>
          <a:xfrm>
            <a:off x="8390880" y="262296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Despliegues de software mucho más rápidos y flexibles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239;p54"/>
          <p:cNvSpPr/>
          <p:nvPr/>
        </p:nvSpPr>
        <p:spPr>
          <a:xfrm>
            <a:off x="4498920" y="49096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Centralización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Google Shape;240;p54"/>
          <p:cNvSpPr/>
          <p:nvPr/>
        </p:nvSpPr>
        <p:spPr>
          <a:xfrm>
            <a:off x="4596120" y="533556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Posibilidad de tener toda la infraestructura y aplicaciones gestionadas desde un único punto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241;p54"/>
          <p:cNvSpPr/>
          <p:nvPr/>
        </p:nvSpPr>
        <p:spPr>
          <a:xfrm>
            <a:off x="737280" y="49096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Escalabilidad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242;p54"/>
          <p:cNvSpPr/>
          <p:nvPr/>
        </p:nvSpPr>
        <p:spPr>
          <a:xfrm>
            <a:off x="815040" y="5373360"/>
            <a:ext cx="28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Aumento y disminución de capacidad de cómputo sin necesidad de compra de servidores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43;p54"/>
          <p:cNvSpPr/>
          <p:nvPr/>
        </p:nvSpPr>
        <p:spPr>
          <a:xfrm>
            <a:off x="754560" y="35607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Ubicuidad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44;p54"/>
          <p:cNvSpPr/>
          <p:nvPr/>
        </p:nvSpPr>
        <p:spPr>
          <a:xfrm>
            <a:off x="832320" y="4024080"/>
            <a:ext cx="280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Mayor flexibilidad para el trabajador al estar todos los sistemas en la nube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45;p54"/>
          <p:cNvSpPr/>
          <p:nvPr/>
        </p:nvSpPr>
        <p:spPr>
          <a:xfrm>
            <a:off x="4556160" y="35553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De pasivo a activo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246;p54"/>
          <p:cNvSpPr/>
          <p:nvPr/>
        </p:nvSpPr>
        <p:spPr>
          <a:xfrm>
            <a:off x="4633920" y="4019040"/>
            <a:ext cx="280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Pasamos de realizar una inversión a tener un gasto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47;p54"/>
          <p:cNvSpPr/>
          <p:nvPr/>
        </p:nvSpPr>
        <p:spPr>
          <a:xfrm>
            <a:off x="8430840" y="490968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Ahorro de costes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48;p54"/>
          <p:cNvSpPr/>
          <p:nvPr/>
        </p:nvSpPr>
        <p:spPr>
          <a:xfrm>
            <a:off x="8508600" y="537336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Los servidores y su mantenimiento es un coste enorme que se ve reducido con el pago por uso.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249;p54"/>
          <p:cNvSpPr/>
          <p:nvPr/>
        </p:nvSpPr>
        <p:spPr>
          <a:xfrm>
            <a:off x="8402400" y="355536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Depreciación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50;p54"/>
          <p:cNvSpPr/>
          <p:nvPr/>
        </p:nvSpPr>
        <p:spPr>
          <a:xfrm>
            <a:off x="8557920" y="3965400"/>
            <a:ext cx="280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No nos preocupamos de la depreciación de los servidores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Inconvenientes de usar Cloud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56;p55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79" name="Google Shape;257;p55"/>
          <p:cNvSpPr/>
          <p:nvPr/>
        </p:nvSpPr>
        <p:spPr>
          <a:xfrm>
            <a:off x="661320" y="261684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Dependencia de Internet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258;p55"/>
          <p:cNvSpPr/>
          <p:nvPr/>
        </p:nvSpPr>
        <p:spPr>
          <a:xfrm>
            <a:off x="528480" y="3067200"/>
            <a:ext cx="322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Cualquier problema con el proveedor de Internet o la red va a suponer no poder usar los sistemas informáticos de la empresa 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259;p55"/>
          <p:cNvSpPr/>
          <p:nvPr/>
        </p:nvSpPr>
        <p:spPr>
          <a:xfrm>
            <a:off x="8370720" y="261684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Latencia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60;p55"/>
          <p:cNvSpPr/>
          <p:nvPr/>
        </p:nvSpPr>
        <p:spPr>
          <a:xfrm>
            <a:off x="8241840" y="3013200"/>
            <a:ext cx="3216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Sufriremos de latencia cuando no existan data centers cercanos. Es problema con aplicaciones en real time.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61;p55"/>
          <p:cNvSpPr/>
          <p:nvPr/>
        </p:nvSpPr>
        <p:spPr>
          <a:xfrm>
            <a:off x="4333320" y="2466720"/>
            <a:ext cx="295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Dependencia del proveedor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262;p55"/>
          <p:cNvSpPr/>
          <p:nvPr/>
        </p:nvSpPr>
        <p:spPr>
          <a:xfrm>
            <a:off x="4411080" y="311328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Es el proveedor el que se encarga de solucionar los problemas que haya con la infraestructura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63;p55"/>
          <p:cNvSpPr/>
          <p:nvPr/>
        </p:nvSpPr>
        <p:spPr>
          <a:xfrm>
            <a:off x="6278760" y="4481640"/>
            <a:ext cx="295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Compatibilidad e integración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64;p55"/>
          <p:cNvSpPr/>
          <p:nvPr/>
        </p:nvSpPr>
        <p:spPr>
          <a:xfrm>
            <a:off x="6087600" y="5128200"/>
            <a:ext cx="3341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Cada entorno empresarial tiene sus peculiaridades y no siempre es sencilla la implantación de la nube.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65;p55"/>
          <p:cNvSpPr/>
          <p:nvPr/>
        </p:nvSpPr>
        <p:spPr>
          <a:xfrm>
            <a:off x="2853720" y="4627800"/>
            <a:ext cx="295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Seguridad y privacidad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266;p55"/>
          <p:cNvSpPr/>
          <p:nvPr/>
        </p:nvSpPr>
        <p:spPr>
          <a:xfrm>
            <a:off x="2883240" y="5150160"/>
            <a:ext cx="2803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Arial"/>
                <a:ea typeface="Arial"/>
              </a:rPr>
              <a:t>El usuario expone a través de un tercero su activo más preciado: sus datos.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Modelos Cloud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72;p56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191" name="Google Shape;273;p56" descr="Everything you need to know about Hybrid Cloud with DevOps"/>
          <p:cNvPicPr/>
          <p:nvPr/>
        </p:nvPicPr>
        <p:blipFill>
          <a:blip r:embed="rId1"/>
          <a:stretch/>
        </p:blipFill>
        <p:spPr>
          <a:xfrm>
            <a:off x="3581280" y="1722960"/>
            <a:ext cx="5096520" cy="454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Datacenters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Infraestructura por todo el mundo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280;p57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95" name="Google Shape;281;p57"/>
          <p:cNvSpPr/>
          <p:nvPr/>
        </p:nvSpPr>
        <p:spPr>
          <a:xfrm>
            <a:off x="291960" y="6273720"/>
            <a:ext cx="2158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 u="sng">
                <a:solidFill>
                  <a:srgbClr val="000000"/>
                </a:solidFill>
                <a:uFillTx/>
                <a:latin typeface="Arial"/>
                <a:ea typeface="Arial"/>
                <a:hlinkClick r:id="rId1"/>
              </a:rPr>
              <a:t>Video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6" name="Google Shape;282;p57" descr=""/>
          <p:cNvPicPr/>
          <p:nvPr/>
        </p:nvPicPr>
        <p:blipFill>
          <a:blip r:embed="rId2"/>
          <a:stretch/>
        </p:blipFill>
        <p:spPr>
          <a:xfrm>
            <a:off x="1113120" y="1634760"/>
            <a:ext cx="9435600" cy="468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Principales proveedores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Amazon, Microsoft y Google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289;p58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200" name="Google Shape;290;p58" descr=""/>
          <p:cNvPicPr/>
          <p:nvPr/>
        </p:nvPicPr>
        <p:blipFill>
          <a:blip r:embed="rId1"/>
          <a:stretch/>
        </p:blipFill>
        <p:spPr>
          <a:xfrm>
            <a:off x="977400" y="2044800"/>
            <a:ext cx="4161960" cy="4314240"/>
          </a:xfrm>
          <a:prstGeom prst="rect">
            <a:avLst/>
          </a:prstGeom>
          <a:ln w="0">
            <a:noFill/>
          </a:ln>
        </p:spPr>
      </p:pic>
      <p:pic>
        <p:nvPicPr>
          <p:cNvPr id="201" name="Google Shape;291;p58" descr=""/>
          <p:cNvPicPr/>
          <p:nvPr/>
        </p:nvPicPr>
        <p:blipFill>
          <a:blip r:embed="rId2"/>
          <a:stretch/>
        </p:blipFill>
        <p:spPr>
          <a:xfrm>
            <a:off x="5292000" y="1914480"/>
            <a:ext cx="6747120" cy="463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Otros servicios Cloud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Abstracción de recursos informáticos y pago por uso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298;p59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205" name="Google Shape;299;p59" descr=""/>
          <p:cNvPicPr/>
          <p:nvPr/>
        </p:nvPicPr>
        <p:blipFill>
          <a:blip r:embed="rId1"/>
          <a:stretch/>
        </p:blipFill>
        <p:spPr>
          <a:xfrm>
            <a:off x="716760" y="2210400"/>
            <a:ext cx="3593160" cy="1608840"/>
          </a:xfrm>
          <a:prstGeom prst="rect">
            <a:avLst/>
          </a:prstGeom>
          <a:ln w="0">
            <a:noFill/>
          </a:ln>
        </p:spPr>
      </p:pic>
      <p:sp>
        <p:nvSpPr>
          <p:cNvPr id="206" name="Google Shape;300;p59"/>
          <p:cNvSpPr/>
          <p:nvPr/>
        </p:nvSpPr>
        <p:spPr>
          <a:xfrm>
            <a:off x="939240" y="4055760"/>
            <a:ext cx="295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Servicio de Hosting como Wordpress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7" name="Google Shape;301;p59" descr=""/>
          <p:cNvPicPr/>
          <p:nvPr/>
        </p:nvPicPr>
        <p:blipFill>
          <a:blip r:embed="rId2"/>
          <a:stretch/>
        </p:blipFill>
        <p:spPr>
          <a:xfrm>
            <a:off x="6692760" y="1634760"/>
            <a:ext cx="3831840" cy="1395720"/>
          </a:xfrm>
          <a:prstGeom prst="rect">
            <a:avLst/>
          </a:prstGeom>
          <a:ln w="0">
            <a:noFill/>
          </a:ln>
        </p:spPr>
      </p:pic>
      <p:sp>
        <p:nvSpPr>
          <p:cNvPr id="208" name="Google Shape;302;p59"/>
          <p:cNvSpPr/>
          <p:nvPr/>
        </p:nvSpPr>
        <p:spPr>
          <a:xfrm>
            <a:off x="7129080" y="3278160"/>
            <a:ext cx="295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Herramientas de BI en Cloud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Google Shape;303;p59" descr=""/>
          <p:cNvPicPr/>
          <p:nvPr/>
        </p:nvPicPr>
        <p:blipFill>
          <a:blip r:embed="rId3"/>
          <a:stretch/>
        </p:blipFill>
        <p:spPr>
          <a:xfrm>
            <a:off x="4686840" y="4162320"/>
            <a:ext cx="3606480" cy="1844640"/>
          </a:xfrm>
          <a:prstGeom prst="rect">
            <a:avLst/>
          </a:prstGeom>
          <a:ln w="0">
            <a:noFill/>
          </a:ln>
        </p:spPr>
      </p:pic>
      <p:sp>
        <p:nvSpPr>
          <p:cNvPr id="210" name="Google Shape;304;p59"/>
          <p:cNvSpPr/>
          <p:nvPr/>
        </p:nvSpPr>
        <p:spPr>
          <a:xfrm>
            <a:off x="4191480" y="6140160"/>
            <a:ext cx="430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Arial"/>
                <a:ea typeface="Arial"/>
              </a:rPr>
              <a:t>Plataformas de Data e IA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25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¡Vamos a la nube!</a:t>
            </a:r>
            <a:br>
              <a:rPr sz="4400"/>
            </a:br>
            <a:r>
              <a:rPr b="0" lang="es-ES" sz="2200" spc="-1" strike="noStrike" u="sng">
                <a:solidFill>
                  <a:schemeClr val="hlink"/>
                </a:solidFill>
                <a:uFillTx/>
                <a:latin typeface="Calibri"/>
                <a:ea typeface="Calibri"/>
                <a:hlinkClick r:id="rId1"/>
              </a:rPr>
              <a:t>https://aws.amazon.com/es/free/</a:t>
            </a:r>
            <a:br>
              <a:rPr sz="4400"/>
            </a:b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Google Shape;310;p60" descr="Podrias subirte a la nube voladora de Goku? | •Anime• Amino"/>
          <p:cNvPicPr/>
          <p:nvPr/>
        </p:nvPicPr>
        <p:blipFill>
          <a:blip r:embed="rId2"/>
          <a:stretch/>
        </p:blipFill>
        <p:spPr>
          <a:xfrm>
            <a:off x="4380840" y="2828880"/>
            <a:ext cx="2877120" cy="276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699</Words>
  <Paragraphs>104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2020-10-12T14:09:12Z</dcterms:created>
  <dc:creator>Daniel Ortiz</dc:creator>
  <dc:description/>
  <dc:language>es-ES</dc:language>
  <cp:lastModifiedBy/>
  <dcterms:modified xsi:type="dcterms:W3CDTF">2026-01-25T18:04:31Z</dcterms:modified>
  <cp:revision>4</cp:revision>
  <dc:subject/>
  <dc:title>Cloud Computing Fundamentos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Panorámica</vt:lpwstr>
  </property>
  <property fmtid="{D5CDD505-2E9C-101B-9397-08002B2CF9AE}" pid="4" name="Slides">
    <vt:i4>20</vt:i4>
  </property>
</Properties>
</file>