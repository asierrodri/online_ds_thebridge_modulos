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</p:sldMasterIdLst>
  <p:notesMasterIdLst>
    <p:notesMasterId r:id="rId20"/>
  </p:notesMasterIdLst>
  <p:sldIdLst>
    <p:sldId id="256" r:id="rId3"/>
    <p:sldId id="273" r:id="rId4"/>
    <p:sldId id="274" r:id="rId5"/>
    <p:sldId id="283" r:id="rId6"/>
    <p:sldId id="275" r:id="rId7"/>
    <p:sldId id="276" r:id="rId8"/>
    <p:sldId id="277" r:id="rId9"/>
    <p:sldId id="278" r:id="rId10"/>
    <p:sldId id="279" r:id="rId11"/>
    <p:sldId id="280" r:id="rId12"/>
    <p:sldId id="284" r:id="rId13"/>
    <p:sldId id="292" r:id="rId14"/>
    <p:sldId id="281" r:id="rId15"/>
    <p:sldId id="282" r:id="rId16"/>
    <p:sldId id="285" r:id="rId17"/>
    <p:sldId id="287" r:id="rId18"/>
    <p:sldId id="293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F7816E-5B1C-4821-8208-491D2F4C4D38}" type="datetimeFigureOut">
              <a:rPr lang="es-ES" smtClean="0"/>
              <a:t>25/01/2026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ED78D-4EAA-4099-B470-057ED38DFE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7800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375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62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ES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28414DB-81FB-4F0D-82C9-3A8E8FF0C1C1}" type="slidenum">
              <a:t>‹Nº›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E58BD8A4-C0D1-425C-963B-669B05299CB5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es-ES" sz="60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34BB0C3-EB10-49BF-8A23-23823A3F7F75}" type="slidenum">
              <a:rPr lang="es-ES" sz="1200" b="0" strike="noStrike" spc="-1">
                <a:solidFill>
                  <a:schemeClr val="lt1"/>
                </a:solidFill>
                <a:latin typeface="Calibri"/>
                <a:ea typeface="Calibri"/>
              </a:rPr>
              <a:t>‹Nº›</a:t>
            </a:fld>
            <a:endParaRPr lang="es-E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4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4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4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4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es-ES" sz="60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37485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164D51B-1FBF-4206-AA8C-EC2A658465E4}" type="slidenum">
              <a:rPr lang="es-ES" sz="1200" b="0" strike="noStrike" spc="-1">
                <a:solidFill>
                  <a:schemeClr val="lt1"/>
                </a:solidFill>
                <a:latin typeface="Calibri"/>
                <a:ea typeface="Calibri"/>
              </a:rPr>
              <a:t>‹Nº›</a:t>
            </a:fld>
            <a:endParaRPr lang="es-E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s://www.pmi.org/pmbok-guide-standards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gilemanifesto.or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s://openclipart.org/detail/28689/no-sig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pixabay.com/en/check-mark-tick-mark-check-correct-1292787/" TargetMode="Externa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https://www.mindtools.com/pages/article/newLDR_86.htm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hyperlink" Target="https://scrumguides.org/" TargetMode="Externa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rumguides.org/scrum-guide.htm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kanban.university/kanban-guide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bm.com/docs/es/SS3RA7_18.4.0/pdf/ModelerCRISPDM.pdf" TargetMode="Externa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hyperlink" Target="https://www.oreilly.com/library/view/agile-data-science/9781449363871/" TargetMode="External"/><Relationship Id="rId7" Type="http://schemas.openxmlformats.org/officeDocument/2006/relationships/image" Target="../media/image2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hyperlink" Target="https://cloud.google.com/architecture/mlops-continuous-delivery-and-automation-pipelines-in-machine-learning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svgsilh.com/es/image/2188039.html" TargetMode="External"/><Relationship Id="rId3" Type="http://schemas.openxmlformats.org/officeDocument/2006/relationships/hyperlink" Target="https://www.atlassian.com/es/software/jira" TargetMode="External"/><Relationship Id="rId7" Type="http://schemas.openxmlformats.org/officeDocument/2006/relationships/image" Target="../media/image24.svg"/><Relationship Id="rId2" Type="http://schemas.openxmlformats.org/officeDocument/2006/relationships/hyperlink" Target="https://trello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hyperlink" Target="https://asana.com/es" TargetMode="External"/><Relationship Id="rId4" Type="http://schemas.openxmlformats.org/officeDocument/2006/relationships/hyperlink" Target="https://www.notion.com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strike="noStrike" spc="-1" dirty="0">
                <a:solidFill>
                  <a:schemeClr val="lt1"/>
                </a:solidFill>
                <a:latin typeface="Calibri"/>
                <a:ea typeface="Calibri"/>
              </a:rPr>
              <a:t>Aterrizando la cultura Agile</a:t>
            </a:r>
            <a:endParaRPr lang="es-ES" sz="6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strike="noStrike" spc="-1">
                <a:solidFill>
                  <a:schemeClr val="lt1"/>
                </a:solidFill>
                <a:latin typeface="Calibri"/>
                <a:ea typeface="Calibri"/>
              </a:rPr>
              <a:t>Data Science Bootcamp</a:t>
            </a:r>
            <a:endParaRPr lang="es-ES" sz="2400" b="0" strike="noStrike" spc="-1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strike="noStrike" spc="-1">
                <a:solidFill>
                  <a:schemeClr val="lt1"/>
                </a:solidFill>
                <a:latin typeface="Calibri"/>
                <a:ea typeface="Calibri"/>
              </a:rPr>
              <a:t>The Bridge</a:t>
            </a:r>
            <a:endParaRPr lang="es-ES" sz="24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8" name="Google Shape;86;p1" descr="Events organizados por The Bridge | Digital Talent Accelerator | Eventbrite"/>
          <p:cNvPicPr/>
          <p:nvPr/>
        </p:nvPicPr>
        <p:blipFill>
          <a:blip r:embed="rId2"/>
          <a:stretch/>
        </p:blipFill>
        <p:spPr>
          <a:xfrm>
            <a:off x="10630080" y="5505480"/>
            <a:ext cx="823680" cy="8236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233492" y="3556496"/>
            <a:ext cx="629701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endParaRPr lang="en-US" sz="1458" dirty="0">
              <a:solidFill>
                <a:schemeClr val="bg1"/>
              </a:solidFill>
            </a:endParaRP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A49D115E-ECFC-49D0-88CF-4481F4187F31}"/>
              </a:ext>
            </a:extLst>
          </p:cNvPr>
          <p:cNvGrpSpPr/>
          <p:nvPr/>
        </p:nvGrpSpPr>
        <p:grpSpPr>
          <a:xfrm>
            <a:off x="497520" y="309240"/>
            <a:ext cx="10734480" cy="1452600"/>
            <a:chOff x="497520" y="309240"/>
            <a:chExt cx="10734480" cy="1452600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B2AF6C3A-8CCE-4780-9300-6F3A4156F34A}"/>
                </a:ext>
              </a:extLst>
            </p:cNvPr>
            <p:cNvGrpSpPr/>
            <p:nvPr/>
          </p:nvGrpSpPr>
          <p:grpSpPr>
            <a:xfrm>
              <a:off x="497520" y="309240"/>
              <a:ext cx="10734480" cy="1325160"/>
              <a:chOff x="497520" y="309240"/>
              <a:chExt cx="10734480" cy="1325160"/>
            </a:xfrm>
          </p:grpSpPr>
          <p:sp>
            <p:nvSpPr>
              <p:cNvPr id="5" name="Google Shape;93;p2">
                <a:extLst>
                  <a:ext uri="{FF2B5EF4-FFF2-40B4-BE49-F238E27FC236}">
                    <a16:creationId xmlns:a16="http://schemas.microsoft.com/office/drawing/2014/main" id="{6DAF4718-6E6F-47E1-B9EB-F95FA5B715CB}"/>
                  </a:ext>
                </a:extLst>
              </p:cNvPr>
              <p:cNvSpPr/>
              <p:nvPr/>
            </p:nvSpPr>
            <p:spPr>
              <a:xfrm>
                <a:off x="497520" y="763200"/>
                <a:ext cx="89640" cy="654120"/>
              </a:xfrm>
              <a:prstGeom prst="rect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s-ES" sz="1800" b="0" strike="noStrike" spc="-1">
                  <a:solidFill>
                    <a:schemeClr val="lt1"/>
                  </a:solidFill>
                  <a:latin typeface="Calibri"/>
                  <a:ea typeface="Calibri"/>
                </a:endParaRPr>
              </a:p>
            </p:txBody>
          </p:sp>
          <p:sp>
            <p:nvSpPr>
              <p:cNvPr id="6" name="PlaceHolder 1">
                <a:extLst>
                  <a:ext uri="{FF2B5EF4-FFF2-40B4-BE49-F238E27FC236}">
                    <a16:creationId xmlns:a16="http://schemas.microsoft.com/office/drawing/2014/main" id="{63F69CB9-9CD0-40E8-B249-0BE4C3C282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760" y="309240"/>
                <a:ext cx="10515240" cy="13251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tabLst>
                    <a:tab pos="0" algn="l"/>
                  </a:tabLst>
                </a:pPr>
                <a:r>
                  <a:rPr lang="en-US" sz="4400" dirty="0">
                    <a:solidFill>
                      <a:schemeClr val="bg1"/>
                    </a:solidFill>
                    <a:latin typeface="Mona Sans Semi Bold" pitchFamily="34" charset="0"/>
                    <a:ea typeface="Mona Sans Semi Bold" pitchFamily="34" charset="-122"/>
                    <a:cs typeface="Mona Sans Semi Bold" pitchFamily="34" charset="-120"/>
                  </a:rPr>
                  <a:t>Agile </a:t>
                </a:r>
                <a:r>
                  <a:rPr lang="en-US" sz="4400" dirty="0" err="1">
                    <a:solidFill>
                      <a:schemeClr val="bg1"/>
                    </a:solidFill>
                    <a:latin typeface="Mona Sans Semi Bold" pitchFamily="34" charset="0"/>
                    <a:ea typeface="Mona Sans Semi Bold" pitchFamily="34" charset="-122"/>
                    <a:cs typeface="Mona Sans Semi Bold" pitchFamily="34" charset="-120"/>
                  </a:rPr>
                  <a:t>en</a:t>
                </a:r>
                <a:r>
                  <a:rPr lang="en-US" sz="4400" dirty="0">
                    <a:solidFill>
                      <a:schemeClr val="bg1"/>
                    </a:solidFill>
                    <a:latin typeface="Mona Sans Semi Bold" pitchFamily="34" charset="0"/>
                    <a:ea typeface="Mona Sans Semi Bold" pitchFamily="34" charset="-122"/>
                    <a:cs typeface="Mona Sans Semi Bold" pitchFamily="34" charset="-120"/>
                  </a:rPr>
                  <a:t> Data Science</a:t>
                </a:r>
                <a:endParaRPr lang="es-ES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8" name="PlaceHolder 2">
              <a:extLst>
                <a:ext uri="{FF2B5EF4-FFF2-40B4-BE49-F238E27FC236}">
                  <a16:creationId xmlns:a16="http://schemas.microsoft.com/office/drawing/2014/main" id="{5434C393-2E9A-43C3-BEFF-0D01568BD2CE}"/>
                </a:ext>
              </a:extLst>
            </p:cNvPr>
            <p:cNvSpPr txBox="1">
              <a:spLocks/>
            </p:cNvSpPr>
            <p:nvPr/>
          </p:nvSpPr>
          <p:spPr>
            <a:xfrm>
              <a:off x="716760" y="1283040"/>
              <a:ext cx="5487480" cy="4788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45720" rIns="91440" bIns="4572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>
                <a:buFont typeface="Arial" panose="020B0604020202020204" pitchFamily="34" charset="0"/>
                <a:buNone/>
                <a:tabLst>
                  <a:tab pos="0" algn="l"/>
                </a:tabLst>
              </a:pPr>
              <a:r>
                <a:rPr lang="es-ES" sz="1800" i="1" spc="-1" dirty="0">
                  <a:solidFill>
                    <a:srgbClr val="D8D8D8"/>
                  </a:solidFill>
                  <a:latin typeface="Calibri"/>
                  <a:ea typeface="Calibri"/>
                </a:rPr>
                <a:t>De la Teoría a la Práctica</a:t>
              </a:r>
              <a:endParaRPr lang="es-ES" sz="1800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" name="Google Shape;94;p2">
            <a:extLst>
              <a:ext uri="{FF2B5EF4-FFF2-40B4-BE49-F238E27FC236}">
                <a16:creationId xmlns:a16="http://schemas.microsoft.com/office/drawing/2014/main" id="{C76FA45D-659D-4875-9A1E-D636A5AD6C21}"/>
              </a:ext>
            </a:extLst>
          </p:cNvPr>
          <p:cNvSpPr/>
          <p:nvPr/>
        </p:nvSpPr>
        <p:spPr>
          <a:xfrm>
            <a:off x="2004479" y="2875320"/>
            <a:ext cx="8502155" cy="1569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sz="2400" i="1" spc="-1" dirty="0">
                <a:solidFill>
                  <a:schemeClr val="lt1"/>
                </a:solidFill>
                <a:latin typeface="Calibri"/>
                <a:ea typeface="Calibri"/>
              </a:rPr>
              <a:t>Hoy </a:t>
            </a:r>
            <a:r>
              <a:rPr lang="en-US" sz="2400" i="1" spc="-1" dirty="0" err="1">
                <a:solidFill>
                  <a:schemeClr val="lt1"/>
                </a:solidFill>
                <a:latin typeface="Calibri"/>
                <a:ea typeface="Calibri"/>
              </a:rPr>
              <a:t>desglosaremos</a:t>
            </a:r>
            <a:r>
              <a:rPr lang="en-US" sz="2400" i="1" spc="-1" dirty="0">
                <a:solidFill>
                  <a:schemeClr val="lt1"/>
                </a:solidFill>
                <a:latin typeface="Calibri"/>
                <a:ea typeface="Calibri"/>
              </a:rPr>
              <a:t> qué es Agile y por qué es crucial para </a:t>
            </a:r>
            <a:r>
              <a:rPr lang="en-US" sz="2400" i="1" spc="-1" dirty="0" err="1">
                <a:solidFill>
                  <a:schemeClr val="lt1"/>
                </a:solidFill>
                <a:latin typeface="Calibri"/>
                <a:ea typeface="Calibri"/>
              </a:rPr>
              <a:t>el</a:t>
            </a:r>
            <a:r>
              <a:rPr lang="en-US" sz="2400" i="1" spc="-1" dirty="0">
                <a:solidFill>
                  <a:schemeClr val="lt1"/>
                </a:solidFill>
                <a:latin typeface="Calibri"/>
                <a:ea typeface="Calibri"/>
              </a:rPr>
              <a:t> </a:t>
            </a:r>
            <a:r>
              <a:rPr lang="en-US" sz="2400" i="1" spc="-1" dirty="0" err="1">
                <a:solidFill>
                  <a:schemeClr val="lt1"/>
                </a:solidFill>
                <a:latin typeface="Calibri"/>
                <a:ea typeface="Calibri"/>
              </a:rPr>
              <a:t>ámbito</a:t>
            </a:r>
            <a:r>
              <a:rPr lang="en-US" sz="2400" i="1" spc="-1" dirty="0">
                <a:solidFill>
                  <a:schemeClr val="lt1"/>
                </a:solidFill>
                <a:latin typeface="Calibri"/>
                <a:ea typeface="Calibri"/>
              </a:rPr>
              <a:t> de Data Science. </a:t>
            </a:r>
            <a:r>
              <a:rPr lang="en-US" sz="2400" i="1" spc="-1" dirty="0" err="1">
                <a:solidFill>
                  <a:schemeClr val="lt1"/>
                </a:solidFill>
                <a:latin typeface="Calibri"/>
                <a:ea typeface="Calibri"/>
              </a:rPr>
              <a:t>Exploraremos</a:t>
            </a:r>
            <a:r>
              <a:rPr lang="en-US" sz="2400" i="1" spc="-1" dirty="0">
                <a:solidFill>
                  <a:schemeClr val="lt1"/>
                </a:solidFill>
                <a:latin typeface="Calibri"/>
                <a:ea typeface="Calibri"/>
              </a:rPr>
              <a:t> </a:t>
            </a:r>
            <a:r>
              <a:rPr lang="en-US" sz="2400" i="1" spc="-1" dirty="0" err="1">
                <a:solidFill>
                  <a:schemeClr val="lt1"/>
                </a:solidFill>
                <a:latin typeface="Calibri"/>
                <a:ea typeface="Calibri"/>
              </a:rPr>
              <a:t>su</a:t>
            </a:r>
            <a:r>
              <a:rPr lang="en-US" sz="2400" i="1" spc="-1" dirty="0">
                <a:solidFill>
                  <a:schemeClr val="lt1"/>
                </a:solidFill>
                <a:latin typeface="Calibri"/>
                <a:ea typeface="Calibri"/>
              </a:rPr>
              <a:t> </a:t>
            </a:r>
            <a:r>
              <a:rPr lang="en-US" sz="2400" i="1" spc="-1" dirty="0" err="1">
                <a:solidFill>
                  <a:schemeClr val="lt1"/>
                </a:solidFill>
                <a:latin typeface="Calibri"/>
                <a:ea typeface="Calibri"/>
              </a:rPr>
              <a:t>enfoque</a:t>
            </a:r>
            <a:r>
              <a:rPr lang="en-US" sz="2400" i="1" spc="-1" dirty="0">
                <a:solidFill>
                  <a:schemeClr val="lt1"/>
                </a:solidFill>
                <a:latin typeface="Calibri"/>
                <a:ea typeface="Calibri"/>
              </a:rPr>
              <a:t> general y </a:t>
            </a:r>
            <a:r>
              <a:rPr lang="en-US" sz="2400" i="1" spc="-1" dirty="0" err="1">
                <a:solidFill>
                  <a:schemeClr val="lt1"/>
                </a:solidFill>
                <a:latin typeface="Calibri"/>
                <a:ea typeface="Calibri"/>
              </a:rPr>
              <a:t>cómo</a:t>
            </a:r>
            <a:r>
              <a:rPr lang="en-US" sz="2400" i="1" spc="-1" dirty="0">
                <a:solidFill>
                  <a:schemeClr val="lt1"/>
                </a:solidFill>
                <a:latin typeface="Calibri"/>
                <a:ea typeface="Calibri"/>
              </a:rPr>
              <a:t> se </a:t>
            </a:r>
            <a:r>
              <a:rPr lang="en-US" sz="2400" i="1" spc="-1" dirty="0" err="1">
                <a:solidFill>
                  <a:schemeClr val="lt1"/>
                </a:solidFill>
                <a:latin typeface="Calibri"/>
                <a:ea typeface="Calibri"/>
              </a:rPr>
              <a:t>aplica</a:t>
            </a:r>
            <a:r>
              <a:rPr lang="en-US" sz="2400" i="1" spc="-1" dirty="0">
                <a:solidFill>
                  <a:schemeClr val="lt1"/>
                </a:solidFill>
                <a:latin typeface="Calibri"/>
                <a:ea typeface="Calibri"/>
              </a:rPr>
              <a:t> </a:t>
            </a:r>
            <a:r>
              <a:rPr lang="en-US" sz="2400" i="1" spc="-1" dirty="0" err="1">
                <a:solidFill>
                  <a:schemeClr val="lt1"/>
                </a:solidFill>
                <a:latin typeface="Calibri"/>
                <a:ea typeface="Calibri"/>
              </a:rPr>
              <a:t>directamente</a:t>
            </a:r>
            <a:r>
              <a:rPr lang="en-US" sz="2400" i="1" spc="-1" dirty="0">
                <a:solidFill>
                  <a:schemeClr val="lt1"/>
                </a:solidFill>
                <a:latin typeface="Calibri"/>
                <a:ea typeface="Calibri"/>
              </a:rPr>
              <a:t> a </a:t>
            </a:r>
            <a:r>
              <a:rPr lang="en-US" sz="2400" i="1" spc="-1" dirty="0" err="1">
                <a:solidFill>
                  <a:schemeClr val="lt1"/>
                </a:solidFill>
                <a:latin typeface="Calibri"/>
                <a:ea typeface="Calibri"/>
              </a:rPr>
              <a:t>nuestro</a:t>
            </a:r>
            <a:r>
              <a:rPr lang="en-US" sz="2400" i="1" spc="-1" dirty="0">
                <a:solidFill>
                  <a:schemeClr val="lt1"/>
                </a:solidFill>
                <a:latin typeface="Calibri"/>
                <a:ea typeface="Calibri"/>
              </a:rPr>
              <a:t> </a:t>
            </a:r>
            <a:r>
              <a:rPr lang="en-US" sz="2400" i="1" spc="-1" dirty="0" err="1">
                <a:solidFill>
                  <a:schemeClr val="lt1"/>
                </a:solidFill>
                <a:latin typeface="Calibri"/>
                <a:ea typeface="Calibri"/>
              </a:rPr>
              <a:t>trabajo</a:t>
            </a:r>
            <a:r>
              <a:rPr lang="en-US" sz="2400" i="1" spc="-1" dirty="0">
                <a:solidFill>
                  <a:schemeClr val="lt1"/>
                </a:solidFill>
                <a:latin typeface="Calibri"/>
                <a:ea typeface="Calibri"/>
              </a:rPr>
              <a:t> con </a:t>
            </a:r>
            <a:r>
              <a:rPr lang="en-US" sz="2400" i="1" spc="-1" dirty="0" err="1">
                <a:solidFill>
                  <a:schemeClr val="lt1"/>
                </a:solidFill>
                <a:latin typeface="Calibri"/>
                <a:ea typeface="Calibri"/>
              </a:rPr>
              <a:t>datos</a:t>
            </a:r>
            <a:r>
              <a:rPr lang="en-US" sz="2400" i="1" spc="-1" dirty="0">
                <a:solidFill>
                  <a:schemeClr val="lt1"/>
                </a:solidFill>
                <a:latin typeface="Calibri"/>
                <a:ea typeface="Calibri"/>
              </a:rPr>
              <a:t>. No es solo </a:t>
            </a:r>
            <a:r>
              <a:rPr lang="en-US" sz="2400" i="1" spc="-1" dirty="0" err="1">
                <a:solidFill>
                  <a:schemeClr val="lt1"/>
                </a:solidFill>
                <a:latin typeface="Calibri"/>
                <a:ea typeface="Calibri"/>
              </a:rPr>
              <a:t>teoría</a:t>
            </a:r>
            <a:r>
              <a:rPr lang="en-US" sz="2400" i="1" spc="-1" dirty="0">
                <a:solidFill>
                  <a:schemeClr val="lt1"/>
                </a:solidFill>
                <a:latin typeface="Calibri"/>
                <a:ea typeface="Calibri"/>
              </a:rPr>
              <a:t>: es una </a:t>
            </a:r>
            <a:r>
              <a:rPr lang="en-US" sz="2400" i="1" spc="-1" dirty="0" err="1">
                <a:solidFill>
                  <a:schemeClr val="lt1"/>
                </a:solidFill>
                <a:latin typeface="Calibri"/>
                <a:ea typeface="Calibri"/>
              </a:rPr>
              <a:t>habilidad</a:t>
            </a:r>
            <a:r>
              <a:rPr lang="en-US" sz="2400" i="1" spc="-1" dirty="0">
                <a:solidFill>
                  <a:schemeClr val="lt1"/>
                </a:solidFill>
                <a:latin typeface="Calibri"/>
                <a:ea typeface="Calibri"/>
              </a:rPr>
              <a:t> </a:t>
            </a:r>
            <a:r>
              <a:rPr lang="en-US" sz="2400" i="1" spc="-1" dirty="0" err="1">
                <a:solidFill>
                  <a:schemeClr val="lt1"/>
                </a:solidFill>
                <a:latin typeface="Calibri"/>
                <a:ea typeface="Calibri"/>
              </a:rPr>
              <a:t>esencial</a:t>
            </a:r>
            <a:r>
              <a:rPr lang="en-US" sz="2400" i="1" spc="-1" dirty="0">
                <a:solidFill>
                  <a:schemeClr val="lt1"/>
                </a:solidFill>
                <a:latin typeface="Calibri"/>
                <a:ea typeface="Calibri"/>
              </a:rPr>
              <a:t> que </a:t>
            </a:r>
            <a:r>
              <a:rPr lang="en-US" sz="2400" i="1" spc="-1" dirty="0" err="1">
                <a:solidFill>
                  <a:schemeClr val="lt1"/>
                </a:solidFill>
                <a:latin typeface="Calibri"/>
                <a:ea typeface="Calibri"/>
              </a:rPr>
              <a:t>encontrarás</a:t>
            </a:r>
            <a:r>
              <a:rPr lang="en-US" sz="2400" i="1" spc="-1" dirty="0">
                <a:solidFill>
                  <a:schemeClr val="lt1"/>
                </a:solidFill>
                <a:latin typeface="Calibri"/>
                <a:ea typeface="Calibri"/>
              </a:rPr>
              <a:t> </a:t>
            </a:r>
            <a:r>
              <a:rPr lang="en-US" sz="2400" i="1" spc="-1" dirty="0" err="1">
                <a:solidFill>
                  <a:schemeClr val="lt1"/>
                </a:solidFill>
                <a:latin typeface="Calibri"/>
                <a:ea typeface="Calibri"/>
              </a:rPr>
              <a:t>en</a:t>
            </a:r>
            <a:r>
              <a:rPr lang="en-US" sz="2400" i="1" spc="-1" dirty="0">
                <a:solidFill>
                  <a:schemeClr val="lt1"/>
                </a:solidFill>
                <a:latin typeface="Calibri"/>
                <a:ea typeface="Calibri"/>
              </a:rPr>
              <a:t> </a:t>
            </a:r>
            <a:r>
              <a:rPr lang="en-US" sz="2400" i="1" spc="-1" dirty="0" err="1">
                <a:solidFill>
                  <a:schemeClr val="lt1"/>
                </a:solidFill>
                <a:latin typeface="Calibri"/>
                <a:ea typeface="Calibri"/>
              </a:rPr>
              <a:t>tu</a:t>
            </a:r>
            <a:r>
              <a:rPr lang="en-US" sz="2400" i="1" spc="-1" dirty="0">
                <a:solidFill>
                  <a:schemeClr val="lt1"/>
                </a:solidFill>
                <a:latin typeface="Calibri"/>
                <a:ea typeface="Calibri"/>
              </a:rPr>
              <a:t> </a:t>
            </a:r>
            <a:r>
              <a:rPr lang="en-US" sz="2400" i="1" spc="-1" dirty="0" err="1">
                <a:solidFill>
                  <a:schemeClr val="lt1"/>
                </a:solidFill>
                <a:latin typeface="Calibri"/>
                <a:ea typeface="Calibri"/>
              </a:rPr>
              <a:t>entorno</a:t>
            </a:r>
            <a:r>
              <a:rPr lang="en-US" sz="2400" i="1" spc="-1" dirty="0">
                <a:solidFill>
                  <a:schemeClr val="lt1"/>
                </a:solidFill>
                <a:latin typeface="Calibri"/>
                <a:ea typeface="Calibri"/>
              </a:rPr>
              <a:t> professional.</a:t>
            </a:r>
            <a:endParaRPr lang="es-ES" sz="2400" i="1" spc="-1" dirty="0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29606" y="1763889"/>
            <a:ext cx="5057577" cy="304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endParaRPr lang="en-US" sz="1875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70A41E4B-7904-4E90-BABD-768D31861A68}"/>
              </a:ext>
            </a:extLst>
          </p:cNvPr>
          <p:cNvGrpSpPr/>
          <p:nvPr/>
        </p:nvGrpSpPr>
        <p:grpSpPr>
          <a:xfrm>
            <a:off x="497519" y="2041923"/>
            <a:ext cx="5706721" cy="2458092"/>
            <a:chOff x="497519" y="2041923"/>
            <a:chExt cx="5706721" cy="2458092"/>
          </a:xfrm>
        </p:grpSpPr>
        <p:sp>
          <p:nvSpPr>
            <p:cNvPr id="5" name="Text 3"/>
            <p:cNvSpPr/>
            <p:nvPr/>
          </p:nvSpPr>
          <p:spPr>
            <a:xfrm>
              <a:off x="497520" y="2041923"/>
              <a:ext cx="5706720" cy="789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/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Los métodos de gestión de proyectos tradicionales, como el modelo en cascada (Waterfall), fueron concebidos para entornos donde los requisitos son estables y predecibles desde el inicio.</a:t>
              </a:r>
            </a:p>
          </p:txBody>
        </p:sp>
        <p:sp>
          <p:nvSpPr>
            <p:cNvPr id="6" name="Text 4"/>
            <p:cNvSpPr/>
            <p:nvPr/>
          </p:nvSpPr>
          <p:spPr>
            <a:xfrm>
              <a:off x="497520" y="2893814"/>
              <a:ext cx="5706720" cy="5951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39" indent="-285739" algn="just">
                <a:buSzPct val="100000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Asumen una estabilidad total, con poca o ninguna previsión de cambios durante el ciclo de vida del proyecto.</a:t>
              </a:r>
            </a:p>
          </p:txBody>
        </p:sp>
        <p:sp>
          <p:nvSpPr>
            <p:cNvPr id="7" name="Text 5"/>
            <p:cNvSpPr/>
            <p:nvPr/>
          </p:nvSpPr>
          <p:spPr>
            <a:xfrm>
              <a:off x="497519" y="3407290"/>
              <a:ext cx="5706719" cy="6056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39" indent="-285739" algn="just">
                <a:buSzPct val="100000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 basan en una planificación exhaustiva por adelantado, lo que los hace rígidos ante nuevas necesidades o descubrimientos.</a:t>
              </a:r>
            </a:p>
          </p:txBody>
        </p:sp>
        <p:sp>
          <p:nvSpPr>
            <p:cNvPr id="8" name="Text 6"/>
            <p:cNvSpPr/>
            <p:nvPr/>
          </p:nvSpPr>
          <p:spPr>
            <a:xfrm>
              <a:off x="497520" y="4110879"/>
              <a:ext cx="5706718" cy="3891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/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Sin embargo, esta premisa ya no se alinea con la complejidad y dinamismo del mundo actual.</a:t>
              </a:r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1C69EA14-0ECA-4FAE-9158-57EDDF1CA46B}"/>
              </a:ext>
            </a:extLst>
          </p:cNvPr>
          <p:cNvGrpSpPr/>
          <p:nvPr/>
        </p:nvGrpSpPr>
        <p:grpSpPr>
          <a:xfrm>
            <a:off x="497520" y="5227262"/>
            <a:ext cx="11060496" cy="662583"/>
            <a:chOff x="2249785" y="5206802"/>
            <a:chExt cx="9800653" cy="662583"/>
          </a:xfrm>
        </p:grpSpPr>
        <p:sp>
          <p:nvSpPr>
            <p:cNvPr id="10" name="Text 7"/>
            <p:cNvSpPr/>
            <p:nvPr/>
          </p:nvSpPr>
          <p:spPr>
            <a:xfrm>
              <a:off x="2432150" y="5343525"/>
              <a:ext cx="9618288" cy="3891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b="1" dirty="0">
                  <a:solidFill>
                    <a:srgbClr val="FF33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En Data Science</a:t>
              </a:r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, rara vez conocemos la solución final al empezar un proyecto. Necesitamos un enfoque que nos permita aprender, 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probar</a:t>
              </a:r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hipótesis</a:t>
              </a:r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y 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corregir</a:t>
              </a:r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el rumbo de manera continua.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1" name="Shape 8"/>
            <p:cNvSpPr/>
            <p:nvPr/>
          </p:nvSpPr>
          <p:spPr>
            <a:xfrm>
              <a:off x="2249785" y="5206802"/>
              <a:ext cx="12700" cy="662583"/>
            </a:xfrm>
            <a:prstGeom prst="rect">
              <a:avLst/>
            </a:prstGeom>
            <a:solidFill>
              <a:srgbClr val="373B48"/>
            </a:solidFill>
            <a:ln/>
          </p:spPr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5F271FA5-3D00-40E3-949D-27671D8572E9}"/>
              </a:ext>
            </a:extLst>
          </p:cNvPr>
          <p:cNvGrpSpPr/>
          <p:nvPr/>
        </p:nvGrpSpPr>
        <p:grpSpPr>
          <a:xfrm>
            <a:off x="6944655" y="6100459"/>
            <a:ext cx="5088849" cy="516632"/>
            <a:chOff x="2249785" y="6006107"/>
            <a:chExt cx="7692430" cy="516632"/>
          </a:xfrm>
        </p:grpSpPr>
        <p:sp>
          <p:nvSpPr>
            <p:cNvPr id="12" name="Shape 9"/>
            <p:cNvSpPr/>
            <p:nvPr/>
          </p:nvSpPr>
          <p:spPr>
            <a:xfrm>
              <a:off x="2249785" y="6006107"/>
              <a:ext cx="7692430" cy="516632"/>
            </a:xfrm>
            <a:prstGeom prst="roundRect">
              <a:avLst>
                <a:gd name="adj" fmla="val 9887"/>
              </a:avLst>
            </a:prstGeom>
            <a:solidFill>
              <a:srgbClr val="D4D6DE"/>
            </a:solidFill>
            <a:ln/>
          </p:spPr>
        </p:sp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29862" y="6133851"/>
              <a:ext cx="273545" cy="218729"/>
            </a:xfrm>
            <a:prstGeom prst="rect">
              <a:avLst/>
            </a:prstGeom>
          </p:spPr>
        </p:pic>
        <p:sp>
          <p:nvSpPr>
            <p:cNvPr id="14" name="Text 10"/>
            <p:cNvSpPr/>
            <p:nvPr/>
          </p:nvSpPr>
          <p:spPr>
            <a:xfrm>
              <a:off x="2644874" y="6073168"/>
              <a:ext cx="7175797" cy="3647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500"/>
                </a:lnSpc>
              </a:pPr>
              <a:r>
                <a:rPr lang="en-US" sz="1600" dirty="0">
                  <a:solidFill>
                    <a:srgbClr val="0000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Referencia conceptual: </a:t>
              </a:r>
              <a:r>
                <a:rPr lang="en-US" sz="1600" dirty="0" err="1">
                  <a:solidFill>
                    <a:srgbClr val="0000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PMIPMBoK</a:t>
              </a:r>
              <a:r>
                <a:rPr lang="en-US" sz="1600" dirty="0">
                  <a:solidFill>
                    <a:srgbClr val="0000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Guide </a:t>
              </a:r>
            </a:p>
            <a:p>
              <a:pPr>
                <a:lnSpc>
                  <a:spcPts val="1500"/>
                </a:lnSpc>
              </a:pPr>
              <a:r>
                <a:rPr lang="en-US" sz="1600" u="sng" dirty="0">
                  <a:solidFill>
                    <a:srgbClr val="373B48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https://www.pmi.org/pmbok-guide-standards</a:t>
              </a:r>
              <a:r>
                <a:rPr lang="en-US" sz="1600" u="sng" dirty="0">
                  <a:solidFill>
                    <a:srgbClr val="373B48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</a:t>
              </a:r>
              <a:endParaRPr lang="en-US" sz="1600" dirty="0"/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C06B465F-2EED-4389-988F-5DFDF2B8E5B2}"/>
              </a:ext>
            </a:extLst>
          </p:cNvPr>
          <p:cNvGrpSpPr/>
          <p:nvPr/>
        </p:nvGrpSpPr>
        <p:grpSpPr>
          <a:xfrm>
            <a:off x="497520" y="309240"/>
            <a:ext cx="10734480" cy="1452600"/>
            <a:chOff x="497520" y="309240"/>
            <a:chExt cx="10734480" cy="1452600"/>
          </a:xfrm>
        </p:grpSpPr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1227A3D0-0753-4065-A304-056EADD7D6A3}"/>
                </a:ext>
              </a:extLst>
            </p:cNvPr>
            <p:cNvGrpSpPr/>
            <p:nvPr/>
          </p:nvGrpSpPr>
          <p:grpSpPr>
            <a:xfrm>
              <a:off x="497520" y="309240"/>
              <a:ext cx="10734480" cy="1325160"/>
              <a:chOff x="497520" y="309240"/>
              <a:chExt cx="10734480" cy="1325160"/>
            </a:xfrm>
          </p:grpSpPr>
          <p:sp>
            <p:nvSpPr>
              <p:cNvPr id="23" name="Google Shape;93;p2">
                <a:extLst>
                  <a:ext uri="{FF2B5EF4-FFF2-40B4-BE49-F238E27FC236}">
                    <a16:creationId xmlns:a16="http://schemas.microsoft.com/office/drawing/2014/main" id="{0B487878-A936-45D4-B339-2B7305666D77}"/>
                  </a:ext>
                </a:extLst>
              </p:cNvPr>
              <p:cNvSpPr/>
              <p:nvPr/>
            </p:nvSpPr>
            <p:spPr>
              <a:xfrm>
                <a:off x="497520" y="763200"/>
                <a:ext cx="89640" cy="654120"/>
              </a:xfrm>
              <a:prstGeom prst="rect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s-ES" sz="1800" b="0" strike="noStrike" spc="-1">
                  <a:solidFill>
                    <a:schemeClr val="lt1"/>
                  </a:solidFill>
                  <a:latin typeface="Calibri"/>
                  <a:ea typeface="Calibri"/>
                </a:endParaRPr>
              </a:p>
            </p:txBody>
          </p:sp>
          <p:sp>
            <p:nvSpPr>
              <p:cNvPr id="24" name="PlaceHolder 1">
                <a:extLst>
                  <a:ext uri="{FF2B5EF4-FFF2-40B4-BE49-F238E27FC236}">
                    <a16:creationId xmlns:a16="http://schemas.microsoft.com/office/drawing/2014/main" id="{724C3F15-522A-45CB-A820-E8A20DC374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760" y="309240"/>
                <a:ext cx="10515240" cy="13251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tabLst>
                    <a:tab pos="0" algn="l"/>
                  </a:tabLst>
                </a:pPr>
                <a:r>
                  <a:rPr lang="en-US" sz="4400" dirty="0" err="1">
                    <a:solidFill>
                      <a:schemeClr val="bg1"/>
                    </a:solidFill>
                    <a:latin typeface="Mona Sans Semi Bold" pitchFamily="34" charset="0"/>
                    <a:ea typeface="Mona Sans Semi Bold" pitchFamily="34" charset="-122"/>
                    <a:cs typeface="Mona Sans Semi Bold" pitchFamily="34" charset="-120"/>
                  </a:rPr>
                  <a:t>Contexto</a:t>
                </a:r>
                <a:endParaRPr lang="es-ES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22" name="PlaceHolder 2">
              <a:extLst>
                <a:ext uri="{FF2B5EF4-FFF2-40B4-BE49-F238E27FC236}">
                  <a16:creationId xmlns:a16="http://schemas.microsoft.com/office/drawing/2014/main" id="{67EEA083-3392-4AA7-B84C-B5C8FA929F7D}"/>
                </a:ext>
              </a:extLst>
            </p:cNvPr>
            <p:cNvSpPr txBox="1">
              <a:spLocks/>
            </p:cNvSpPr>
            <p:nvPr/>
          </p:nvSpPr>
          <p:spPr>
            <a:xfrm>
              <a:off x="716760" y="1283040"/>
              <a:ext cx="5487480" cy="4788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45720" rIns="91440" bIns="4572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3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i="1" spc="-1" dirty="0">
                  <a:solidFill>
                    <a:srgbClr val="D8D8D8"/>
                  </a:solidFill>
                  <a:latin typeface="Calibri"/>
                  <a:ea typeface="Calibri"/>
                </a:rPr>
                <a:t>Por qué Agile: La </a:t>
              </a:r>
              <a:r>
                <a:rPr lang="en-US" sz="1800" i="1" spc="-1" dirty="0" err="1">
                  <a:solidFill>
                    <a:srgbClr val="D8D8D8"/>
                  </a:solidFill>
                  <a:latin typeface="Calibri"/>
                  <a:ea typeface="Calibri"/>
                </a:rPr>
                <a:t>Necesidad</a:t>
              </a:r>
              <a:r>
                <a:rPr lang="en-US" sz="1800" i="1" spc="-1" dirty="0">
                  <a:solidFill>
                    <a:srgbClr val="D8D8D8"/>
                  </a:solidFill>
                  <a:latin typeface="Calibri"/>
                  <a:ea typeface="Calibri"/>
                </a:rPr>
                <a:t> de </a:t>
              </a:r>
              <a:r>
                <a:rPr lang="en-US" sz="1800" i="1" spc="-1" dirty="0" err="1">
                  <a:solidFill>
                    <a:srgbClr val="D8D8D8"/>
                  </a:solidFill>
                  <a:latin typeface="Calibri"/>
                  <a:ea typeface="Calibri"/>
                </a:rPr>
                <a:t>Adaptación</a:t>
              </a:r>
              <a:endParaRPr lang="en-US" sz="1800" i="1" spc="-1" dirty="0">
                <a:solidFill>
                  <a:srgbClr val="D8D8D8"/>
                </a:solidFill>
                <a:latin typeface="Calibri"/>
                <a:ea typeface="Calibri"/>
              </a:endParaRPr>
            </a:p>
            <a:p>
              <a:pPr indent="0">
                <a:buFont typeface="Arial" panose="020B0604020202020204" pitchFamily="34" charset="0"/>
                <a:buNone/>
                <a:tabLst>
                  <a:tab pos="0" algn="l"/>
                </a:tabLst>
              </a:pPr>
              <a:endParaRPr lang="es-ES" sz="1800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6" name="Imagen 25">
            <a:extLst>
              <a:ext uri="{FF2B5EF4-FFF2-40B4-BE49-F238E27FC236}">
                <a16:creationId xmlns:a16="http://schemas.microsoft.com/office/drawing/2014/main" id="{237ADCAE-36B5-4AE5-B92F-6BE97CB01F8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029" y="1374634"/>
            <a:ext cx="5297297" cy="33391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776008EF-DDDE-40AF-B15E-9C88E79A23D8}"/>
              </a:ext>
            </a:extLst>
          </p:cNvPr>
          <p:cNvGrpSpPr/>
          <p:nvPr/>
        </p:nvGrpSpPr>
        <p:grpSpPr>
          <a:xfrm>
            <a:off x="497520" y="309240"/>
            <a:ext cx="10950768" cy="1452600"/>
            <a:chOff x="497520" y="309240"/>
            <a:chExt cx="10734480" cy="1452600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DA25A86F-2691-445C-ABC2-B56C5C24E5FC}"/>
                </a:ext>
              </a:extLst>
            </p:cNvPr>
            <p:cNvGrpSpPr/>
            <p:nvPr/>
          </p:nvGrpSpPr>
          <p:grpSpPr>
            <a:xfrm>
              <a:off x="497520" y="309240"/>
              <a:ext cx="10734480" cy="1325160"/>
              <a:chOff x="497520" y="309240"/>
              <a:chExt cx="10734480" cy="1325160"/>
            </a:xfrm>
          </p:grpSpPr>
          <p:sp>
            <p:nvSpPr>
              <p:cNvPr id="5" name="PlaceHolder 1">
                <a:extLst>
                  <a:ext uri="{FF2B5EF4-FFF2-40B4-BE49-F238E27FC236}">
                    <a16:creationId xmlns:a16="http://schemas.microsoft.com/office/drawing/2014/main" id="{615F17E4-8EA4-4001-9FA0-3F8343A016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760" y="309240"/>
                <a:ext cx="10515240" cy="13251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tabLst>
                    <a:tab pos="0" algn="l"/>
                  </a:tabLst>
                </a:pPr>
                <a:r>
                  <a:rPr lang="en-US" sz="4400" dirty="0" err="1">
                    <a:solidFill>
                      <a:schemeClr val="bg1"/>
                    </a:solidFill>
                    <a:latin typeface="Mona Sans Semi Bold" pitchFamily="34" charset="0"/>
                    <a:ea typeface="Mona Sans Semi Bold" pitchFamily="34" charset="-122"/>
                    <a:cs typeface="Mona Sans Semi Bold" pitchFamily="34" charset="-120"/>
                  </a:rPr>
                  <a:t>Metodología</a:t>
                </a:r>
                <a:endParaRPr lang="es-ES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" name="Google Shape;93;p2">
                <a:extLst>
                  <a:ext uri="{FF2B5EF4-FFF2-40B4-BE49-F238E27FC236}">
                    <a16:creationId xmlns:a16="http://schemas.microsoft.com/office/drawing/2014/main" id="{2AF8C4BF-BE20-4A2F-A294-D9C0230FE415}"/>
                  </a:ext>
                </a:extLst>
              </p:cNvPr>
              <p:cNvSpPr/>
              <p:nvPr/>
            </p:nvSpPr>
            <p:spPr>
              <a:xfrm>
                <a:off x="497520" y="763200"/>
                <a:ext cx="89640" cy="654120"/>
              </a:xfrm>
              <a:prstGeom prst="rect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s-ES" sz="1800" b="0" strike="noStrike" spc="-1">
                  <a:solidFill>
                    <a:schemeClr val="lt1"/>
                  </a:solidFill>
                  <a:latin typeface="Calibri"/>
                  <a:ea typeface="Calibri"/>
                </a:endParaRPr>
              </a:p>
            </p:txBody>
          </p:sp>
        </p:grpSp>
        <p:sp>
          <p:nvSpPr>
            <p:cNvPr id="4" name="PlaceHolder 2">
              <a:extLst>
                <a:ext uri="{FF2B5EF4-FFF2-40B4-BE49-F238E27FC236}">
                  <a16:creationId xmlns:a16="http://schemas.microsoft.com/office/drawing/2014/main" id="{C4DB819D-F89C-48A9-A981-B094CDF1DFAE}"/>
                </a:ext>
              </a:extLst>
            </p:cNvPr>
            <p:cNvSpPr txBox="1">
              <a:spLocks/>
            </p:cNvSpPr>
            <p:nvPr/>
          </p:nvSpPr>
          <p:spPr>
            <a:xfrm>
              <a:off x="716760" y="1283040"/>
              <a:ext cx="5487480" cy="4788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45720" rIns="91440" bIns="4572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i="1" spc="-1" dirty="0">
                  <a:solidFill>
                    <a:srgbClr val="D8D8D8"/>
                  </a:solidFill>
                  <a:latin typeface="Calibri"/>
                  <a:ea typeface="Calibri"/>
                </a:rPr>
                <a:t>Waterfall vs. Agile: Diferencias Clave</a:t>
              </a:r>
            </a:p>
            <a:p>
              <a:pPr indent="0">
                <a:buFont typeface="Arial" panose="020B0604020202020204" pitchFamily="34" charset="0"/>
                <a:buNone/>
                <a:tabLst>
                  <a:tab pos="0" algn="l"/>
                </a:tabLst>
              </a:pPr>
              <a:endParaRPr lang="es-ES" sz="1800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" name="Google Shape;94;p2">
            <a:extLst>
              <a:ext uri="{FF2B5EF4-FFF2-40B4-BE49-F238E27FC236}">
                <a16:creationId xmlns:a16="http://schemas.microsoft.com/office/drawing/2014/main" id="{4FB3122F-A4EB-43C6-9EF2-6D54D1268544}"/>
              </a:ext>
            </a:extLst>
          </p:cNvPr>
          <p:cNvSpPr/>
          <p:nvPr/>
        </p:nvSpPr>
        <p:spPr>
          <a:xfrm>
            <a:off x="1044359" y="3143619"/>
            <a:ext cx="2997289" cy="14773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s-ES" i="1" spc="-1" dirty="0">
                <a:solidFill>
                  <a:schemeClr val="lt1"/>
                </a:solidFill>
                <a:latin typeface="Calibri"/>
                <a:ea typeface="Calibri"/>
              </a:rPr>
              <a:t>En las metodologías tradicionales, cada parte del equipo interpreta las necesidades desde su propio prisma…</a:t>
            </a:r>
            <a:endParaRPr lang="es-ES" sz="2400" i="1" spc="-1" dirty="0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1026" name="Picture 2" descr="Construyendo un columpio con Scrum: dividiendo el alcance en trozos con  valor - Mamá... ¿Qué es Scrum?">
            <a:extLst>
              <a:ext uri="{FF2B5EF4-FFF2-40B4-BE49-F238E27FC236}">
                <a16:creationId xmlns:a16="http://schemas.microsoft.com/office/drawing/2014/main" id="{B3D616BF-7B45-4B34-BBF9-AE120C418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9853" y="1298914"/>
            <a:ext cx="6993578" cy="5249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9048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037832" y="5213879"/>
            <a:ext cx="4952107" cy="355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92"/>
              </a:lnSpc>
            </a:pPr>
            <a:endParaRPr lang="en-US" sz="2208" dirty="0"/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5A526795-0C42-4C1D-8D35-D2B65CD60C2C}"/>
              </a:ext>
            </a:extLst>
          </p:cNvPr>
          <p:cNvGrpSpPr/>
          <p:nvPr/>
        </p:nvGrpSpPr>
        <p:grpSpPr>
          <a:xfrm>
            <a:off x="1603276" y="2027845"/>
            <a:ext cx="4421683" cy="3039467"/>
            <a:chOff x="1603276" y="1506637"/>
            <a:chExt cx="4421683" cy="3039467"/>
          </a:xfrm>
        </p:grpSpPr>
        <p:grpSp>
          <p:nvGrpSpPr>
            <p:cNvPr id="41" name="Grupo 40">
              <a:extLst>
                <a:ext uri="{FF2B5EF4-FFF2-40B4-BE49-F238E27FC236}">
                  <a16:creationId xmlns:a16="http://schemas.microsoft.com/office/drawing/2014/main" id="{43A5962E-FACE-47BD-B79B-361C01C4BCC1}"/>
                </a:ext>
              </a:extLst>
            </p:cNvPr>
            <p:cNvGrpSpPr/>
            <p:nvPr/>
          </p:nvGrpSpPr>
          <p:grpSpPr>
            <a:xfrm>
              <a:off x="1603276" y="1719660"/>
              <a:ext cx="4421683" cy="2826444"/>
              <a:chOff x="1603276" y="1719660"/>
              <a:chExt cx="4421683" cy="2826444"/>
            </a:xfrm>
          </p:grpSpPr>
          <p:sp>
            <p:nvSpPr>
              <p:cNvPr id="5" name="Shape 3"/>
              <p:cNvSpPr/>
              <p:nvPr/>
            </p:nvSpPr>
            <p:spPr>
              <a:xfrm>
                <a:off x="1603276" y="1719660"/>
                <a:ext cx="4421683" cy="2826444"/>
              </a:xfrm>
              <a:prstGeom prst="roundRect">
                <a:avLst>
                  <a:gd name="adj" fmla="val 3235"/>
                </a:avLst>
              </a:prstGeom>
              <a:solidFill>
                <a:srgbClr val="FFFFFF">
                  <a:alpha val="95000"/>
                </a:srgbClr>
              </a:solidFill>
              <a:ln/>
            </p:spPr>
          </p:sp>
          <p:sp>
            <p:nvSpPr>
              <p:cNvPr id="9" name="Text 7"/>
              <p:cNvSpPr/>
              <p:nvPr/>
            </p:nvSpPr>
            <p:spPr>
              <a:xfrm>
                <a:off x="1764308" y="2074764"/>
                <a:ext cx="2877145" cy="22195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1708"/>
                  </a:lnSpc>
                </a:pPr>
                <a:r>
                  <a:rPr lang="en-US" sz="1600" dirty="0">
                    <a:solidFill>
                      <a:srgbClr val="52586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Waterfall: Entrega Tardía y Riesgo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1764308" y="2381945"/>
                <a:ext cx="4099619" cy="68193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1750"/>
                  </a:lnSpc>
                </a:pPr>
                <a:r>
                  <a:rPr lang="en-US" sz="1200" dirty="0">
                    <a:solidFill>
                      <a:srgbClr val="52586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 modelo Waterfall se caracteriza por entregar un producto final completo solo al terminar todas las fases del proyecto. Esto implica:</a:t>
                </a: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1764308" y="3149104"/>
                <a:ext cx="4099619" cy="22731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285739" indent="-285739">
                  <a:lnSpc>
                    <a:spcPts val="1750"/>
                  </a:lnSpc>
                  <a:buSzPct val="100000"/>
                  <a:buChar char="•"/>
                </a:pPr>
                <a:r>
                  <a:rPr lang="en-US" sz="1200" dirty="0">
                    <a:solidFill>
                      <a:srgbClr val="52586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Un punto único de feedback, generalmente al final.</a:t>
                </a: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1764308" y="3426123"/>
                <a:ext cx="4099619" cy="4546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85739" indent="-285739">
                  <a:lnSpc>
                    <a:spcPts val="1750"/>
                  </a:lnSpc>
                  <a:buSzPct val="100000"/>
                  <a:buChar char="•"/>
                </a:pPr>
                <a:r>
                  <a:rPr lang="en-US" sz="1200" dirty="0">
                    <a:solidFill>
                      <a:srgbClr val="52586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Alto riesgo de que el producto no cumpla las expectativas o quede obsoleto.</a:t>
                </a: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1764308" y="3930452"/>
                <a:ext cx="4099619" cy="4546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85739" indent="-285739">
                  <a:lnSpc>
                    <a:spcPts val="1750"/>
                  </a:lnSpc>
                  <a:buSzPct val="100000"/>
                  <a:buChar char="•"/>
                </a:pPr>
                <a:r>
                  <a:rPr lang="en-US" sz="1200" dirty="0">
                    <a:solidFill>
                      <a:srgbClr val="52586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Dificultad para incorporar cambios una vez iniciado el desarrollo.</a:t>
                </a: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7" name="Shape 5"/>
            <p:cNvSpPr/>
            <p:nvPr/>
          </p:nvSpPr>
          <p:spPr>
            <a:xfrm>
              <a:off x="3600996" y="1506637"/>
              <a:ext cx="426144" cy="426144"/>
            </a:xfrm>
            <a:prstGeom prst="roundRect">
              <a:avLst>
                <a:gd name="adj" fmla="val 178813"/>
              </a:avLst>
            </a:prstGeom>
            <a:solidFill>
              <a:srgbClr val="373B48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3756221" y="1594910"/>
              <a:ext cx="170458" cy="2130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125"/>
                </a:lnSpc>
              </a:pPr>
              <a:r>
                <a:rPr lang="en-US" sz="1333" dirty="0">
                  <a:solidFill>
                    <a:srgbClr val="FFFFFF"/>
                  </a:solidFill>
                  <a:latin typeface="Mona Sans Semi Bold" pitchFamily="34" charset="0"/>
                  <a:ea typeface="Mona Sans Semi Bold" pitchFamily="34" charset="-122"/>
                  <a:cs typeface="Mona Sans Semi Bold" pitchFamily="34" charset="-120"/>
                </a:rPr>
                <a:t>1</a:t>
              </a:r>
              <a:endParaRPr lang="en-US" sz="1333" dirty="0"/>
            </a:p>
          </p:txBody>
        </p: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47D03642-7133-4ED6-91F6-57B308E3C89A}"/>
              </a:ext>
            </a:extLst>
          </p:cNvPr>
          <p:cNvGrpSpPr/>
          <p:nvPr/>
        </p:nvGrpSpPr>
        <p:grpSpPr>
          <a:xfrm>
            <a:off x="6166942" y="2027845"/>
            <a:ext cx="4421783" cy="3039467"/>
            <a:chOff x="6166942" y="1506637"/>
            <a:chExt cx="4421783" cy="3039467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86A5B83A-46BE-403C-85C6-DA0901CC6579}"/>
                </a:ext>
              </a:extLst>
            </p:cNvPr>
            <p:cNvGrpSpPr/>
            <p:nvPr/>
          </p:nvGrpSpPr>
          <p:grpSpPr>
            <a:xfrm>
              <a:off x="6166942" y="1719660"/>
              <a:ext cx="4421783" cy="2826444"/>
              <a:chOff x="6166942" y="1719660"/>
              <a:chExt cx="4421783" cy="2826444"/>
            </a:xfrm>
          </p:grpSpPr>
          <p:sp>
            <p:nvSpPr>
              <p:cNvPr id="14" name="Shape 12"/>
              <p:cNvSpPr/>
              <p:nvPr/>
            </p:nvSpPr>
            <p:spPr>
              <a:xfrm>
                <a:off x="6166942" y="1719660"/>
                <a:ext cx="4421783" cy="2826444"/>
              </a:xfrm>
              <a:prstGeom prst="roundRect">
                <a:avLst>
                  <a:gd name="adj" fmla="val 3235"/>
                </a:avLst>
              </a:prstGeom>
              <a:solidFill>
                <a:srgbClr val="FFFFFF">
                  <a:alpha val="95000"/>
                </a:srgbClr>
              </a:solidFill>
              <a:ln/>
            </p:spPr>
          </p:sp>
          <p:sp>
            <p:nvSpPr>
              <p:cNvPr id="18" name="Text 16"/>
              <p:cNvSpPr/>
              <p:nvPr/>
            </p:nvSpPr>
            <p:spPr>
              <a:xfrm>
                <a:off x="6327973" y="2074764"/>
                <a:ext cx="3729335" cy="22195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1708"/>
                  </a:lnSpc>
                </a:pPr>
                <a:r>
                  <a:rPr lang="en-US" sz="1600" dirty="0">
                    <a:solidFill>
                      <a:srgbClr val="52586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Agile: Valor Continuo y Feedback Temprano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6327974" y="2381944"/>
                <a:ext cx="4099719" cy="4546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1750"/>
                  </a:lnSpc>
                </a:pPr>
                <a:r>
                  <a:rPr lang="en-US" sz="1200" dirty="0">
                    <a:solidFill>
                      <a:srgbClr val="52586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Agile se enfoca en entregar valor de forma incremental a través de ciclos cortos e iterativos. Sus beneficios son claros:</a:t>
                </a: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6327974" y="2921794"/>
                <a:ext cx="4099719" cy="22731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285739" indent="-285739">
                  <a:lnSpc>
                    <a:spcPts val="1750"/>
                  </a:lnSpc>
                  <a:buSzPct val="100000"/>
                  <a:buChar char="•"/>
                </a:pPr>
                <a:r>
                  <a:rPr lang="en-US" sz="1200" dirty="0">
                    <a:solidFill>
                      <a:srgbClr val="52586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Feedback constante que reduce significativamente el riesgo.</a:t>
                </a: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6327974" y="3198813"/>
                <a:ext cx="4099719" cy="4546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85739" indent="-285739">
                  <a:lnSpc>
                    <a:spcPts val="1750"/>
                  </a:lnSpc>
                  <a:buSzPct val="100000"/>
                  <a:buChar char="•"/>
                </a:pPr>
                <a:r>
                  <a:rPr lang="en-US" sz="1200" dirty="0">
                    <a:solidFill>
                      <a:srgbClr val="52586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Capacidad de adaptación a los cambios y nuevas prioridades.</a:t>
                </a: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" name="Text 20"/>
              <p:cNvSpPr/>
              <p:nvPr/>
            </p:nvSpPr>
            <p:spPr>
              <a:xfrm>
                <a:off x="6327974" y="3483686"/>
                <a:ext cx="4099719" cy="4546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85739" indent="-285739">
                  <a:lnSpc>
                    <a:spcPts val="1750"/>
                  </a:lnSpc>
                  <a:buSzPct val="100000"/>
                  <a:buChar char="•"/>
                </a:pPr>
                <a:r>
                  <a:rPr lang="en-US" sz="1200" dirty="0">
                    <a:solidFill>
                      <a:srgbClr val="52586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Mayor satisfacción del cliente al ver progresos de forma regular.</a:t>
                </a: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6" name="Shape 14"/>
            <p:cNvSpPr/>
            <p:nvPr/>
          </p:nvSpPr>
          <p:spPr>
            <a:xfrm>
              <a:off x="8164761" y="1506637"/>
              <a:ext cx="426144" cy="426144"/>
            </a:xfrm>
            <a:prstGeom prst="roundRect">
              <a:avLst>
                <a:gd name="adj" fmla="val 178813"/>
              </a:avLst>
            </a:prstGeom>
            <a:solidFill>
              <a:srgbClr val="373B48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8319986" y="1594910"/>
              <a:ext cx="170458" cy="2130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125"/>
                </a:lnSpc>
              </a:pPr>
              <a:r>
                <a:rPr lang="en-US" sz="1333" dirty="0">
                  <a:solidFill>
                    <a:srgbClr val="FFFFFF"/>
                  </a:solidFill>
                  <a:latin typeface="Mona Sans Semi Bold" pitchFamily="34" charset="0"/>
                  <a:ea typeface="Mona Sans Semi Bold" pitchFamily="34" charset="-122"/>
                  <a:cs typeface="Mona Sans Semi Bold" pitchFamily="34" charset="-120"/>
                </a:rPr>
                <a:t>2</a:t>
              </a:r>
              <a:endParaRPr lang="en-US" sz="1333" dirty="0"/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84EAB3C8-8565-42A8-9257-89616AB87816}"/>
              </a:ext>
            </a:extLst>
          </p:cNvPr>
          <p:cNvGrpSpPr/>
          <p:nvPr/>
        </p:nvGrpSpPr>
        <p:grpSpPr>
          <a:xfrm>
            <a:off x="6944655" y="6100459"/>
            <a:ext cx="5088849" cy="516632"/>
            <a:chOff x="2249785" y="6006107"/>
            <a:chExt cx="7692430" cy="516632"/>
          </a:xfrm>
        </p:grpSpPr>
        <p:sp>
          <p:nvSpPr>
            <p:cNvPr id="34" name="Shape 9">
              <a:extLst>
                <a:ext uri="{FF2B5EF4-FFF2-40B4-BE49-F238E27FC236}">
                  <a16:creationId xmlns:a16="http://schemas.microsoft.com/office/drawing/2014/main" id="{6457E604-68E8-4E6C-8B53-47AD51AE8621}"/>
                </a:ext>
              </a:extLst>
            </p:cNvPr>
            <p:cNvSpPr/>
            <p:nvPr/>
          </p:nvSpPr>
          <p:spPr>
            <a:xfrm>
              <a:off x="2249785" y="6006107"/>
              <a:ext cx="7692430" cy="516632"/>
            </a:xfrm>
            <a:prstGeom prst="roundRect">
              <a:avLst>
                <a:gd name="adj" fmla="val 9887"/>
              </a:avLst>
            </a:prstGeom>
            <a:solidFill>
              <a:srgbClr val="D4D6DE"/>
            </a:solidFill>
            <a:ln/>
          </p:spPr>
        </p:sp>
        <p:pic>
          <p:nvPicPr>
            <p:cNvPr id="35" name="Image 1" descr="preencoded.png">
              <a:extLst>
                <a:ext uri="{FF2B5EF4-FFF2-40B4-BE49-F238E27FC236}">
                  <a16:creationId xmlns:a16="http://schemas.microsoft.com/office/drawing/2014/main" id="{AB6032B4-0D37-4135-9D83-2188F0F37E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29862" y="6133851"/>
              <a:ext cx="273545" cy="218729"/>
            </a:xfrm>
            <a:prstGeom prst="rect">
              <a:avLst/>
            </a:prstGeom>
          </p:spPr>
        </p:pic>
        <p:sp>
          <p:nvSpPr>
            <p:cNvPr id="36" name="Text 10">
              <a:extLst>
                <a:ext uri="{FF2B5EF4-FFF2-40B4-BE49-F238E27FC236}">
                  <a16:creationId xmlns:a16="http://schemas.microsoft.com/office/drawing/2014/main" id="{02081FFE-55B8-4DBB-A3BA-4358F03E1E3C}"/>
                </a:ext>
              </a:extLst>
            </p:cNvPr>
            <p:cNvSpPr/>
            <p:nvPr/>
          </p:nvSpPr>
          <p:spPr>
            <a:xfrm>
              <a:off x="2644874" y="6130580"/>
              <a:ext cx="7175797" cy="194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50"/>
                </a:lnSpc>
              </a:pPr>
              <a:r>
                <a:rPr lang="en-US" sz="1600" dirty="0">
                  <a:solidFill>
                    <a:srgbClr val="0000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Manifesto Agile </a:t>
              </a:r>
              <a:r>
                <a:rPr lang="en-US" sz="1600" u="sng" dirty="0">
                  <a:solidFill>
                    <a:srgbClr val="373B48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https://agilemanifesto.org</a:t>
              </a:r>
              <a:endParaRPr lang="en-US" sz="1600" dirty="0"/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C6C038FE-4383-4E75-B089-F7A129088A27}"/>
              </a:ext>
            </a:extLst>
          </p:cNvPr>
          <p:cNvGrpSpPr/>
          <p:nvPr/>
        </p:nvGrpSpPr>
        <p:grpSpPr>
          <a:xfrm>
            <a:off x="497520" y="5227262"/>
            <a:ext cx="11033064" cy="662583"/>
            <a:chOff x="2249785" y="5206802"/>
            <a:chExt cx="9800653" cy="662583"/>
          </a:xfrm>
        </p:grpSpPr>
        <p:sp>
          <p:nvSpPr>
            <p:cNvPr id="38" name="Text 7">
              <a:extLst>
                <a:ext uri="{FF2B5EF4-FFF2-40B4-BE49-F238E27FC236}">
                  <a16:creationId xmlns:a16="http://schemas.microsoft.com/office/drawing/2014/main" id="{B31E8E67-8274-4767-AB95-D471620074B8}"/>
                </a:ext>
              </a:extLst>
            </p:cNvPr>
            <p:cNvSpPr/>
            <p:nvPr/>
          </p:nvSpPr>
          <p:spPr>
            <a:xfrm>
              <a:off x="2432150" y="5343525"/>
              <a:ext cx="9618288" cy="3891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b="1" dirty="0">
                  <a:solidFill>
                    <a:srgbClr val="FF33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En Data Science</a:t>
              </a:r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, </a:t>
              </a:r>
              <a:r>
                <a:rPr lang="es-E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un modelo técnicamente perfecto pero sin aplicación práctica real tiene cero valor. Agile nos ayuda a evitar invertir meses en soluciones que no satisfacen las necesidades del negocio.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9" name="Shape 8">
              <a:extLst>
                <a:ext uri="{FF2B5EF4-FFF2-40B4-BE49-F238E27FC236}">
                  <a16:creationId xmlns:a16="http://schemas.microsoft.com/office/drawing/2014/main" id="{B78FBE9F-3644-4BCC-9BF0-AA0206AF5C8F}"/>
                </a:ext>
              </a:extLst>
            </p:cNvPr>
            <p:cNvSpPr/>
            <p:nvPr/>
          </p:nvSpPr>
          <p:spPr>
            <a:xfrm>
              <a:off x="2249785" y="5206802"/>
              <a:ext cx="12700" cy="662583"/>
            </a:xfrm>
            <a:prstGeom prst="rect">
              <a:avLst/>
            </a:prstGeom>
            <a:solidFill>
              <a:srgbClr val="373B48"/>
            </a:solidFill>
            <a:ln/>
          </p:spPr>
        </p:sp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7C3A28AA-8E87-4F94-98EC-BCBBD6DCB972}"/>
              </a:ext>
            </a:extLst>
          </p:cNvPr>
          <p:cNvGrpSpPr/>
          <p:nvPr/>
        </p:nvGrpSpPr>
        <p:grpSpPr>
          <a:xfrm>
            <a:off x="497520" y="309240"/>
            <a:ext cx="10950768" cy="1452600"/>
            <a:chOff x="497520" y="309240"/>
            <a:chExt cx="10734480" cy="1452600"/>
          </a:xfrm>
        </p:grpSpPr>
        <p:grpSp>
          <p:nvGrpSpPr>
            <p:cNvPr id="50" name="Grupo 49">
              <a:extLst>
                <a:ext uri="{FF2B5EF4-FFF2-40B4-BE49-F238E27FC236}">
                  <a16:creationId xmlns:a16="http://schemas.microsoft.com/office/drawing/2014/main" id="{B344B937-ACF7-4CDE-8A3D-70E6BC0C206A}"/>
                </a:ext>
              </a:extLst>
            </p:cNvPr>
            <p:cNvGrpSpPr/>
            <p:nvPr/>
          </p:nvGrpSpPr>
          <p:grpSpPr>
            <a:xfrm>
              <a:off x="497520" y="309240"/>
              <a:ext cx="10734480" cy="1325160"/>
              <a:chOff x="497520" y="309240"/>
              <a:chExt cx="10734480" cy="1325160"/>
            </a:xfrm>
          </p:grpSpPr>
          <p:sp>
            <p:nvSpPr>
              <p:cNvPr id="52" name="PlaceHolder 1">
                <a:extLst>
                  <a:ext uri="{FF2B5EF4-FFF2-40B4-BE49-F238E27FC236}">
                    <a16:creationId xmlns:a16="http://schemas.microsoft.com/office/drawing/2014/main" id="{7ADE00FD-0D68-4862-9910-6CD1030792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760" y="309240"/>
                <a:ext cx="10515240" cy="13251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tabLst>
                    <a:tab pos="0" algn="l"/>
                  </a:tabLst>
                </a:pPr>
                <a:r>
                  <a:rPr lang="en-US" sz="4400" dirty="0" err="1">
                    <a:solidFill>
                      <a:schemeClr val="bg1"/>
                    </a:solidFill>
                    <a:latin typeface="Mona Sans Semi Bold" pitchFamily="34" charset="0"/>
                    <a:ea typeface="Mona Sans Semi Bold" pitchFamily="34" charset="-122"/>
                    <a:cs typeface="Mona Sans Semi Bold" pitchFamily="34" charset="-120"/>
                  </a:rPr>
                  <a:t>Metodología</a:t>
                </a:r>
                <a:endParaRPr lang="es-ES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3" name="Google Shape;93;p2">
                <a:extLst>
                  <a:ext uri="{FF2B5EF4-FFF2-40B4-BE49-F238E27FC236}">
                    <a16:creationId xmlns:a16="http://schemas.microsoft.com/office/drawing/2014/main" id="{3DF7FEA1-F659-46C6-B3B5-E589E4A940C4}"/>
                  </a:ext>
                </a:extLst>
              </p:cNvPr>
              <p:cNvSpPr/>
              <p:nvPr/>
            </p:nvSpPr>
            <p:spPr>
              <a:xfrm>
                <a:off x="497520" y="763200"/>
                <a:ext cx="89640" cy="654120"/>
              </a:xfrm>
              <a:prstGeom prst="rect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s-ES" sz="1800" b="0" strike="noStrike" spc="-1">
                  <a:solidFill>
                    <a:schemeClr val="lt1"/>
                  </a:solidFill>
                  <a:latin typeface="Calibri"/>
                  <a:ea typeface="Calibri"/>
                </a:endParaRPr>
              </a:p>
            </p:txBody>
          </p:sp>
        </p:grpSp>
        <p:sp>
          <p:nvSpPr>
            <p:cNvPr id="51" name="PlaceHolder 2">
              <a:extLst>
                <a:ext uri="{FF2B5EF4-FFF2-40B4-BE49-F238E27FC236}">
                  <a16:creationId xmlns:a16="http://schemas.microsoft.com/office/drawing/2014/main" id="{0D7B7F33-19D7-40B6-865E-C7FBC76F22D7}"/>
                </a:ext>
              </a:extLst>
            </p:cNvPr>
            <p:cNvSpPr txBox="1">
              <a:spLocks/>
            </p:cNvSpPr>
            <p:nvPr/>
          </p:nvSpPr>
          <p:spPr>
            <a:xfrm>
              <a:off x="716760" y="1283040"/>
              <a:ext cx="5487480" cy="4788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45720" rIns="91440" bIns="4572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i="1" spc="-1" dirty="0">
                  <a:solidFill>
                    <a:srgbClr val="D8D8D8"/>
                  </a:solidFill>
                  <a:latin typeface="Calibri"/>
                  <a:ea typeface="Calibri"/>
                </a:rPr>
                <a:t>Waterfall vs. Agile: Diferencias Clave</a:t>
              </a:r>
            </a:p>
            <a:p>
              <a:pPr indent="0">
                <a:buFont typeface="Arial" panose="020B0604020202020204" pitchFamily="34" charset="0"/>
                <a:buNone/>
                <a:tabLst>
                  <a:tab pos="0" algn="l"/>
                </a:tabLst>
              </a:pPr>
              <a:endParaRPr lang="es-ES" sz="1800" spc="-1" dirty="0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29259" y="3126737"/>
            <a:ext cx="5469334" cy="312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17"/>
              </a:lnSpc>
            </a:pPr>
            <a:endParaRPr lang="en-US" sz="1958" dirty="0"/>
          </a:p>
        </p:txBody>
      </p:sp>
      <p:sp>
        <p:nvSpPr>
          <p:cNvPr id="5" name="Text 3"/>
          <p:cNvSpPr/>
          <p:nvPr/>
        </p:nvSpPr>
        <p:spPr>
          <a:xfrm>
            <a:off x="2147293" y="1248370"/>
            <a:ext cx="4616549" cy="798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2"/>
              </a:lnSpc>
            </a:pPr>
            <a:endParaRPr lang="en-US" sz="958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D2F15973-6AD3-4DE7-B6AC-793B9912B9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5142"/>
          <a:stretch/>
        </p:blipFill>
        <p:spPr>
          <a:xfrm>
            <a:off x="7996351" y="2236600"/>
            <a:ext cx="3232479" cy="2525185"/>
          </a:xfrm>
          <a:prstGeom prst="rect">
            <a:avLst/>
          </a:prstGeom>
        </p:spPr>
      </p:pic>
      <p:grpSp>
        <p:nvGrpSpPr>
          <p:cNvPr id="26" name="Grupo 25">
            <a:extLst>
              <a:ext uri="{FF2B5EF4-FFF2-40B4-BE49-F238E27FC236}">
                <a16:creationId xmlns:a16="http://schemas.microsoft.com/office/drawing/2014/main" id="{646DBE5A-17C5-43F4-BD86-986B89F0D737}"/>
              </a:ext>
            </a:extLst>
          </p:cNvPr>
          <p:cNvGrpSpPr/>
          <p:nvPr/>
        </p:nvGrpSpPr>
        <p:grpSpPr>
          <a:xfrm>
            <a:off x="497520" y="309240"/>
            <a:ext cx="10950768" cy="1452600"/>
            <a:chOff x="497520" y="309240"/>
            <a:chExt cx="10734480" cy="1452600"/>
          </a:xfrm>
        </p:grpSpPr>
        <p:grpSp>
          <p:nvGrpSpPr>
            <p:cNvPr id="27" name="Grupo 26">
              <a:extLst>
                <a:ext uri="{FF2B5EF4-FFF2-40B4-BE49-F238E27FC236}">
                  <a16:creationId xmlns:a16="http://schemas.microsoft.com/office/drawing/2014/main" id="{2475B91B-52BF-4C65-AA5A-E77090CECCCE}"/>
                </a:ext>
              </a:extLst>
            </p:cNvPr>
            <p:cNvGrpSpPr/>
            <p:nvPr/>
          </p:nvGrpSpPr>
          <p:grpSpPr>
            <a:xfrm>
              <a:off x="497520" y="309240"/>
              <a:ext cx="10734480" cy="1325160"/>
              <a:chOff x="497520" y="309240"/>
              <a:chExt cx="10734480" cy="1325160"/>
            </a:xfrm>
          </p:grpSpPr>
          <p:sp>
            <p:nvSpPr>
              <p:cNvPr id="29" name="PlaceHolder 1">
                <a:extLst>
                  <a:ext uri="{FF2B5EF4-FFF2-40B4-BE49-F238E27FC236}">
                    <a16:creationId xmlns:a16="http://schemas.microsoft.com/office/drawing/2014/main" id="{A6679642-B201-45DD-92C9-184D965732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760" y="309240"/>
                <a:ext cx="10515240" cy="13251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tabLst>
                    <a:tab pos="0" algn="l"/>
                  </a:tabLst>
                </a:pPr>
                <a:r>
                  <a:rPr lang="en-US" sz="4400" dirty="0" err="1">
                    <a:solidFill>
                      <a:schemeClr val="bg1"/>
                    </a:solidFill>
                    <a:latin typeface="Mona Sans Semi Bold" pitchFamily="34" charset="0"/>
                    <a:ea typeface="Mona Sans Semi Bold" pitchFamily="34" charset="-122"/>
                    <a:cs typeface="Mona Sans Semi Bold" pitchFamily="34" charset="-120"/>
                  </a:rPr>
                  <a:t>Definición</a:t>
                </a:r>
                <a:endParaRPr lang="es-ES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0" name="Google Shape;93;p2">
                <a:extLst>
                  <a:ext uri="{FF2B5EF4-FFF2-40B4-BE49-F238E27FC236}">
                    <a16:creationId xmlns:a16="http://schemas.microsoft.com/office/drawing/2014/main" id="{2AB6D474-BA3E-4767-AA68-A56A31665F20}"/>
                  </a:ext>
                </a:extLst>
              </p:cNvPr>
              <p:cNvSpPr/>
              <p:nvPr/>
            </p:nvSpPr>
            <p:spPr>
              <a:xfrm>
                <a:off x="497520" y="763200"/>
                <a:ext cx="89640" cy="654120"/>
              </a:xfrm>
              <a:prstGeom prst="rect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s-ES" sz="1800" b="0" strike="noStrike" spc="-1">
                  <a:solidFill>
                    <a:schemeClr val="lt1"/>
                  </a:solidFill>
                  <a:latin typeface="Calibri"/>
                  <a:ea typeface="Calibri"/>
                </a:endParaRPr>
              </a:p>
            </p:txBody>
          </p:sp>
        </p:grpSp>
        <p:sp>
          <p:nvSpPr>
            <p:cNvPr id="28" name="PlaceHolder 2">
              <a:extLst>
                <a:ext uri="{FF2B5EF4-FFF2-40B4-BE49-F238E27FC236}">
                  <a16:creationId xmlns:a16="http://schemas.microsoft.com/office/drawing/2014/main" id="{25EE9206-BD6C-4312-AF2E-ECCA1E408A2B}"/>
                </a:ext>
              </a:extLst>
            </p:cNvPr>
            <p:cNvSpPr txBox="1">
              <a:spLocks/>
            </p:cNvSpPr>
            <p:nvPr/>
          </p:nvSpPr>
          <p:spPr>
            <a:xfrm>
              <a:off x="716760" y="1283040"/>
              <a:ext cx="5487480" cy="4788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45720" rIns="91440" bIns="4572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sz="1800" i="1" spc="-1" dirty="0">
                  <a:solidFill>
                    <a:srgbClr val="D8D8D8"/>
                  </a:solidFill>
                  <a:latin typeface="Calibri"/>
                  <a:ea typeface="Calibri"/>
                </a:rPr>
                <a:t>Agile: Un Enfoque, no una Metodología Rígida</a:t>
              </a:r>
            </a:p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800" i="1" spc="-1" dirty="0">
                <a:solidFill>
                  <a:srgbClr val="D8D8D8"/>
                </a:solidFill>
                <a:latin typeface="Calibri"/>
                <a:ea typeface="Calibri"/>
              </a:endParaRPr>
            </a:p>
            <a:p>
              <a:pPr indent="0">
                <a:buFont typeface="Arial" panose="020B0604020202020204" pitchFamily="34" charset="0"/>
                <a:buNone/>
                <a:tabLst>
                  <a:tab pos="0" algn="l"/>
                </a:tabLst>
              </a:pPr>
              <a:endParaRPr lang="es-ES" sz="1800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4" name="Text 3">
            <a:extLst>
              <a:ext uri="{FF2B5EF4-FFF2-40B4-BE49-F238E27FC236}">
                <a16:creationId xmlns:a16="http://schemas.microsoft.com/office/drawing/2014/main" id="{4073D517-B414-45F9-A428-68A48BE48262}"/>
              </a:ext>
            </a:extLst>
          </p:cNvPr>
          <p:cNvSpPr/>
          <p:nvPr/>
        </p:nvSpPr>
        <p:spPr>
          <a:xfrm>
            <a:off x="497519" y="2041922"/>
            <a:ext cx="6860803" cy="1231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E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Agile no es una metodología prescriptiva con reglas fijas, sino un enfoque de </a:t>
            </a:r>
            <a:r>
              <a:rPr lang="es-ES" sz="1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trabajo adaptable basado en principios y valores</a:t>
            </a:r>
            <a:r>
              <a:rPr lang="es-E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Aunque nació en el desarrollo de software, Agile es aplicable a muchos contextos, pero su efectividad depende del tipo de problema, del grado de incertidumbre y de la capacidad real de iterar con feedback.</a:t>
            </a:r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A9544AEE-9C7A-468B-9AE2-38689576B6C2}"/>
              </a:ext>
            </a:extLst>
          </p:cNvPr>
          <p:cNvGrpSpPr/>
          <p:nvPr/>
        </p:nvGrpSpPr>
        <p:grpSpPr>
          <a:xfrm>
            <a:off x="497520" y="5227262"/>
            <a:ext cx="11033064" cy="662583"/>
            <a:chOff x="2249785" y="5206802"/>
            <a:chExt cx="9800653" cy="662583"/>
          </a:xfrm>
        </p:grpSpPr>
        <p:sp>
          <p:nvSpPr>
            <p:cNvPr id="39" name="Text 7">
              <a:extLst>
                <a:ext uri="{FF2B5EF4-FFF2-40B4-BE49-F238E27FC236}">
                  <a16:creationId xmlns:a16="http://schemas.microsoft.com/office/drawing/2014/main" id="{AF04A190-CA89-4962-886F-2A3F2778EF89}"/>
                </a:ext>
              </a:extLst>
            </p:cNvPr>
            <p:cNvSpPr/>
            <p:nvPr/>
          </p:nvSpPr>
          <p:spPr>
            <a:xfrm>
              <a:off x="2432150" y="5343525"/>
              <a:ext cx="9618288" cy="3891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b="1" dirty="0">
                  <a:solidFill>
                    <a:srgbClr val="FF33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En Data Science</a:t>
              </a:r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, </a:t>
              </a:r>
              <a:r>
                <a:rPr lang="es-E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Agile nos permite "fallar pronto", identificando problemas y pivotes a tiempo. Este enfoque ahorra tiempo y costes significativos, optimizando la inversión en proyectos de datos.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40" name="Shape 8">
              <a:extLst>
                <a:ext uri="{FF2B5EF4-FFF2-40B4-BE49-F238E27FC236}">
                  <a16:creationId xmlns:a16="http://schemas.microsoft.com/office/drawing/2014/main" id="{697F5F67-1F2F-4767-B7AE-58AB96468074}"/>
                </a:ext>
              </a:extLst>
            </p:cNvPr>
            <p:cNvSpPr/>
            <p:nvPr/>
          </p:nvSpPr>
          <p:spPr>
            <a:xfrm>
              <a:off x="2249785" y="5206802"/>
              <a:ext cx="12700" cy="662583"/>
            </a:xfrm>
            <a:prstGeom prst="rect">
              <a:avLst/>
            </a:prstGeom>
            <a:solidFill>
              <a:srgbClr val="373B48"/>
            </a:solidFill>
            <a:ln/>
          </p:spPr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9AE04C27-A473-4A07-B8D1-0FA023A78941}"/>
              </a:ext>
            </a:extLst>
          </p:cNvPr>
          <p:cNvGrpSpPr/>
          <p:nvPr/>
        </p:nvGrpSpPr>
        <p:grpSpPr>
          <a:xfrm>
            <a:off x="699414" y="3492201"/>
            <a:ext cx="6176518" cy="1281113"/>
            <a:chOff x="699414" y="3357728"/>
            <a:chExt cx="6176518" cy="1281113"/>
          </a:xfrm>
        </p:grpSpPr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44C717DC-74A1-4DF1-A182-A5F3CCCB183C}"/>
                </a:ext>
              </a:extLst>
            </p:cNvPr>
            <p:cNvGrpSpPr/>
            <p:nvPr/>
          </p:nvGrpSpPr>
          <p:grpSpPr>
            <a:xfrm>
              <a:off x="699414" y="3357728"/>
              <a:ext cx="3085007" cy="1281113"/>
              <a:chOff x="502189" y="3241187"/>
              <a:chExt cx="3085007" cy="1281113"/>
            </a:xfrm>
          </p:grpSpPr>
          <p:grpSp>
            <p:nvGrpSpPr>
              <p:cNvPr id="32" name="Grupo 31">
                <a:extLst>
                  <a:ext uri="{FF2B5EF4-FFF2-40B4-BE49-F238E27FC236}">
                    <a16:creationId xmlns:a16="http://schemas.microsoft.com/office/drawing/2014/main" id="{D959BE4E-CDAC-48E9-AE18-320EBB0658AA}"/>
                  </a:ext>
                </a:extLst>
              </p:cNvPr>
              <p:cNvGrpSpPr/>
              <p:nvPr/>
            </p:nvGrpSpPr>
            <p:grpSpPr>
              <a:xfrm>
                <a:off x="502189" y="3241187"/>
                <a:ext cx="3085007" cy="1281113"/>
                <a:chOff x="2147293" y="2187278"/>
                <a:chExt cx="4616549" cy="1281113"/>
              </a:xfrm>
            </p:grpSpPr>
            <p:sp>
              <p:nvSpPr>
                <p:cNvPr id="6" name="Shape 4"/>
                <p:cNvSpPr/>
                <p:nvPr/>
              </p:nvSpPr>
              <p:spPr>
                <a:xfrm>
                  <a:off x="2147293" y="2187278"/>
                  <a:ext cx="4616549" cy="1281113"/>
                </a:xfrm>
                <a:prstGeom prst="roundRect">
                  <a:avLst>
                    <a:gd name="adj" fmla="val 4093"/>
                  </a:avLst>
                </a:prstGeom>
                <a:solidFill>
                  <a:srgbClr val="FFFFFF">
                    <a:alpha val="95000"/>
                  </a:srgbClr>
                </a:solidFill>
                <a:ln w="15240">
                  <a:solidFill>
                    <a:srgbClr val="C8CACF"/>
                  </a:solidFill>
                  <a:prstDash val="solid"/>
                </a:ln>
              </p:spPr>
            </p:sp>
            <p:sp>
              <p:nvSpPr>
                <p:cNvPr id="7" name="Text 5"/>
                <p:cNvSpPr/>
                <p:nvPr/>
              </p:nvSpPr>
              <p:spPr>
                <a:xfrm>
                  <a:off x="2284810" y="2324795"/>
                  <a:ext cx="1560711" cy="195064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>
                    <a:lnSpc>
                      <a:spcPts val="1500"/>
                    </a:lnSpc>
                  </a:pPr>
                  <a:r>
                    <a:rPr lang="en-US" sz="1208" dirty="0">
                      <a:solidFill>
                        <a:srgbClr val="52586B"/>
                      </a:solidFill>
                      <a:latin typeface="Mona Sans Semi Bold" pitchFamily="34" charset="0"/>
                      <a:ea typeface="Mona Sans Semi Bold" pitchFamily="34" charset="-122"/>
                      <a:cs typeface="Mona Sans Semi Bold" pitchFamily="34" charset="-120"/>
                    </a:rPr>
                    <a:t>Qué es Agile</a:t>
                  </a:r>
                  <a:endParaRPr lang="en-US" sz="1208" dirty="0"/>
                </a:p>
              </p:txBody>
            </p:sp>
            <p:sp>
              <p:nvSpPr>
                <p:cNvPr id="8" name="Text 6"/>
                <p:cNvSpPr/>
                <p:nvPr/>
              </p:nvSpPr>
              <p:spPr>
                <a:xfrm>
                  <a:off x="2284809" y="2644676"/>
                  <a:ext cx="4341515" cy="199628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285739" indent="-285739">
                    <a:lnSpc>
                      <a:spcPts val="1542"/>
                    </a:lnSpc>
                    <a:buSzPct val="100000"/>
                    <a:buChar char="•"/>
                  </a:pPr>
                  <a:r>
                    <a:rPr lang="en-US" sz="958" dirty="0">
                      <a:solidFill>
                        <a:srgbClr val="52586B"/>
                      </a:solidFill>
                      <a:latin typeface="Funnel Sans" pitchFamily="34" charset="0"/>
                      <a:ea typeface="Funnel Sans" pitchFamily="34" charset="-122"/>
                      <a:cs typeface="Funnel Sans" pitchFamily="34" charset="-120"/>
                    </a:rPr>
                    <a:t>Conjunto de principios y valores.</a:t>
                  </a:r>
                  <a:endParaRPr lang="en-US" sz="958" dirty="0"/>
                </a:p>
              </p:txBody>
            </p:sp>
            <p:sp>
              <p:nvSpPr>
                <p:cNvPr id="9" name="Text 7"/>
                <p:cNvSpPr/>
                <p:nvPr/>
              </p:nvSpPr>
              <p:spPr>
                <a:xfrm>
                  <a:off x="2284809" y="2887960"/>
                  <a:ext cx="4341515" cy="199628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285739" indent="-285739">
                    <a:lnSpc>
                      <a:spcPts val="1542"/>
                    </a:lnSpc>
                    <a:buSzPct val="100000"/>
                    <a:buChar char="•"/>
                  </a:pPr>
                  <a:r>
                    <a:rPr lang="en-US" sz="958" dirty="0">
                      <a:solidFill>
                        <a:srgbClr val="52586B"/>
                      </a:solidFill>
                      <a:latin typeface="Funnel Sans" pitchFamily="34" charset="0"/>
                      <a:ea typeface="Funnel Sans" pitchFamily="34" charset="-122"/>
                      <a:cs typeface="Funnel Sans" pitchFamily="34" charset="-120"/>
                    </a:rPr>
                    <a:t>Enfoque adaptable y centrado en el valor.</a:t>
                  </a:r>
                  <a:endParaRPr lang="en-US" sz="958" dirty="0"/>
                </a:p>
              </p:txBody>
            </p:sp>
            <p:sp>
              <p:nvSpPr>
                <p:cNvPr id="10" name="Text 8"/>
                <p:cNvSpPr/>
                <p:nvPr/>
              </p:nvSpPr>
              <p:spPr>
                <a:xfrm>
                  <a:off x="2284809" y="3131244"/>
                  <a:ext cx="4341515" cy="199628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285739" indent="-285739">
                    <a:lnSpc>
                      <a:spcPts val="1542"/>
                    </a:lnSpc>
                    <a:buSzPct val="100000"/>
                    <a:buChar char="•"/>
                  </a:pPr>
                  <a:r>
                    <a:rPr lang="en-US" sz="958" dirty="0">
                      <a:solidFill>
                        <a:srgbClr val="52586B"/>
                      </a:solidFill>
                      <a:latin typeface="Funnel Sans" pitchFamily="34" charset="0"/>
                      <a:ea typeface="Funnel Sans" pitchFamily="34" charset="-122"/>
                      <a:cs typeface="Funnel Sans" pitchFamily="34" charset="-120"/>
                    </a:rPr>
                    <a:t>Fomenta la colaboración y la mejora continua.</a:t>
                  </a:r>
                  <a:endParaRPr lang="en-US" sz="958" dirty="0"/>
                </a:p>
              </p:txBody>
            </p:sp>
          </p:grpSp>
          <p:pic>
            <p:nvPicPr>
              <p:cNvPr id="50" name="Imagen 49">
                <a:extLst>
                  <a:ext uri="{FF2B5EF4-FFF2-40B4-BE49-F238E27FC236}">
                    <a16:creationId xmlns:a16="http://schemas.microsoft.com/office/drawing/2014/main" id="{D9B7889F-F106-4987-B632-58F07E8237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3143961" y="3295783"/>
                <a:ext cx="358028" cy="351199"/>
              </a:xfrm>
              <a:prstGeom prst="rect">
                <a:avLst/>
              </a:prstGeom>
            </p:spPr>
          </p:pic>
        </p:grpSp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497BD380-0E64-4573-8105-6ED2DB47534F}"/>
                </a:ext>
              </a:extLst>
            </p:cNvPr>
            <p:cNvGrpSpPr/>
            <p:nvPr/>
          </p:nvGrpSpPr>
          <p:grpSpPr>
            <a:xfrm>
              <a:off x="3919596" y="3357728"/>
              <a:ext cx="2956336" cy="1281113"/>
              <a:chOff x="3722371" y="3241187"/>
              <a:chExt cx="2956336" cy="1281113"/>
            </a:xfrm>
          </p:grpSpPr>
          <p:grpSp>
            <p:nvGrpSpPr>
              <p:cNvPr id="33" name="Grupo 32">
                <a:extLst>
                  <a:ext uri="{FF2B5EF4-FFF2-40B4-BE49-F238E27FC236}">
                    <a16:creationId xmlns:a16="http://schemas.microsoft.com/office/drawing/2014/main" id="{B78BA38F-17E9-474B-98D5-EED25543B5CD}"/>
                  </a:ext>
                </a:extLst>
              </p:cNvPr>
              <p:cNvGrpSpPr/>
              <p:nvPr/>
            </p:nvGrpSpPr>
            <p:grpSpPr>
              <a:xfrm>
                <a:off x="3722371" y="3241187"/>
                <a:ext cx="2956336" cy="1281113"/>
                <a:chOff x="2147293" y="3593207"/>
                <a:chExt cx="4616549" cy="1281113"/>
              </a:xfrm>
            </p:grpSpPr>
            <p:sp>
              <p:nvSpPr>
                <p:cNvPr id="11" name="Shape 9"/>
                <p:cNvSpPr/>
                <p:nvPr/>
              </p:nvSpPr>
              <p:spPr>
                <a:xfrm>
                  <a:off x="2147293" y="3593207"/>
                  <a:ext cx="4616549" cy="1281113"/>
                </a:xfrm>
                <a:prstGeom prst="roundRect">
                  <a:avLst>
                    <a:gd name="adj" fmla="val 4093"/>
                  </a:avLst>
                </a:prstGeom>
                <a:solidFill>
                  <a:srgbClr val="FFFFFF">
                    <a:alpha val="95000"/>
                  </a:srgbClr>
                </a:solidFill>
                <a:ln w="15240">
                  <a:solidFill>
                    <a:srgbClr val="C8CACF"/>
                  </a:solidFill>
                  <a:prstDash val="solid"/>
                </a:ln>
              </p:spPr>
            </p:sp>
            <p:sp>
              <p:nvSpPr>
                <p:cNvPr id="12" name="Text 10"/>
                <p:cNvSpPr/>
                <p:nvPr/>
              </p:nvSpPr>
              <p:spPr>
                <a:xfrm>
                  <a:off x="2284810" y="3730725"/>
                  <a:ext cx="1560711" cy="195064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>
                    <a:lnSpc>
                      <a:spcPts val="1500"/>
                    </a:lnSpc>
                  </a:pPr>
                  <a:r>
                    <a:rPr lang="en-US" sz="1208" dirty="0">
                      <a:solidFill>
                        <a:srgbClr val="52586B"/>
                      </a:solidFill>
                      <a:latin typeface="Mona Sans Semi Bold" pitchFamily="34" charset="0"/>
                      <a:ea typeface="Mona Sans Semi Bold" pitchFamily="34" charset="-122"/>
                      <a:cs typeface="Mona Sans Semi Bold" pitchFamily="34" charset="-120"/>
                    </a:rPr>
                    <a:t>Qué NO es Agile</a:t>
                  </a:r>
                  <a:endParaRPr lang="en-US" sz="1208" dirty="0"/>
                </a:p>
              </p:txBody>
            </p:sp>
            <p:sp>
              <p:nvSpPr>
                <p:cNvPr id="13" name="Text 11"/>
                <p:cNvSpPr/>
                <p:nvPr/>
              </p:nvSpPr>
              <p:spPr>
                <a:xfrm>
                  <a:off x="2284809" y="4050606"/>
                  <a:ext cx="4341515" cy="199628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285739" indent="-285739">
                    <a:lnSpc>
                      <a:spcPts val="1542"/>
                    </a:lnSpc>
                    <a:buSzPct val="100000"/>
                    <a:buChar char="•"/>
                  </a:pPr>
                  <a:r>
                    <a:rPr lang="en-US" sz="958" dirty="0">
                      <a:solidFill>
                        <a:srgbClr val="52586B"/>
                      </a:solidFill>
                      <a:latin typeface="Funnel Sans" pitchFamily="34" charset="0"/>
                      <a:ea typeface="Funnel Sans" pitchFamily="34" charset="-122"/>
                      <a:cs typeface="Funnel Sans" pitchFamily="34" charset="-120"/>
                    </a:rPr>
                    <a:t>Una metodología rígida con pasos fijos.</a:t>
                  </a:r>
                  <a:endParaRPr lang="en-US" sz="958" dirty="0"/>
                </a:p>
              </p:txBody>
            </p:sp>
            <p:sp>
              <p:nvSpPr>
                <p:cNvPr id="14" name="Text 12"/>
                <p:cNvSpPr/>
                <p:nvPr/>
              </p:nvSpPr>
              <p:spPr>
                <a:xfrm>
                  <a:off x="2284809" y="4293890"/>
                  <a:ext cx="4341515" cy="199628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285739" indent="-285739">
                    <a:lnSpc>
                      <a:spcPts val="1542"/>
                    </a:lnSpc>
                    <a:buSzPct val="100000"/>
                    <a:buChar char="•"/>
                  </a:pPr>
                  <a:r>
                    <a:rPr lang="en-US" sz="958" dirty="0">
                      <a:solidFill>
                        <a:srgbClr val="52586B"/>
                      </a:solidFill>
                      <a:latin typeface="Funnel Sans" pitchFamily="34" charset="0"/>
                      <a:ea typeface="Funnel Sans" pitchFamily="34" charset="-122"/>
                      <a:cs typeface="Funnel Sans" pitchFamily="34" charset="-120"/>
                    </a:rPr>
                    <a:t>Sin planificación ni documentación.</a:t>
                  </a:r>
                  <a:endParaRPr lang="en-US" sz="958" dirty="0"/>
                </a:p>
              </p:txBody>
            </p:sp>
            <p:sp>
              <p:nvSpPr>
                <p:cNvPr id="15" name="Text 13"/>
                <p:cNvSpPr/>
                <p:nvPr/>
              </p:nvSpPr>
              <p:spPr>
                <a:xfrm>
                  <a:off x="2284809" y="4537174"/>
                  <a:ext cx="4341515" cy="199628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285739" indent="-285739">
                    <a:lnSpc>
                      <a:spcPts val="1542"/>
                    </a:lnSpc>
                    <a:buSzPct val="100000"/>
                    <a:buChar char="•"/>
                  </a:pPr>
                  <a:r>
                    <a:rPr lang="en-US" sz="958" dirty="0">
                      <a:solidFill>
                        <a:srgbClr val="52586B"/>
                      </a:solidFill>
                      <a:latin typeface="Funnel Sans" pitchFamily="34" charset="0"/>
                      <a:ea typeface="Funnel Sans" pitchFamily="34" charset="-122"/>
                      <a:cs typeface="Funnel Sans" pitchFamily="34" charset="-120"/>
                    </a:rPr>
                    <a:t>Una excusa para el caos o la falta de rigor.</a:t>
                  </a:r>
                  <a:endParaRPr lang="en-US" sz="958" dirty="0"/>
                </a:p>
              </p:txBody>
            </p:sp>
          </p:grpSp>
          <p:pic>
            <p:nvPicPr>
              <p:cNvPr id="52" name="Imagen 51">
                <a:extLst>
                  <a:ext uri="{FF2B5EF4-FFF2-40B4-BE49-F238E27FC236}">
                    <a16:creationId xmlns:a16="http://schemas.microsoft.com/office/drawing/2014/main" id="{E51EE7B4-0010-459C-A289-65506B1989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7"/>
                  </a:ext>
                </a:extLst>
              </a:blip>
              <a:stretch>
                <a:fillRect/>
              </a:stretch>
            </p:blipFill>
            <p:spPr>
              <a:xfrm>
                <a:off x="6302676" y="3295783"/>
                <a:ext cx="318101" cy="318101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11732" y="4577842"/>
            <a:ext cx="10246320" cy="518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499096" y="5925940"/>
            <a:ext cx="9558139" cy="259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endParaRPr lang="en-US" sz="1250" dirty="0"/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AEAED87B-66AB-499E-929C-ED6AEBCDC63E}"/>
              </a:ext>
            </a:extLst>
          </p:cNvPr>
          <p:cNvGrpSpPr/>
          <p:nvPr/>
        </p:nvGrpSpPr>
        <p:grpSpPr>
          <a:xfrm>
            <a:off x="497520" y="5227262"/>
            <a:ext cx="11294701" cy="957837"/>
            <a:chOff x="2249785" y="5206802"/>
            <a:chExt cx="10033064" cy="957837"/>
          </a:xfrm>
        </p:grpSpPr>
        <p:sp>
          <p:nvSpPr>
            <p:cNvPr id="40" name="Text 7">
              <a:extLst>
                <a:ext uri="{FF2B5EF4-FFF2-40B4-BE49-F238E27FC236}">
                  <a16:creationId xmlns:a16="http://schemas.microsoft.com/office/drawing/2014/main" id="{8FB8254F-3095-424E-A718-C87EB775A62C}"/>
                </a:ext>
              </a:extLst>
            </p:cNvPr>
            <p:cNvSpPr/>
            <p:nvPr/>
          </p:nvSpPr>
          <p:spPr>
            <a:xfrm>
              <a:off x="2432150" y="5343525"/>
              <a:ext cx="9850699" cy="8211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b="1" dirty="0">
                  <a:solidFill>
                    <a:srgbClr val="FF33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En Data Science</a:t>
              </a:r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, </a:t>
              </a:r>
              <a:r>
                <a:rPr lang="es-E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un </a:t>
              </a:r>
              <a:r>
                <a:rPr lang="es-ES" dirty="0" err="1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insight</a:t>
              </a:r>
              <a:r>
                <a:rPr lang="es-E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útil entregado rápidamente es mucho más valioso que un modelo extremadamente complejo y perfectamente documentado que llega tarde. La conversación continua con las áreas de negocio es la clave para asegurar que nuestro trabajo genera impacto real.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41" name="Shape 8">
              <a:extLst>
                <a:ext uri="{FF2B5EF4-FFF2-40B4-BE49-F238E27FC236}">
                  <a16:creationId xmlns:a16="http://schemas.microsoft.com/office/drawing/2014/main" id="{4815371F-FC4F-4344-BAB5-7F843CDA693E}"/>
                </a:ext>
              </a:extLst>
            </p:cNvPr>
            <p:cNvSpPr/>
            <p:nvPr/>
          </p:nvSpPr>
          <p:spPr>
            <a:xfrm>
              <a:off x="2249785" y="5206802"/>
              <a:ext cx="12700" cy="662583"/>
            </a:xfrm>
            <a:prstGeom prst="rect">
              <a:avLst/>
            </a:prstGeom>
            <a:solidFill>
              <a:srgbClr val="373B48"/>
            </a:solidFill>
            <a:ln/>
          </p:spPr>
        </p:sp>
      </p:grpSp>
      <p:pic>
        <p:nvPicPr>
          <p:cNvPr id="43" name="Imagen 42">
            <a:extLst>
              <a:ext uri="{FF2B5EF4-FFF2-40B4-BE49-F238E27FC236}">
                <a16:creationId xmlns:a16="http://schemas.microsoft.com/office/drawing/2014/main" id="{C51E6CFD-4A41-4F29-8886-BF84EAAF6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494" y="170971"/>
            <a:ext cx="3483325" cy="4946020"/>
          </a:xfrm>
          <a:prstGeom prst="rect">
            <a:avLst/>
          </a:prstGeom>
        </p:spPr>
      </p:pic>
      <p:grpSp>
        <p:nvGrpSpPr>
          <p:cNvPr id="45" name="Grupo 44">
            <a:extLst>
              <a:ext uri="{FF2B5EF4-FFF2-40B4-BE49-F238E27FC236}">
                <a16:creationId xmlns:a16="http://schemas.microsoft.com/office/drawing/2014/main" id="{6D8DE2E9-D8F6-4D6A-9FD2-8E95B63F49CB}"/>
              </a:ext>
            </a:extLst>
          </p:cNvPr>
          <p:cNvGrpSpPr/>
          <p:nvPr/>
        </p:nvGrpSpPr>
        <p:grpSpPr>
          <a:xfrm>
            <a:off x="497520" y="309240"/>
            <a:ext cx="10950768" cy="1452600"/>
            <a:chOff x="497520" y="309240"/>
            <a:chExt cx="10734480" cy="1452600"/>
          </a:xfrm>
        </p:grpSpPr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23AFD6EB-7075-40B2-AEA1-5F434B85B24B}"/>
                </a:ext>
              </a:extLst>
            </p:cNvPr>
            <p:cNvGrpSpPr/>
            <p:nvPr/>
          </p:nvGrpSpPr>
          <p:grpSpPr>
            <a:xfrm>
              <a:off x="497520" y="309240"/>
              <a:ext cx="10734480" cy="1325160"/>
              <a:chOff x="497520" y="309240"/>
              <a:chExt cx="10734480" cy="1325160"/>
            </a:xfrm>
          </p:grpSpPr>
          <p:sp>
            <p:nvSpPr>
              <p:cNvPr id="48" name="PlaceHolder 1">
                <a:extLst>
                  <a:ext uri="{FF2B5EF4-FFF2-40B4-BE49-F238E27FC236}">
                    <a16:creationId xmlns:a16="http://schemas.microsoft.com/office/drawing/2014/main" id="{AB0C689B-7B81-48E4-85EF-EC17A16CCA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760" y="309240"/>
                <a:ext cx="10515240" cy="13251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tabLst>
                    <a:tab pos="0" algn="l"/>
                  </a:tabLst>
                </a:pPr>
                <a:r>
                  <a:rPr lang="en-US" sz="4400" dirty="0" err="1">
                    <a:solidFill>
                      <a:schemeClr val="bg1"/>
                    </a:solidFill>
                    <a:latin typeface="Mona Sans Semi Bold" pitchFamily="34" charset="0"/>
                    <a:ea typeface="Mona Sans Semi Bold" pitchFamily="34" charset="-122"/>
                    <a:cs typeface="Mona Sans Semi Bold" pitchFamily="34" charset="-120"/>
                  </a:rPr>
                  <a:t>Fundamentos</a:t>
                </a:r>
                <a:endParaRPr lang="es-ES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" name="Google Shape;93;p2">
                <a:extLst>
                  <a:ext uri="{FF2B5EF4-FFF2-40B4-BE49-F238E27FC236}">
                    <a16:creationId xmlns:a16="http://schemas.microsoft.com/office/drawing/2014/main" id="{43AF5EDF-F719-43C5-9DBD-14CCB7626C10}"/>
                  </a:ext>
                </a:extLst>
              </p:cNvPr>
              <p:cNvSpPr/>
              <p:nvPr/>
            </p:nvSpPr>
            <p:spPr>
              <a:xfrm>
                <a:off x="497520" y="763200"/>
                <a:ext cx="89640" cy="654120"/>
              </a:xfrm>
              <a:prstGeom prst="rect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s-ES" sz="1800" b="0" strike="noStrike" spc="-1">
                  <a:solidFill>
                    <a:schemeClr val="lt1"/>
                  </a:solidFill>
                  <a:latin typeface="Calibri"/>
                  <a:ea typeface="Calibri"/>
                </a:endParaRPr>
              </a:p>
            </p:txBody>
          </p:sp>
        </p:grpSp>
        <p:sp>
          <p:nvSpPr>
            <p:cNvPr id="47" name="PlaceHolder 2">
              <a:extLst>
                <a:ext uri="{FF2B5EF4-FFF2-40B4-BE49-F238E27FC236}">
                  <a16:creationId xmlns:a16="http://schemas.microsoft.com/office/drawing/2014/main" id="{3FEC193F-EF02-4547-8377-CDA0CF17DDF5}"/>
                </a:ext>
              </a:extLst>
            </p:cNvPr>
            <p:cNvSpPr txBox="1">
              <a:spLocks/>
            </p:cNvSpPr>
            <p:nvPr/>
          </p:nvSpPr>
          <p:spPr>
            <a:xfrm>
              <a:off x="716760" y="1283040"/>
              <a:ext cx="5487480" cy="4788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45720" rIns="91440" bIns="4572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sz="1800" i="1" spc="-1" dirty="0">
                  <a:solidFill>
                    <a:srgbClr val="D8D8D8"/>
                  </a:solidFill>
                  <a:latin typeface="Calibri"/>
                  <a:ea typeface="Calibri"/>
                </a:rPr>
                <a:t>Corazón de Agile: Cuatro Valores Clave</a:t>
              </a:r>
            </a:p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s-ES" sz="1800" i="1" spc="-1" dirty="0">
                <a:solidFill>
                  <a:srgbClr val="D8D8D8"/>
                </a:solidFill>
                <a:latin typeface="Calibri"/>
                <a:ea typeface="Calibri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800" i="1" spc="-1" dirty="0">
                <a:solidFill>
                  <a:srgbClr val="D8D8D8"/>
                </a:solidFill>
                <a:latin typeface="Calibri"/>
                <a:ea typeface="Calibri"/>
              </a:endParaRPr>
            </a:p>
            <a:p>
              <a:pPr indent="0">
                <a:buFont typeface="Arial" panose="020B0604020202020204" pitchFamily="34" charset="0"/>
                <a:buNone/>
                <a:tabLst>
                  <a:tab pos="0" algn="l"/>
                </a:tabLst>
              </a:pPr>
              <a:endParaRPr lang="es-ES" sz="1800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0" name="Google Shape;94;p2">
            <a:extLst>
              <a:ext uri="{FF2B5EF4-FFF2-40B4-BE49-F238E27FC236}">
                <a16:creationId xmlns:a16="http://schemas.microsoft.com/office/drawing/2014/main" id="{DB6F5425-7634-4C0A-B45E-AE164E2D294C}"/>
              </a:ext>
            </a:extLst>
          </p:cNvPr>
          <p:cNvSpPr/>
          <p:nvPr/>
        </p:nvSpPr>
        <p:spPr>
          <a:xfrm>
            <a:off x="2432287" y="2608200"/>
            <a:ext cx="4773735" cy="120032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algn="r">
              <a:tabLst>
                <a:tab pos="0" algn="l"/>
              </a:tabLst>
            </a:pPr>
            <a:r>
              <a:rPr lang="es-ES" i="1" spc="-1" dirty="0">
                <a:solidFill>
                  <a:schemeClr val="lt1"/>
                </a:solidFill>
                <a:latin typeface="Calibri"/>
                <a:ea typeface="Calibri"/>
              </a:rPr>
              <a:t>El Manifiesto Ágil, redactado en 2001, estableció cuatro pares de valores fundamentales que guían este enfoque, priorizando aquello que genera mayor impacto.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92" y="3692723"/>
            <a:ext cx="5525691" cy="304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endParaRPr lang="en-US" sz="1875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837445ED-8FAD-4522-AD25-9F6DA13D6180}"/>
              </a:ext>
            </a:extLst>
          </p:cNvPr>
          <p:cNvGrpSpPr/>
          <p:nvPr/>
        </p:nvGrpSpPr>
        <p:grpSpPr>
          <a:xfrm>
            <a:off x="497520" y="2041920"/>
            <a:ext cx="5507298" cy="2987278"/>
            <a:chOff x="2249785" y="1208186"/>
            <a:chExt cx="3800452" cy="2202617"/>
          </a:xfrm>
        </p:grpSpPr>
        <p:sp>
          <p:nvSpPr>
            <p:cNvPr id="5" name="Text 3"/>
            <p:cNvSpPr/>
            <p:nvPr/>
          </p:nvSpPr>
          <p:spPr>
            <a:xfrm>
              <a:off x="2249785" y="1208186"/>
              <a:ext cx="3800452" cy="6505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600" b="1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Agile es, ante todo, una cultura y una mentalidad </a:t>
              </a: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que impregna a todo el equipo. Reconoce que los equipos evolucionan y atraviesan diferentes fases, como describe el modelo de Tuckman:</a:t>
              </a:r>
            </a:p>
          </p:txBody>
        </p:sp>
        <p:sp>
          <p:nvSpPr>
            <p:cNvPr id="6" name="Text 4"/>
            <p:cNvSpPr/>
            <p:nvPr/>
          </p:nvSpPr>
          <p:spPr>
            <a:xfrm>
              <a:off x="2249785" y="1808790"/>
              <a:ext cx="3697883" cy="194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39" indent="-285739">
                <a:buSzPct val="100000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Formación (Forming)</a:t>
              </a:r>
            </a:p>
          </p:txBody>
        </p:sp>
        <p:sp>
          <p:nvSpPr>
            <p:cNvPr id="7" name="Text 5"/>
            <p:cNvSpPr/>
            <p:nvPr/>
          </p:nvSpPr>
          <p:spPr>
            <a:xfrm>
              <a:off x="2249785" y="2045921"/>
              <a:ext cx="3697883" cy="194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39" indent="-285739">
                <a:buSzPct val="100000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Turbulencia (Storming)</a:t>
              </a:r>
            </a:p>
          </p:txBody>
        </p:sp>
        <p:sp>
          <p:nvSpPr>
            <p:cNvPr id="8" name="Text 6"/>
            <p:cNvSpPr/>
            <p:nvPr/>
          </p:nvSpPr>
          <p:spPr>
            <a:xfrm>
              <a:off x="2249785" y="2283057"/>
              <a:ext cx="3697883" cy="194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39" indent="-285739">
                <a:buSzPct val="100000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Normalización (Norming)</a:t>
              </a:r>
            </a:p>
          </p:txBody>
        </p:sp>
        <p:sp>
          <p:nvSpPr>
            <p:cNvPr id="9" name="Text 7"/>
            <p:cNvSpPr/>
            <p:nvPr/>
          </p:nvSpPr>
          <p:spPr>
            <a:xfrm>
              <a:off x="2249785" y="2520189"/>
              <a:ext cx="3697883" cy="194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39" indent="-285739">
                <a:buSzPct val="100000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Desempeño (Performing)</a:t>
              </a:r>
            </a:p>
          </p:txBody>
        </p:sp>
        <p:sp>
          <p:nvSpPr>
            <p:cNvPr id="10" name="Text 8"/>
            <p:cNvSpPr/>
            <p:nvPr/>
          </p:nvSpPr>
          <p:spPr>
            <a:xfrm>
              <a:off x="2249785" y="2757321"/>
              <a:ext cx="3697883" cy="194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39" indent="-285739">
                <a:buSzPct val="100000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Disolución (Adjourning)</a:t>
              </a:r>
            </a:p>
          </p:txBody>
        </p:sp>
        <p:sp>
          <p:nvSpPr>
            <p:cNvPr id="11" name="Text 9"/>
            <p:cNvSpPr/>
            <p:nvPr/>
          </p:nvSpPr>
          <p:spPr>
            <a:xfrm>
              <a:off x="2249785" y="3021667"/>
              <a:ext cx="3697883" cy="3891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El objetivo no es buscar culpables, sino </a:t>
              </a:r>
              <a:r>
                <a:rPr lang="en-US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identificar y aplicar mejoras</a:t>
              </a: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continuas.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AE78A181-D11F-4F7A-AAD0-9F2F35FB5908}"/>
              </a:ext>
            </a:extLst>
          </p:cNvPr>
          <p:cNvGrpSpPr/>
          <p:nvPr/>
        </p:nvGrpSpPr>
        <p:grpSpPr>
          <a:xfrm>
            <a:off x="497520" y="309240"/>
            <a:ext cx="10950768" cy="1452600"/>
            <a:chOff x="497520" y="309240"/>
            <a:chExt cx="10734480" cy="1452600"/>
          </a:xfrm>
        </p:grpSpPr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981C3DCD-D934-4958-A309-21E6B9FF6669}"/>
                </a:ext>
              </a:extLst>
            </p:cNvPr>
            <p:cNvGrpSpPr/>
            <p:nvPr/>
          </p:nvGrpSpPr>
          <p:grpSpPr>
            <a:xfrm>
              <a:off x="497520" y="309240"/>
              <a:ext cx="10734480" cy="1325160"/>
              <a:chOff x="497520" y="309240"/>
              <a:chExt cx="10734480" cy="1325160"/>
            </a:xfrm>
          </p:grpSpPr>
          <p:sp>
            <p:nvSpPr>
              <p:cNvPr id="27" name="PlaceHolder 1">
                <a:extLst>
                  <a:ext uri="{FF2B5EF4-FFF2-40B4-BE49-F238E27FC236}">
                    <a16:creationId xmlns:a16="http://schemas.microsoft.com/office/drawing/2014/main" id="{604B97BB-BBAD-40EE-97A2-DD37426E5D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760" y="309240"/>
                <a:ext cx="10515240" cy="13251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tabLst>
                    <a:tab pos="0" algn="l"/>
                  </a:tabLst>
                </a:pPr>
                <a:r>
                  <a:rPr lang="en-US" sz="4400" dirty="0" err="1">
                    <a:solidFill>
                      <a:schemeClr val="bg1"/>
                    </a:solidFill>
                    <a:latin typeface="Mona Sans Semi Bold" pitchFamily="34" charset="0"/>
                    <a:ea typeface="Mona Sans Semi Bold" pitchFamily="34" charset="-122"/>
                    <a:cs typeface="Mona Sans Semi Bold" pitchFamily="34" charset="-120"/>
                  </a:rPr>
                  <a:t>Fundamentos</a:t>
                </a:r>
                <a:r>
                  <a:rPr lang="en-US" sz="4400" dirty="0">
                    <a:solidFill>
                      <a:schemeClr val="bg1"/>
                    </a:solidFill>
                    <a:latin typeface="Mona Sans Semi Bold" pitchFamily="34" charset="0"/>
                    <a:ea typeface="Mona Sans Semi Bold" pitchFamily="34" charset="-122"/>
                    <a:cs typeface="Mona Sans Semi Bold" pitchFamily="34" charset="-120"/>
                  </a:rPr>
                  <a:t> Agile</a:t>
                </a:r>
                <a:endParaRPr lang="es-ES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8" name="Google Shape;93;p2">
                <a:extLst>
                  <a:ext uri="{FF2B5EF4-FFF2-40B4-BE49-F238E27FC236}">
                    <a16:creationId xmlns:a16="http://schemas.microsoft.com/office/drawing/2014/main" id="{7D37C584-9CC0-4014-BB33-F82EB5BB7B42}"/>
                  </a:ext>
                </a:extLst>
              </p:cNvPr>
              <p:cNvSpPr/>
              <p:nvPr/>
            </p:nvSpPr>
            <p:spPr>
              <a:xfrm>
                <a:off x="497520" y="763200"/>
                <a:ext cx="89640" cy="654120"/>
              </a:xfrm>
              <a:prstGeom prst="rect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s-ES" sz="1800" b="0" strike="noStrike" spc="-1">
                  <a:solidFill>
                    <a:schemeClr val="lt1"/>
                  </a:solidFill>
                  <a:latin typeface="Calibri"/>
                  <a:ea typeface="Calibri"/>
                </a:endParaRPr>
              </a:p>
            </p:txBody>
          </p:sp>
        </p:grpSp>
        <p:sp>
          <p:nvSpPr>
            <p:cNvPr id="26" name="PlaceHolder 2">
              <a:extLst>
                <a:ext uri="{FF2B5EF4-FFF2-40B4-BE49-F238E27FC236}">
                  <a16:creationId xmlns:a16="http://schemas.microsoft.com/office/drawing/2014/main" id="{AFC2BEFD-EF14-4385-8EDA-AF46363C4654}"/>
                </a:ext>
              </a:extLst>
            </p:cNvPr>
            <p:cNvSpPr txBox="1">
              <a:spLocks/>
            </p:cNvSpPr>
            <p:nvPr/>
          </p:nvSpPr>
          <p:spPr>
            <a:xfrm>
              <a:off x="716760" y="1283040"/>
              <a:ext cx="5487480" cy="4788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45720" rIns="91440" bIns="4572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sz="1800" i="1" spc="-1" dirty="0">
                  <a:solidFill>
                    <a:srgbClr val="D8D8D8"/>
                  </a:solidFill>
                  <a:latin typeface="Calibri"/>
                  <a:ea typeface="Calibri"/>
                </a:rPr>
                <a:t>Trabajo en Equipo y Mentalidad de Crecimiento</a:t>
              </a:r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9D3F635C-0C4A-4ADF-9D1F-1C34F69EBF3D}"/>
              </a:ext>
            </a:extLst>
          </p:cNvPr>
          <p:cNvGrpSpPr/>
          <p:nvPr/>
        </p:nvGrpSpPr>
        <p:grpSpPr>
          <a:xfrm>
            <a:off x="6944655" y="6100459"/>
            <a:ext cx="5088849" cy="516632"/>
            <a:chOff x="2249785" y="6006107"/>
            <a:chExt cx="7692430" cy="516632"/>
          </a:xfrm>
        </p:grpSpPr>
        <p:sp>
          <p:nvSpPr>
            <p:cNvPr id="31" name="Shape 9">
              <a:extLst>
                <a:ext uri="{FF2B5EF4-FFF2-40B4-BE49-F238E27FC236}">
                  <a16:creationId xmlns:a16="http://schemas.microsoft.com/office/drawing/2014/main" id="{2322A5CE-2588-40EA-A3CD-2EF29763E6D4}"/>
                </a:ext>
              </a:extLst>
            </p:cNvPr>
            <p:cNvSpPr/>
            <p:nvPr/>
          </p:nvSpPr>
          <p:spPr>
            <a:xfrm>
              <a:off x="2249785" y="6006107"/>
              <a:ext cx="7692430" cy="516632"/>
            </a:xfrm>
            <a:prstGeom prst="roundRect">
              <a:avLst>
                <a:gd name="adj" fmla="val 9887"/>
              </a:avLst>
            </a:prstGeom>
            <a:solidFill>
              <a:srgbClr val="D4D6DE"/>
            </a:solidFill>
            <a:ln/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32" name="Image 1" descr="preencoded.png">
              <a:extLst>
                <a:ext uri="{FF2B5EF4-FFF2-40B4-BE49-F238E27FC236}">
                  <a16:creationId xmlns:a16="http://schemas.microsoft.com/office/drawing/2014/main" id="{CE76D29A-5C1B-4C1A-BFC7-674F377E8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29862" y="6133851"/>
              <a:ext cx="273545" cy="218729"/>
            </a:xfrm>
            <a:prstGeom prst="rect">
              <a:avLst/>
            </a:prstGeom>
          </p:spPr>
        </p:pic>
        <p:sp>
          <p:nvSpPr>
            <p:cNvPr id="33" name="Text 10">
              <a:extLst>
                <a:ext uri="{FF2B5EF4-FFF2-40B4-BE49-F238E27FC236}">
                  <a16:creationId xmlns:a16="http://schemas.microsoft.com/office/drawing/2014/main" id="{3A705021-2DCB-43C8-84A7-8DA23FBF6CDF}"/>
                </a:ext>
              </a:extLst>
            </p:cNvPr>
            <p:cNvSpPr/>
            <p:nvPr/>
          </p:nvSpPr>
          <p:spPr>
            <a:xfrm>
              <a:off x="2644874" y="6184370"/>
              <a:ext cx="7175797" cy="2861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500"/>
                </a:lnSpc>
              </a:pPr>
              <a:r>
                <a:rPr lang="en-US" sz="1600" dirty="0">
                  <a:solidFill>
                    <a:srgbClr val="0000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Tuckman, B. (1965) - </a:t>
              </a:r>
              <a:r>
                <a:rPr lang="en-US" sz="1600" dirty="0">
                  <a:solidFill>
                    <a:srgbClr val="0000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  <a:hlinkClick r:id="rId4"/>
                </a:rPr>
                <a:t>Team Development Model</a:t>
              </a:r>
              <a:endParaRPr lang="en-US" sz="1600" dirty="0"/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556013E5-80E4-406A-B2D7-0D6F16F46F9E}"/>
              </a:ext>
            </a:extLst>
          </p:cNvPr>
          <p:cNvGrpSpPr/>
          <p:nvPr/>
        </p:nvGrpSpPr>
        <p:grpSpPr>
          <a:xfrm>
            <a:off x="497520" y="5227262"/>
            <a:ext cx="11182664" cy="785403"/>
            <a:chOff x="2249785" y="5206802"/>
            <a:chExt cx="9933542" cy="785403"/>
          </a:xfrm>
        </p:grpSpPr>
        <p:sp>
          <p:nvSpPr>
            <p:cNvPr id="35" name="Text 7">
              <a:extLst>
                <a:ext uri="{FF2B5EF4-FFF2-40B4-BE49-F238E27FC236}">
                  <a16:creationId xmlns:a16="http://schemas.microsoft.com/office/drawing/2014/main" id="{6AC46527-186F-41EB-8FE3-7D6DC7E59597}"/>
                </a:ext>
              </a:extLst>
            </p:cNvPr>
            <p:cNvSpPr/>
            <p:nvPr/>
          </p:nvSpPr>
          <p:spPr>
            <a:xfrm>
              <a:off x="2432150" y="5343524"/>
              <a:ext cx="9751177" cy="6486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b="1" dirty="0">
                  <a:solidFill>
                    <a:srgbClr val="FF33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En Data Science</a:t>
              </a:r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, </a:t>
              </a:r>
              <a:r>
                <a:rPr lang="es-E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consideramos el error como información valiosa. Compartir los fallos y los aprendizajes acelera la curva de aprendizaje colectivo y fomenta una cultura de innovación segura.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6" name="Shape 8">
              <a:extLst>
                <a:ext uri="{FF2B5EF4-FFF2-40B4-BE49-F238E27FC236}">
                  <a16:creationId xmlns:a16="http://schemas.microsoft.com/office/drawing/2014/main" id="{484212F5-41B0-42C4-9B18-BB010B4B444C}"/>
                </a:ext>
              </a:extLst>
            </p:cNvPr>
            <p:cNvSpPr/>
            <p:nvPr/>
          </p:nvSpPr>
          <p:spPr>
            <a:xfrm>
              <a:off x="2249785" y="5206802"/>
              <a:ext cx="12700" cy="662583"/>
            </a:xfrm>
            <a:prstGeom prst="rect">
              <a:avLst/>
            </a:prstGeom>
            <a:solidFill>
              <a:srgbClr val="373B48"/>
            </a:solidFill>
            <a:ln/>
          </p:spPr>
        </p:sp>
      </p:grpSp>
      <p:pic>
        <p:nvPicPr>
          <p:cNvPr id="38" name="Imagen 37">
            <a:extLst>
              <a:ext uri="{FF2B5EF4-FFF2-40B4-BE49-F238E27FC236}">
                <a16:creationId xmlns:a16="http://schemas.microsoft.com/office/drawing/2014/main" id="{05082A1F-8788-4B4C-BFD0-7922EB0057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183" y="1196818"/>
            <a:ext cx="5598047" cy="39201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400667E6-83C4-44CB-8773-D0DD67D671CE}"/>
              </a:ext>
            </a:extLst>
          </p:cNvPr>
          <p:cNvGrpSpPr/>
          <p:nvPr/>
        </p:nvGrpSpPr>
        <p:grpSpPr>
          <a:xfrm>
            <a:off x="497519" y="2045072"/>
            <a:ext cx="5598047" cy="2969663"/>
            <a:chOff x="3107035" y="938115"/>
            <a:chExt cx="2873573" cy="1833264"/>
          </a:xfrm>
        </p:grpSpPr>
        <p:sp>
          <p:nvSpPr>
            <p:cNvPr id="5" name="Text 3"/>
            <p:cNvSpPr/>
            <p:nvPr/>
          </p:nvSpPr>
          <p:spPr>
            <a:xfrm>
              <a:off x="3107035" y="938115"/>
              <a:ext cx="2873573" cy="2941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/>
              <a:r>
                <a:rPr lang="en-US" sz="1600" b="1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Scrum es un framework ligero y adaptable </a:t>
              </a: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que ayuda a las personas, equipos y organizaciones a generar valor a través de soluciones adaptativas para problemas complejos.</a:t>
              </a:r>
            </a:p>
          </p:txBody>
        </p:sp>
        <p:sp>
          <p:nvSpPr>
            <p:cNvPr id="6" name="Text 4"/>
            <p:cNvSpPr/>
            <p:nvPr/>
          </p:nvSpPr>
          <p:spPr>
            <a:xfrm>
              <a:off x="3107035" y="1476772"/>
              <a:ext cx="2873573" cy="1512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just"/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Define una estructura clara con:</a:t>
              </a:r>
            </a:p>
          </p:txBody>
        </p:sp>
        <p:sp>
          <p:nvSpPr>
            <p:cNvPr id="7" name="Text 5"/>
            <p:cNvSpPr/>
            <p:nvPr/>
          </p:nvSpPr>
          <p:spPr>
            <a:xfrm>
              <a:off x="3107035" y="1713012"/>
              <a:ext cx="2873573" cy="1512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39" indent="-285739" algn="just">
                <a:buSzPct val="100000"/>
                <a:buChar char="•"/>
              </a:pPr>
              <a:r>
                <a:rPr lang="en-US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Roles</a:t>
              </a: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Product Owner, Scrum Master, Equipo de Desarrollo.</a:t>
              </a:r>
            </a:p>
          </p:txBody>
        </p:sp>
        <p:sp>
          <p:nvSpPr>
            <p:cNvPr id="8" name="Text 6"/>
            <p:cNvSpPr/>
            <p:nvPr/>
          </p:nvSpPr>
          <p:spPr>
            <a:xfrm>
              <a:off x="3107035" y="1897261"/>
              <a:ext cx="2873573" cy="3024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39" indent="-285739" algn="just">
                <a:buSzPct val="100000"/>
                <a:buChar char="•"/>
              </a:pPr>
              <a:r>
                <a:rPr lang="en-US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Eventos</a:t>
              </a: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Sprint Planning, Daily Scrum, Sprint Review, Sprint Retrospective.</a:t>
              </a:r>
            </a:p>
          </p:txBody>
        </p:sp>
        <p:sp>
          <p:nvSpPr>
            <p:cNvPr id="9" name="Text 7"/>
            <p:cNvSpPr/>
            <p:nvPr/>
          </p:nvSpPr>
          <p:spPr>
            <a:xfrm>
              <a:off x="3107035" y="2232720"/>
              <a:ext cx="2873573" cy="1512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39" indent="-285739" algn="just">
                <a:buSzPct val="100000"/>
                <a:buChar char="•"/>
              </a:pPr>
              <a:r>
                <a:rPr lang="en-US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Artefactos</a:t>
              </a: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Product Backlog, Sprint Backlog, Incremento.</a:t>
              </a:r>
            </a:p>
          </p:txBody>
        </p:sp>
        <p:sp>
          <p:nvSpPr>
            <p:cNvPr id="10" name="Text 8"/>
            <p:cNvSpPr/>
            <p:nvPr/>
          </p:nvSpPr>
          <p:spPr>
            <a:xfrm>
              <a:off x="3107035" y="2468960"/>
              <a:ext cx="2873573" cy="3024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/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Todo esto se basa en el </a:t>
              </a:r>
              <a:r>
                <a:rPr lang="en-US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empirismo</a:t>
              </a: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(conocimiento a partir de la experiencia) y la </a:t>
              </a:r>
              <a:r>
                <a:rPr lang="en-US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mejora continua</a:t>
              </a: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</p:grpSp>
      <p:sp>
        <p:nvSpPr>
          <p:cNvPr id="4" name="Text 2"/>
          <p:cNvSpPr/>
          <p:nvPr/>
        </p:nvSpPr>
        <p:spPr>
          <a:xfrm>
            <a:off x="5993671" y="4000747"/>
            <a:ext cx="351651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endParaRPr lang="en-US" sz="1458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A50E68C3-583D-46C8-99D3-3A541509DA10}"/>
              </a:ext>
            </a:extLst>
          </p:cNvPr>
          <p:cNvGrpSpPr/>
          <p:nvPr/>
        </p:nvGrpSpPr>
        <p:grpSpPr>
          <a:xfrm>
            <a:off x="497520" y="309240"/>
            <a:ext cx="10950768" cy="1452600"/>
            <a:chOff x="497520" y="309240"/>
            <a:chExt cx="10734480" cy="1452600"/>
          </a:xfrm>
        </p:grpSpPr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27F0E4A6-D498-4D11-B719-DB4094A8BB5E}"/>
                </a:ext>
              </a:extLst>
            </p:cNvPr>
            <p:cNvGrpSpPr/>
            <p:nvPr/>
          </p:nvGrpSpPr>
          <p:grpSpPr>
            <a:xfrm>
              <a:off x="497520" y="309240"/>
              <a:ext cx="10734480" cy="1325160"/>
              <a:chOff x="497520" y="309240"/>
              <a:chExt cx="10734480" cy="1325160"/>
            </a:xfrm>
          </p:grpSpPr>
          <p:sp>
            <p:nvSpPr>
              <p:cNvPr id="22" name="PlaceHolder 1">
                <a:extLst>
                  <a:ext uri="{FF2B5EF4-FFF2-40B4-BE49-F238E27FC236}">
                    <a16:creationId xmlns:a16="http://schemas.microsoft.com/office/drawing/2014/main" id="{5C9C466B-550E-42C0-BA5C-8F56B2EA39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760" y="309240"/>
                <a:ext cx="10515240" cy="13251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tabLst>
                    <a:tab pos="0" algn="l"/>
                  </a:tabLst>
                </a:pPr>
                <a:r>
                  <a:rPr lang="es-ES" sz="4400" i="1" spc="-1" dirty="0">
                    <a:solidFill>
                      <a:srgbClr val="D8D8D8"/>
                    </a:solidFill>
                    <a:latin typeface="Calibri"/>
                    <a:ea typeface="Calibri"/>
                  </a:rPr>
                  <a:t>Scrum</a:t>
                </a:r>
                <a:endParaRPr lang="es-ES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" name="Google Shape;93;p2">
                <a:extLst>
                  <a:ext uri="{FF2B5EF4-FFF2-40B4-BE49-F238E27FC236}">
                    <a16:creationId xmlns:a16="http://schemas.microsoft.com/office/drawing/2014/main" id="{11D042B7-942B-4432-A6E0-1DD122F02421}"/>
                  </a:ext>
                </a:extLst>
              </p:cNvPr>
              <p:cNvSpPr/>
              <p:nvPr/>
            </p:nvSpPr>
            <p:spPr>
              <a:xfrm>
                <a:off x="497520" y="763200"/>
                <a:ext cx="89640" cy="654120"/>
              </a:xfrm>
              <a:prstGeom prst="rect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s-ES" sz="1800" b="0" strike="noStrike" spc="-1">
                  <a:solidFill>
                    <a:schemeClr val="lt1"/>
                  </a:solidFill>
                  <a:latin typeface="Calibri"/>
                  <a:ea typeface="Calibri"/>
                </a:endParaRPr>
              </a:p>
            </p:txBody>
          </p:sp>
        </p:grpSp>
        <p:sp>
          <p:nvSpPr>
            <p:cNvPr id="21" name="PlaceHolder 2">
              <a:extLst>
                <a:ext uri="{FF2B5EF4-FFF2-40B4-BE49-F238E27FC236}">
                  <a16:creationId xmlns:a16="http://schemas.microsoft.com/office/drawing/2014/main" id="{8780DCEF-83D5-47AD-B697-577493BA479B}"/>
                </a:ext>
              </a:extLst>
            </p:cNvPr>
            <p:cNvSpPr txBox="1">
              <a:spLocks/>
            </p:cNvSpPr>
            <p:nvPr/>
          </p:nvSpPr>
          <p:spPr>
            <a:xfrm>
              <a:off x="716760" y="1283040"/>
              <a:ext cx="5487480" cy="4788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45720" rIns="91440" bIns="4572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sz="1800" i="1" spc="-1" dirty="0">
                  <a:solidFill>
                    <a:srgbClr val="D8D8D8"/>
                  </a:solidFill>
                  <a:latin typeface="Calibri"/>
                  <a:ea typeface="Calibri"/>
                </a:rPr>
                <a:t>El Framework Ágil Más Popular</a:t>
              </a:r>
            </a:p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s-ES" sz="1800" i="1" spc="-1" dirty="0">
                <a:solidFill>
                  <a:srgbClr val="D8D8D8"/>
                </a:solidFill>
                <a:latin typeface="Calibri"/>
                <a:ea typeface="Calibri"/>
              </a:endParaRPr>
            </a:p>
          </p:txBody>
        </p:sp>
      </p:grpSp>
      <p:pic>
        <p:nvPicPr>
          <p:cNvPr id="33" name="Imagen 32">
            <a:extLst>
              <a:ext uri="{FF2B5EF4-FFF2-40B4-BE49-F238E27FC236}">
                <a16:creationId xmlns:a16="http://schemas.microsoft.com/office/drawing/2014/main" id="{C14905AD-8C0B-43B6-8DEB-D069944924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675" y="655371"/>
            <a:ext cx="2829555" cy="1529540"/>
          </a:xfrm>
          <a:prstGeom prst="rect">
            <a:avLst/>
          </a:prstGeom>
        </p:spPr>
      </p:pic>
      <p:grpSp>
        <p:nvGrpSpPr>
          <p:cNvPr id="34" name="Grupo 33">
            <a:extLst>
              <a:ext uri="{FF2B5EF4-FFF2-40B4-BE49-F238E27FC236}">
                <a16:creationId xmlns:a16="http://schemas.microsoft.com/office/drawing/2014/main" id="{DBAB2D13-3900-4C59-8852-CAB11D5DABD4}"/>
              </a:ext>
            </a:extLst>
          </p:cNvPr>
          <p:cNvGrpSpPr/>
          <p:nvPr/>
        </p:nvGrpSpPr>
        <p:grpSpPr>
          <a:xfrm>
            <a:off x="497520" y="5227262"/>
            <a:ext cx="11182664" cy="975367"/>
            <a:chOff x="2249785" y="5206802"/>
            <a:chExt cx="9933542" cy="975367"/>
          </a:xfrm>
        </p:grpSpPr>
        <p:sp>
          <p:nvSpPr>
            <p:cNvPr id="35" name="Text 7">
              <a:extLst>
                <a:ext uri="{FF2B5EF4-FFF2-40B4-BE49-F238E27FC236}">
                  <a16:creationId xmlns:a16="http://schemas.microsoft.com/office/drawing/2014/main" id="{55EC6813-8F79-41E7-B34B-6457604ACDC0}"/>
                </a:ext>
              </a:extLst>
            </p:cNvPr>
            <p:cNvSpPr/>
            <p:nvPr/>
          </p:nvSpPr>
          <p:spPr>
            <a:xfrm>
              <a:off x="2432150" y="5343525"/>
              <a:ext cx="9751177" cy="8386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b="1" dirty="0" err="1">
                  <a:solidFill>
                    <a:srgbClr val="FF33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En</a:t>
              </a:r>
              <a:r>
                <a:rPr lang="en-US" b="1" dirty="0">
                  <a:solidFill>
                    <a:srgbClr val="FF33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Data Science</a:t>
              </a:r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, </a:t>
              </a:r>
              <a:r>
                <a:rPr lang="es-E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Scrum no fue creado para Data </a:t>
              </a:r>
              <a:r>
                <a:rPr lang="es-ES" dirty="0" err="1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Science</a:t>
              </a:r>
              <a:r>
                <a:rPr lang="es-E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, pero puede adaptarse si se redefine el concepto de incremento y se acepta que algunos </a:t>
              </a:r>
              <a:r>
                <a:rPr lang="es-ES" dirty="0" err="1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sprints</a:t>
              </a:r>
              <a:r>
                <a:rPr lang="es-E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validan hipótesis, no funcionalidades finales.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6" name="Shape 8">
              <a:extLst>
                <a:ext uri="{FF2B5EF4-FFF2-40B4-BE49-F238E27FC236}">
                  <a16:creationId xmlns:a16="http://schemas.microsoft.com/office/drawing/2014/main" id="{EF390AA0-EAA1-4DC5-B050-034A20F0857D}"/>
                </a:ext>
              </a:extLst>
            </p:cNvPr>
            <p:cNvSpPr/>
            <p:nvPr/>
          </p:nvSpPr>
          <p:spPr>
            <a:xfrm>
              <a:off x="2249785" y="5206802"/>
              <a:ext cx="12700" cy="662583"/>
            </a:xfrm>
            <a:prstGeom prst="rect">
              <a:avLst/>
            </a:prstGeom>
            <a:solidFill>
              <a:srgbClr val="373B48"/>
            </a:solidFill>
            <a:ln/>
          </p:spPr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0D04B13B-B571-468C-9650-EFEE692C2666}"/>
              </a:ext>
            </a:extLst>
          </p:cNvPr>
          <p:cNvGrpSpPr/>
          <p:nvPr/>
        </p:nvGrpSpPr>
        <p:grpSpPr>
          <a:xfrm>
            <a:off x="6944655" y="6100459"/>
            <a:ext cx="5088849" cy="516632"/>
            <a:chOff x="2249785" y="6006107"/>
            <a:chExt cx="7692430" cy="516632"/>
          </a:xfrm>
        </p:grpSpPr>
        <p:sp>
          <p:nvSpPr>
            <p:cNvPr id="38" name="Shape 9">
              <a:extLst>
                <a:ext uri="{FF2B5EF4-FFF2-40B4-BE49-F238E27FC236}">
                  <a16:creationId xmlns:a16="http://schemas.microsoft.com/office/drawing/2014/main" id="{45D667C3-C723-4E07-BCD3-0BBDCFAC2F13}"/>
                </a:ext>
              </a:extLst>
            </p:cNvPr>
            <p:cNvSpPr/>
            <p:nvPr/>
          </p:nvSpPr>
          <p:spPr>
            <a:xfrm>
              <a:off x="2249785" y="6006107"/>
              <a:ext cx="7692430" cy="516632"/>
            </a:xfrm>
            <a:prstGeom prst="roundRect">
              <a:avLst>
                <a:gd name="adj" fmla="val 9887"/>
              </a:avLst>
            </a:prstGeom>
            <a:solidFill>
              <a:srgbClr val="D4D6DE"/>
            </a:solidFill>
            <a:ln/>
          </p:spPr>
        </p:sp>
        <p:pic>
          <p:nvPicPr>
            <p:cNvPr id="39" name="Image 1" descr="preencoded.png">
              <a:extLst>
                <a:ext uri="{FF2B5EF4-FFF2-40B4-BE49-F238E27FC236}">
                  <a16:creationId xmlns:a16="http://schemas.microsoft.com/office/drawing/2014/main" id="{9EF175D3-7306-4719-8EC9-6B2065C86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29862" y="6133851"/>
              <a:ext cx="273545" cy="218729"/>
            </a:xfrm>
            <a:prstGeom prst="rect">
              <a:avLst/>
            </a:prstGeom>
          </p:spPr>
        </p:pic>
        <p:sp>
          <p:nvSpPr>
            <p:cNvPr id="40" name="Text 10">
              <a:extLst>
                <a:ext uri="{FF2B5EF4-FFF2-40B4-BE49-F238E27FC236}">
                  <a16:creationId xmlns:a16="http://schemas.microsoft.com/office/drawing/2014/main" id="{D8A59F3B-4B5E-4A55-947F-3F9592E43CD9}"/>
                </a:ext>
              </a:extLst>
            </p:cNvPr>
            <p:cNvSpPr/>
            <p:nvPr/>
          </p:nvSpPr>
          <p:spPr>
            <a:xfrm>
              <a:off x="2644874" y="6130580"/>
              <a:ext cx="7175797" cy="194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50"/>
                </a:lnSpc>
              </a:pPr>
              <a:r>
                <a:rPr lang="es-ES" sz="1000" dirty="0">
                  <a:solidFill>
                    <a:srgbClr val="0000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Guía Oficial de Scrum: </a:t>
              </a:r>
              <a:r>
                <a:rPr lang="es-ES" sz="1000" dirty="0">
                  <a:solidFill>
                    <a:srgbClr val="0000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  <a:hlinkClick r:id="rId5"/>
                </a:rPr>
                <a:t>https://scrumguides.org</a:t>
              </a:r>
              <a:r>
                <a:rPr lang="es-ES" sz="1000" dirty="0">
                  <a:solidFill>
                    <a:srgbClr val="0000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</a:t>
              </a:r>
            </a:p>
          </p:txBody>
        </p:sp>
      </p:grpSp>
      <p:pic>
        <p:nvPicPr>
          <p:cNvPr id="42" name="Imagen 41">
            <a:extLst>
              <a:ext uri="{FF2B5EF4-FFF2-40B4-BE49-F238E27FC236}">
                <a16:creationId xmlns:a16="http://schemas.microsoft.com/office/drawing/2014/main" id="{1ED9FB8D-15B8-42DE-9741-E29A99ABA9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787" y="2307490"/>
            <a:ext cx="5019443" cy="28126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4844" y="6058840"/>
            <a:ext cx="5947469" cy="360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33"/>
              </a:lnSpc>
            </a:pP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85136" y="2054676"/>
            <a:ext cx="10963151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eventos de Scrum son oportunidades formalizadas para inspeccionar y adaptar, asegurando que el equipo se mantenga en el camino correcto y mejore continuamente.</a:t>
            </a:r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D0E578FB-DB66-4A29-8E35-982CE1C76195}"/>
              </a:ext>
            </a:extLst>
          </p:cNvPr>
          <p:cNvGrpSpPr/>
          <p:nvPr/>
        </p:nvGrpSpPr>
        <p:grpSpPr>
          <a:xfrm>
            <a:off x="492318" y="2639142"/>
            <a:ext cx="10977366" cy="2310571"/>
            <a:chOff x="1533426" y="2042021"/>
            <a:chExt cx="9125149" cy="2310571"/>
          </a:xfrm>
        </p:grpSpPr>
        <p:sp>
          <p:nvSpPr>
            <p:cNvPr id="6" name="Text 4"/>
            <p:cNvSpPr/>
            <p:nvPr/>
          </p:nvSpPr>
          <p:spPr>
            <a:xfrm>
              <a:off x="1533426" y="2042021"/>
              <a:ext cx="144264" cy="1802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92"/>
                </a:lnSpc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01</a:t>
              </a:r>
            </a:p>
          </p:txBody>
        </p:sp>
        <p:sp>
          <p:nvSpPr>
            <p:cNvPr id="7" name="Shape 5"/>
            <p:cNvSpPr/>
            <p:nvPr/>
          </p:nvSpPr>
          <p:spPr>
            <a:xfrm>
              <a:off x="1533426" y="2268042"/>
              <a:ext cx="4490443" cy="19050"/>
            </a:xfrm>
            <a:prstGeom prst="rect">
              <a:avLst/>
            </a:prstGeom>
            <a:solidFill>
              <a:srgbClr val="373B48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1533426" y="2378273"/>
              <a:ext cx="1803400" cy="2254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50"/>
                </a:lnSpc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Sprint</a:t>
              </a:r>
            </a:p>
          </p:txBody>
        </p:sp>
        <p:sp>
          <p:nvSpPr>
            <p:cNvPr id="9" name="Text 7"/>
            <p:cNvSpPr/>
            <p:nvPr/>
          </p:nvSpPr>
          <p:spPr>
            <a:xfrm>
              <a:off x="1533426" y="2690218"/>
              <a:ext cx="4490443" cy="4615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792"/>
                </a:lnSpc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Un ciclo de tiempo fijo (normalmente 1-4 semanas) donde el equipo trabaja para crear un Incremento de valor.</a:t>
              </a:r>
            </a:p>
          </p:txBody>
        </p:sp>
        <p:sp>
          <p:nvSpPr>
            <p:cNvPr id="10" name="Text 8"/>
            <p:cNvSpPr/>
            <p:nvPr/>
          </p:nvSpPr>
          <p:spPr>
            <a:xfrm>
              <a:off x="6168132" y="2042021"/>
              <a:ext cx="144264" cy="1802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92"/>
                </a:lnSpc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02</a:t>
              </a:r>
            </a:p>
          </p:txBody>
        </p:sp>
        <p:sp>
          <p:nvSpPr>
            <p:cNvPr id="11" name="Shape 9"/>
            <p:cNvSpPr/>
            <p:nvPr/>
          </p:nvSpPr>
          <p:spPr>
            <a:xfrm>
              <a:off x="6168132" y="2268042"/>
              <a:ext cx="4490443" cy="19050"/>
            </a:xfrm>
            <a:prstGeom prst="rect">
              <a:avLst/>
            </a:prstGeom>
            <a:solidFill>
              <a:srgbClr val="373B48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6168132" y="2378273"/>
              <a:ext cx="1803400" cy="2254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50"/>
                </a:lnSpc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Daily Scrum</a:t>
              </a:r>
            </a:p>
          </p:txBody>
        </p:sp>
        <p:sp>
          <p:nvSpPr>
            <p:cNvPr id="13" name="Text 11"/>
            <p:cNvSpPr/>
            <p:nvPr/>
          </p:nvSpPr>
          <p:spPr>
            <a:xfrm>
              <a:off x="6168132" y="2690218"/>
              <a:ext cx="4490443" cy="4615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792"/>
                </a:lnSpc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Reunión diaria breve para sincronizar actividades y planificar el trabajo del día.</a:t>
              </a:r>
            </a:p>
          </p:txBody>
        </p:sp>
        <p:sp>
          <p:nvSpPr>
            <p:cNvPr id="14" name="Text 12"/>
            <p:cNvSpPr/>
            <p:nvPr/>
          </p:nvSpPr>
          <p:spPr>
            <a:xfrm>
              <a:off x="1533426" y="3242829"/>
              <a:ext cx="144264" cy="1802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92"/>
                </a:lnSpc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03</a:t>
              </a:r>
            </a:p>
          </p:txBody>
        </p:sp>
        <p:sp>
          <p:nvSpPr>
            <p:cNvPr id="15" name="Shape 13"/>
            <p:cNvSpPr/>
            <p:nvPr/>
          </p:nvSpPr>
          <p:spPr>
            <a:xfrm>
              <a:off x="1533426" y="3468850"/>
              <a:ext cx="4490443" cy="19050"/>
            </a:xfrm>
            <a:prstGeom prst="rect">
              <a:avLst/>
            </a:prstGeom>
            <a:solidFill>
              <a:srgbClr val="373B48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1533426" y="3579082"/>
              <a:ext cx="1803400" cy="2254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50"/>
                </a:lnSpc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Sprint Review</a:t>
              </a:r>
            </a:p>
          </p:txBody>
        </p:sp>
        <p:sp>
          <p:nvSpPr>
            <p:cNvPr id="17" name="Text 15"/>
            <p:cNvSpPr/>
            <p:nvPr/>
          </p:nvSpPr>
          <p:spPr>
            <a:xfrm>
              <a:off x="1533426" y="3891026"/>
              <a:ext cx="4490443" cy="4615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792"/>
                </a:lnSpc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Presentación y demostración del trabajo completado del Sprint a los stakeholders, buscando feedback.</a:t>
              </a:r>
            </a:p>
          </p:txBody>
        </p:sp>
        <p:sp>
          <p:nvSpPr>
            <p:cNvPr id="18" name="Text 16"/>
            <p:cNvSpPr/>
            <p:nvPr/>
          </p:nvSpPr>
          <p:spPr>
            <a:xfrm>
              <a:off x="6168132" y="3242829"/>
              <a:ext cx="144264" cy="1802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92"/>
                </a:lnSpc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04</a:t>
              </a:r>
            </a:p>
          </p:txBody>
        </p:sp>
        <p:sp>
          <p:nvSpPr>
            <p:cNvPr id="19" name="Shape 17"/>
            <p:cNvSpPr/>
            <p:nvPr/>
          </p:nvSpPr>
          <p:spPr>
            <a:xfrm>
              <a:off x="6168132" y="3468850"/>
              <a:ext cx="4490443" cy="19050"/>
            </a:xfrm>
            <a:prstGeom prst="rect">
              <a:avLst/>
            </a:prstGeom>
            <a:solidFill>
              <a:srgbClr val="373B48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6168132" y="3579082"/>
              <a:ext cx="1803400" cy="2254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50"/>
                </a:lnSpc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Sprint Retrospective</a:t>
              </a:r>
            </a:p>
          </p:txBody>
        </p:sp>
        <p:sp>
          <p:nvSpPr>
            <p:cNvPr id="21" name="Text 19"/>
            <p:cNvSpPr/>
            <p:nvPr/>
          </p:nvSpPr>
          <p:spPr>
            <a:xfrm>
              <a:off x="6168132" y="3891026"/>
              <a:ext cx="4490443" cy="4615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792"/>
                </a:lnSpc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El equipo reflexiona sobre el Sprint para identificar mejoras en procesos, herramientas e interacciones.</a:t>
              </a:r>
            </a:p>
          </p:txBody>
        </p:sp>
      </p:grpSp>
      <p:sp>
        <p:nvSpPr>
          <p:cNvPr id="26" name="Text 23"/>
          <p:cNvSpPr/>
          <p:nvPr/>
        </p:nvSpPr>
        <p:spPr>
          <a:xfrm>
            <a:off x="2002235" y="5912843"/>
            <a:ext cx="8512076" cy="23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endParaRPr lang="en-US" sz="1125" dirty="0"/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34E1EADB-0036-47B6-B58D-D6625512408C}"/>
              </a:ext>
            </a:extLst>
          </p:cNvPr>
          <p:cNvGrpSpPr/>
          <p:nvPr/>
        </p:nvGrpSpPr>
        <p:grpSpPr>
          <a:xfrm>
            <a:off x="6944655" y="6100459"/>
            <a:ext cx="5088849" cy="516632"/>
            <a:chOff x="2249785" y="6006107"/>
            <a:chExt cx="7692430" cy="516632"/>
          </a:xfrm>
        </p:grpSpPr>
        <p:sp>
          <p:nvSpPr>
            <p:cNvPr id="28" name="Shape 9">
              <a:extLst>
                <a:ext uri="{FF2B5EF4-FFF2-40B4-BE49-F238E27FC236}">
                  <a16:creationId xmlns:a16="http://schemas.microsoft.com/office/drawing/2014/main" id="{8C061DED-612C-47AA-B4CE-F4C208D0162C}"/>
                </a:ext>
              </a:extLst>
            </p:cNvPr>
            <p:cNvSpPr/>
            <p:nvPr/>
          </p:nvSpPr>
          <p:spPr>
            <a:xfrm>
              <a:off x="2249785" y="6006107"/>
              <a:ext cx="7692430" cy="516632"/>
            </a:xfrm>
            <a:prstGeom prst="roundRect">
              <a:avLst>
                <a:gd name="adj" fmla="val 9887"/>
              </a:avLst>
            </a:prstGeom>
            <a:solidFill>
              <a:srgbClr val="D4D6DE"/>
            </a:solidFill>
            <a:ln/>
          </p:spPr>
        </p:sp>
        <p:pic>
          <p:nvPicPr>
            <p:cNvPr id="29" name="Image 1" descr="preencoded.png">
              <a:extLst>
                <a:ext uri="{FF2B5EF4-FFF2-40B4-BE49-F238E27FC236}">
                  <a16:creationId xmlns:a16="http://schemas.microsoft.com/office/drawing/2014/main" id="{6EF6CEB5-7EFD-4AEA-9D15-E04D7B7B1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29862" y="6133851"/>
              <a:ext cx="273545" cy="218729"/>
            </a:xfrm>
            <a:prstGeom prst="rect">
              <a:avLst/>
            </a:prstGeom>
          </p:spPr>
        </p:pic>
        <p:sp>
          <p:nvSpPr>
            <p:cNvPr id="30" name="Text 10">
              <a:extLst>
                <a:ext uri="{FF2B5EF4-FFF2-40B4-BE49-F238E27FC236}">
                  <a16:creationId xmlns:a16="http://schemas.microsoft.com/office/drawing/2014/main" id="{D7261314-CD5A-4CA0-AD21-0A0915FE1E70}"/>
                </a:ext>
              </a:extLst>
            </p:cNvPr>
            <p:cNvSpPr/>
            <p:nvPr/>
          </p:nvSpPr>
          <p:spPr>
            <a:xfrm>
              <a:off x="2644874" y="6130580"/>
              <a:ext cx="7175797" cy="194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50"/>
                </a:lnSpc>
              </a:pPr>
              <a:r>
                <a:rPr lang="es-ES" sz="1000" dirty="0">
                  <a:solidFill>
                    <a:srgbClr val="0000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Más sobre los eventos Scrum: </a:t>
              </a:r>
              <a:r>
                <a:rPr lang="es-ES" sz="1000" dirty="0">
                  <a:solidFill>
                    <a:srgbClr val="0000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  <a:hlinkClick r:id="rId4"/>
                </a:rPr>
                <a:t>https://scrumguides.org/scrum-guide.html</a:t>
              </a:r>
              <a:r>
                <a:rPr lang="es-ES" sz="1000" dirty="0">
                  <a:solidFill>
                    <a:srgbClr val="0000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</a:t>
              </a:r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D495A198-BA01-4990-92F2-AC8AEDEEA8D8}"/>
              </a:ext>
            </a:extLst>
          </p:cNvPr>
          <p:cNvGrpSpPr/>
          <p:nvPr/>
        </p:nvGrpSpPr>
        <p:grpSpPr>
          <a:xfrm>
            <a:off x="497520" y="5227262"/>
            <a:ext cx="11182664" cy="662583"/>
            <a:chOff x="2249785" y="5206802"/>
            <a:chExt cx="9933542" cy="662583"/>
          </a:xfrm>
        </p:grpSpPr>
        <p:sp>
          <p:nvSpPr>
            <p:cNvPr id="32" name="Text 7">
              <a:extLst>
                <a:ext uri="{FF2B5EF4-FFF2-40B4-BE49-F238E27FC236}">
                  <a16:creationId xmlns:a16="http://schemas.microsoft.com/office/drawing/2014/main" id="{87DB85D5-416C-4DAC-B94B-5EDA1FE0C25A}"/>
                </a:ext>
              </a:extLst>
            </p:cNvPr>
            <p:cNvSpPr/>
            <p:nvPr/>
          </p:nvSpPr>
          <p:spPr>
            <a:xfrm>
              <a:off x="2432150" y="5343525"/>
              <a:ext cx="9751177" cy="3891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b="1" dirty="0" err="1">
                  <a:solidFill>
                    <a:srgbClr val="FF33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En</a:t>
              </a:r>
              <a:r>
                <a:rPr lang="en-US" b="1" dirty="0">
                  <a:solidFill>
                    <a:srgbClr val="FF33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Data Science</a:t>
              </a:r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, </a:t>
              </a:r>
              <a:r>
                <a:rPr lang="es-E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el Sprint </a:t>
              </a:r>
              <a:r>
                <a:rPr lang="es-ES" dirty="0" err="1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Review</a:t>
              </a:r>
              <a:r>
                <a:rPr lang="es-E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es crucial para mostrar resultados tangibles, no solo código o análisis técnicos. La Retrospectiva es una oportunidad de oro para mejorar nuestra forma de trabajar, desde la calidad de los datos hasta la colaboración con negocio.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3" name="Shape 8">
              <a:extLst>
                <a:ext uri="{FF2B5EF4-FFF2-40B4-BE49-F238E27FC236}">
                  <a16:creationId xmlns:a16="http://schemas.microsoft.com/office/drawing/2014/main" id="{DFB3DB2F-985A-4ACD-A63A-22C75DCA9FB0}"/>
                </a:ext>
              </a:extLst>
            </p:cNvPr>
            <p:cNvSpPr/>
            <p:nvPr/>
          </p:nvSpPr>
          <p:spPr>
            <a:xfrm>
              <a:off x="2249785" y="5206802"/>
              <a:ext cx="12700" cy="662583"/>
            </a:xfrm>
            <a:prstGeom prst="rect">
              <a:avLst/>
            </a:prstGeom>
            <a:solidFill>
              <a:srgbClr val="373B48"/>
            </a:solidFill>
            <a:ln/>
          </p:spPr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0789B702-0D8E-485D-BFC3-D3238F2D99E8}"/>
              </a:ext>
            </a:extLst>
          </p:cNvPr>
          <p:cNvGrpSpPr/>
          <p:nvPr/>
        </p:nvGrpSpPr>
        <p:grpSpPr>
          <a:xfrm>
            <a:off x="497520" y="309240"/>
            <a:ext cx="10950768" cy="1452600"/>
            <a:chOff x="497520" y="309240"/>
            <a:chExt cx="10734480" cy="1452600"/>
          </a:xfrm>
        </p:grpSpPr>
        <p:grpSp>
          <p:nvGrpSpPr>
            <p:cNvPr id="36" name="Grupo 35">
              <a:extLst>
                <a:ext uri="{FF2B5EF4-FFF2-40B4-BE49-F238E27FC236}">
                  <a16:creationId xmlns:a16="http://schemas.microsoft.com/office/drawing/2014/main" id="{D0DF24FE-3AEE-400A-A92E-27C16E346197}"/>
                </a:ext>
              </a:extLst>
            </p:cNvPr>
            <p:cNvGrpSpPr/>
            <p:nvPr/>
          </p:nvGrpSpPr>
          <p:grpSpPr>
            <a:xfrm>
              <a:off x="497520" y="309240"/>
              <a:ext cx="10734480" cy="1325160"/>
              <a:chOff x="497520" y="309240"/>
              <a:chExt cx="10734480" cy="1325160"/>
            </a:xfrm>
          </p:grpSpPr>
          <p:sp>
            <p:nvSpPr>
              <p:cNvPr id="38" name="PlaceHolder 1">
                <a:extLst>
                  <a:ext uri="{FF2B5EF4-FFF2-40B4-BE49-F238E27FC236}">
                    <a16:creationId xmlns:a16="http://schemas.microsoft.com/office/drawing/2014/main" id="{C8B239FA-3EEF-431C-A0D7-5D4AF7DA83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760" y="309240"/>
                <a:ext cx="10515240" cy="13251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tabLst>
                    <a:tab pos="0" algn="l"/>
                  </a:tabLst>
                </a:pPr>
                <a:r>
                  <a:rPr lang="en-US" sz="4400" dirty="0">
                    <a:solidFill>
                      <a:schemeClr val="bg1"/>
                    </a:solidFill>
                    <a:latin typeface="Mona Sans Semi Bold" pitchFamily="34" charset="0"/>
                    <a:ea typeface="Mona Sans Semi Bold" pitchFamily="34" charset="-122"/>
                    <a:cs typeface="Mona Sans Semi Bold" pitchFamily="34" charset="-120"/>
                  </a:rPr>
                  <a:t>Scrum</a:t>
                </a:r>
                <a:endParaRPr lang="es-ES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9" name="Google Shape;93;p2">
                <a:extLst>
                  <a:ext uri="{FF2B5EF4-FFF2-40B4-BE49-F238E27FC236}">
                    <a16:creationId xmlns:a16="http://schemas.microsoft.com/office/drawing/2014/main" id="{365D1601-C2D0-4377-92E9-93A2CD3F4305}"/>
                  </a:ext>
                </a:extLst>
              </p:cNvPr>
              <p:cNvSpPr/>
              <p:nvPr/>
            </p:nvSpPr>
            <p:spPr>
              <a:xfrm>
                <a:off x="497520" y="763200"/>
                <a:ext cx="89640" cy="654120"/>
              </a:xfrm>
              <a:prstGeom prst="rect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s-ES" sz="1800" b="0" strike="noStrike" spc="-1">
                  <a:solidFill>
                    <a:schemeClr val="lt1"/>
                  </a:solidFill>
                  <a:latin typeface="Calibri"/>
                  <a:ea typeface="Calibri"/>
                </a:endParaRPr>
              </a:p>
            </p:txBody>
          </p:sp>
        </p:grpSp>
        <p:sp>
          <p:nvSpPr>
            <p:cNvPr id="37" name="PlaceHolder 2">
              <a:extLst>
                <a:ext uri="{FF2B5EF4-FFF2-40B4-BE49-F238E27FC236}">
                  <a16:creationId xmlns:a16="http://schemas.microsoft.com/office/drawing/2014/main" id="{F10A29DA-D200-4526-9805-4F46B088199E}"/>
                </a:ext>
              </a:extLst>
            </p:cNvPr>
            <p:cNvSpPr txBox="1">
              <a:spLocks/>
            </p:cNvSpPr>
            <p:nvPr/>
          </p:nvSpPr>
          <p:spPr>
            <a:xfrm>
              <a:off x="716760" y="1283040"/>
              <a:ext cx="5487480" cy="4788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45720" rIns="91440" bIns="4572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sz="1800" i="1" spc="-1" dirty="0">
                  <a:solidFill>
                    <a:srgbClr val="D8D8D8"/>
                  </a:solidFill>
                  <a:latin typeface="Calibri"/>
                  <a:ea typeface="Calibri"/>
                </a:rPr>
                <a:t>Los Eventos de Scrum: Ritmo y Adaptación</a:t>
              </a:r>
            </a:p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s-ES" sz="1800" i="1" spc="-1" dirty="0">
                <a:solidFill>
                  <a:srgbClr val="D8D8D8"/>
                </a:solidFill>
                <a:latin typeface="Calibri"/>
                <a:ea typeface="Calibri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s-ES" sz="1800" i="1" spc="-1" dirty="0">
                <a:solidFill>
                  <a:srgbClr val="D8D8D8"/>
                </a:solidFill>
                <a:latin typeface="Calibri"/>
                <a:ea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4844" y="6058840"/>
            <a:ext cx="5947469" cy="360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33"/>
              </a:lnSpc>
            </a:pPr>
            <a:endParaRPr lang="en-US" sz="2250" dirty="0"/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0789B702-0D8E-485D-BFC3-D3238F2D99E8}"/>
              </a:ext>
            </a:extLst>
          </p:cNvPr>
          <p:cNvGrpSpPr/>
          <p:nvPr/>
        </p:nvGrpSpPr>
        <p:grpSpPr>
          <a:xfrm>
            <a:off x="497520" y="309240"/>
            <a:ext cx="10950768" cy="1452600"/>
            <a:chOff x="497520" y="309240"/>
            <a:chExt cx="10734480" cy="1452600"/>
          </a:xfrm>
        </p:grpSpPr>
        <p:grpSp>
          <p:nvGrpSpPr>
            <p:cNvPr id="36" name="Grupo 35">
              <a:extLst>
                <a:ext uri="{FF2B5EF4-FFF2-40B4-BE49-F238E27FC236}">
                  <a16:creationId xmlns:a16="http://schemas.microsoft.com/office/drawing/2014/main" id="{D0DF24FE-3AEE-400A-A92E-27C16E346197}"/>
                </a:ext>
              </a:extLst>
            </p:cNvPr>
            <p:cNvGrpSpPr/>
            <p:nvPr/>
          </p:nvGrpSpPr>
          <p:grpSpPr>
            <a:xfrm>
              <a:off x="497520" y="309240"/>
              <a:ext cx="10734480" cy="1325160"/>
              <a:chOff x="497520" y="309240"/>
              <a:chExt cx="10734480" cy="1325160"/>
            </a:xfrm>
          </p:grpSpPr>
          <p:sp>
            <p:nvSpPr>
              <p:cNvPr id="38" name="PlaceHolder 1">
                <a:extLst>
                  <a:ext uri="{FF2B5EF4-FFF2-40B4-BE49-F238E27FC236}">
                    <a16:creationId xmlns:a16="http://schemas.microsoft.com/office/drawing/2014/main" id="{C8B239FA-3EEF-431C-A0D7-5D4AF7DA83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760" y="309240"/>
                <a:ext cx="10515240" cy="13251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tabLst>
                    <a:tab pos="0" algn="l"/>
                  </a:tabLst>
                </a:pPr>
                <a:r>
                  <a:rPr lang="en-US" sz="4400" dirty="0">
                    <a:solidFill>
                      <a:schemeClr val="bg1"/>
                    </a:solidFill>
                    <a:latin typeface="Mona Sans Semi Bold" pitchFamily="34" charset="0"/>
                    <a:ea typeface="Mona Sans Semi Bold" pitchFamily="34" charset="-122"/>
                    <a:cs typeface="Mona Sans Semi Bold" pitchFamily="34" charset="-120"/>
                  </a:rPr>
                  <a:t>Scrum</a:t>
                </a:r>
                <a:endParaRPr lang="es-ES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9" name="Google Shape;93;p2">
                <a:extLst>
                  <a:ext uri="{FF2B5EF4-FFF2-40B4-BE49-F238E27FC236}">
                    <a16:creationId xmlns:a16="http://schemas.microsoft.com/office/drawing/2014/main" id="{365D1601-C2D0-4377-92E9-93A2CD3F4305}"/>
                  </a:ext>
                </a:extLst>
              </p:cNvPr>
              <p:cNvSpPr/>
              <p:nvPr/>
            </p:nvSpPr>
            <p:spPr>
              <a:xfrm>
                <a:off x="497520" y="763200"/>
                <a:ext cx="89640" cy="654120"/>
              </a:xfrm>
              <a:prstGeom prst="rect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s-ES" sz="1800" b="0" strike="noStrike" spc="-1">
                  <a:solidFill>
                    <a:schemeClr val="lt1"/>
                  </a:solidFill>
                  <a:latin typeface="Calibri"/>
                  <a:ea typeface="Calibri"/>
                </a:endParaRPr>
              </a:p>
            </p:txBody>
          </p:sp>
        </p:grpSp>
        <p:sp>
          <p:nvSpPr>
            <p:cNvPr id="37" name="PlaceHolder 2">
              <a:extLst>
                <a:ext uri="{FF2B5EF4-FFF2-40B4-BE49-F238E27FC236}">
                  <a16:creationId xmlns:a16="http://schemas.microsoft.com/office/drawing/2014/main" id="{F10A29DA-D200-4526-9805-4F46B088199E}"/>
                </a:ext>
              </a:extLst>
            </p:cNvPr>
            <p:cNvSpPr txBox="1">
              <a:spLocks/>
            </p:cNvSpPr>
            <p:nvPr/>
          </p:nvSpPr>
          <p:spPr>
            <a:xfrm>
              <a:off x="716760" y="1283040"/>
              <a:ext cx="5487480" cy="4788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45720" rIns="91440" bIns="4572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sz="1800" i="1" spc="-1" dirty="0">
                  <a:solidFill>
                    <a:srgbClr val="D8D8D8"/>
                  </a:solidFill>
                  <a:latin typeface="Calibri"/>
                  <a:ea typeface="Calibri"/>
                </a:rPr>
                <a:t>Los Eventos de Scrum: Ritmo y Adaptación</a:t>
              </a:r>
            </a:p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s-ES" sz="1800" i="1" spc="-1" dirty="0">
                <a:solidFill>
                  <a:srgbClr val="D8D8D8"/>
                </a:solidFill>
                <a:latin typeface="Calibri"/>
                <a:ea typeface="Calibri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s-ES" sz="1800" i="1" spc="-1" dirty="0">
                <a:solidFill>
                  <a:srgbClr val="D8D8D8"/>
                </a:solidFill>
                <a:latin typeface="Calibri"/>
                <a:ea typeface="Calibri"/>
              </a:endParaRPr>
            </a:p>
          </p:txBody>
        </p:sp>
      </p:grpSp>
      <p:pic>
        <p:nvPicPr>
          <p:cNvPr id="40" name="Imagen 39">
            <a:extLst>
              <a:ext uri="{FF2B5EF4-FFF2-40B4-BE49-F238E27FC236}">
                <a16:creationId xmlns:a16="http://schemas.microsoft.com/office/drawing/2014/main" id="{36BFEF52-F038-43A3-934F-468697909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435" y="1657612"/>
            <a:ext cx="5333795" cy="3446838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8F9EBD78-ED25-47EB-8C25-79EF6E7E6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177" y="2437304"/>
            <a:ext cx="5206414" cy="2667146"/>
          </a:xfrm>
          <a:prstGeom prst="rect">
            <a:avLst/>
          </a:prstGeom>
        </p:spPr>
      </p:pic>
      <p:sp>
        <p:nvSpPr>
          <p:cNvPr id="42" name="Google Shape;94;p2">
            <a:extLst>
              <a:ext uri="{FF2B5EF4-FFF2-40B4-BE49-F238E27FC236}">
                <a16:creationId xmlns:a16="http://schemas.microsoft.com/office/drawing/2014/main" id="{48D58C75-655B-4F87-96DF-54AA82E90BD7}"/>
              </a:ext>
            </a:extLst>
          </p:cNvPr>
          <p:cNvSpPr/>
          <p:nvPr/>
        </p:nvSpPr>
        <p:spPr>
          <a:xfrm>
            <a:off x="266638" y="5320176"/>
            <a:ext cx="11636188" cy="14773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s-ES" i="1" spc="-1" dirty="0">
                <a:solidFill>
                  <a:schemeClr val="lt1"/>
                </a:solidFill>
                <a:latin typeface="Calibri"/>
                <a:ea typeface="Calibri"/>
              </a:rPr>
              <a:t>Scrum organiza el trabajo en ciclos llamados </a:t>
            </a:r>
            <a:r>
              <a:rPr lang="es-ES" i="1" spc="-1" dirty="0" err="1">
                <a:solidFill>
                  <a:schemeClr val="lt1"/>
                </a:solidFill>
                <a:latin typeface="Calibri"/>
                <a:ea typeface="Calibri"/>
              </a:rPr>
              <a:t>sprints</a:t>
            </a:r>
            <a:r>
              <a:rPr lang="es-ES" i="1" spc="-1" dirty="0">
                <a:solidFill>
                  <a:schemeClr val="lt1"/>
                </a:solidFill>
                <a:latin typeface="Calibri"/>
                <a:ea typeface="Calibri"/>
              </a:rPr>
              <a:t>. Dentro de cada sprint hay momentos muy concretos para planificar, sincronizar, revisar y mejorar.</a:t>
            </a:r>
          </a:p>
          <a:p>
            <a:pPr algn="ctr">
              <a:tabLst>
                <a:tab pos="0" algn="l"/>
              </a:tabLst>
            </a:pPr>
            <a:endParaRPr lang="es-ES" i="1" spc="-1" dirty="0">
              <a:solidFill>
                <a:schemeClr val="lt1"/>
              </a:solidFill>
              <a:latin typeface="Calibri"/>
              <a:ea typeface="Calibri"/>
            </a:endParaRPr>
          </a:p>
          <a:p>
            <a:pPr algn="ctr">
              <a:tabLst>
                <a:tab pos="0" algn="l"/>
              </a:tabLst>
            </a:pPr>
            <a:r>
              <a:rPr lang="es-ES" i="1" spc="-1" dirty="0">
                <a:solidFill>
                  <a:schemeClr val="lt1"/>
                </a:solidFill>
                <a:latin typeface="Calibri"/>
                <a:ea typeface="Calibri"/>
              </a:rPr>
              <a:t>El incremento puede ser un modelo, una métrica, un </a:t>
            </a:r>
            <a:r>
              <a:rPr lang="es-ES" i="1" spc="-1" dirty="0" err="1">
                <a:solidFill>
                  <a:schemeClr val="lt1"/>
                </a:solidFill>
                <a:latin typeface="Calibri"/>
                <a:ea typeface="Calibri"/>
              </a:rPr>
              <a:t>insight</a:t>
            </a:r>
            <a:r>
              <a:rPr lang="es-ES" i="1" spc="-1" dirty="0">
                <a:solidFill>
                  <a:schemeClr val="lt1"/>
                </a:solidFill>
                <a:latin typeface="Calibri"/>
                <a:ea typeface="Calibri"/>
              </a:rPr>
              <a:t> o una decisión informada, no necesariamente algo en producción.</a:t>
            </a:r>
          </a:p>
        </p:txBody>
      </p:sp>
    </p:spTree>
    <p:extLst>
      <p:ext uri="{BB962C8B-B14F-4D97-AF65-F5344CB8AC3E}">
        <p14:creationId xmlns:p14="http://schemas.microsoft.com/office/powerpoint/2010/main" val="1964348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o 34">
            <a:extLst>
              <a:ext uri="{FF2B5EF4-FFF2-40B4-BE49-F238E27FC236}">
                <a16:creationId xmlns:a16="http://schemas.microsoft.com/office/drawing/2014/main" id="{0789B702-0D8E-485D-BFC3-D3238F2D99E8}"/>
              </a:ext>
            </a:extLst>
          </p:cNvPr>
          <p:cNvGrpSpPr/>
          <p:nvPr/>
        </p:nvGrpSpPr>
        <p:grpSpPr>
          <a:xfrm>
            <a:off x="497520" y="309240"/>
            <a:ext cx="10950768" cy="1452600"/>
            <a:chOff x="497520" y="309240"/>
            <a:chExt cx="10734480" cy="1452600"/>
          </a:xfrm>
        </p:grpSpPr>
        <p:grpSp>
          <p:nvGrpSpPr>
            <p:cNvPr id="36" name="Grupo 35">
              <a:extLst>
                <a:ext uri="{FF2B5EF4-FFF2-40B4-BE49-F238E27FC236}">
                  <a16:creationId xmlns:a16="http://schemas.microsoft.com/office/drawing/2014/main" id="{D0DF24FE-3AEE-400A-A92E-27C16E346197}"/>
                </a:ext>
              </a:extLst>
            </p:cNvPr>
            <p:cNvGrpSpPr/>
            <p:nvPr/>
          </p:nvGrpSpPr>
          <p:grpSpPr>
            <a:xfrm>
              <a:off x="497520" y="309240"/>
              <a:ext cx="10734480" cy="1325160"/>
              <a:chOff x="497520" y="309240"/>
              <a:chExt cx="10734480" cy="1325160"/>
            </a:xfrm>
          </p:grpSpPr>
          <p:sp>
            <p:nvSpPr>
              <p:cNvPr id="38" name="PlaceHolder 1">
                <a:extLst>
                  <a:ext uri="{FF2B5EF4-FFF2-40B4-BE49-F238E27FC236}">
                    <a16:creationId xmlns:a16="http://schemas.microsoft.com/office/drawing/2014/main" id="{C8B239FA-3EEF-431C-A0D7-5D4AF7DA83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760" y="309240"/>
                <a:ext cx="10515240" cy="13251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tabLst>
                    <a:tab pos="0" algn="l"/>
                  </a:tabLst>
                </a:pPr>
                <a:r>
                  <a:rPr lang="en-US" sz="4400" dirty="0">
                    <a:solidFill>
                      <a:schemeClr val="bg1"/>
                    </a:solidFill>
                    <a:latin typeface="Mona Sans Semi Bold" pitchFamily="34" charset="0"/>
                    <a:ea typeface="Mona Sans Semi Bold" pitchFamily="34" charset="-122"/>
                    <a:cs typeface="Mona Sans Semi Bold" pitchFamily="34" charset="-120"/>
                  </a:rPr>
                  <a:t>Scrum</a:t>
                </a:r>
                <a:endParaRPr lang="es-ES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9" name="Google Shape;93;p2">
                <a:extLst>
                  <a:ext uri="{FF2B5EF4-FFF2-40B4-BE49-F238E27FC236}">
                    <a16:creationId xmlns:a16="http://schemas.microsoft.com/office/drawing/2014/main" id="{365D1601-C2D0-4377-92E9-93A2CD3F4305}"/>
                  </a:ext>
                </a:extLst>
              </p:cNvPr>
              <p:cNvSpPr/>
              <p:nvPr/>
            </p:nvSpPr>
            <p:spPr>
              <a:xfrm>
                <a:off x="497520" y="763200"/>
                <a:ext cx="89640" cy="654120"/>
              </a:xfrm>
              <a:prstGeom prst="rect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s-ES" sz="1800" b="0" strike="noStrike" spc="-1">
                  <a:solidFill>
                    <a:schemeClr val="lt1"/>
                  </a:solidFill>
                  <a:latin typeface="Calibri"/>
                  <a:ea typeface="Calibri"/>
                </a:endParaRPr>
              </a:p>
            </p:txBody>
          </p:sp>
        </p:grpSp>
        <p:sp>
          <p:nvSpPr>
            <p:cNvPr id="37" name="PlaceHolder 2">
              <a:extLst>
                <a:ext uri="{FF2B5EF4-FFF2-40B4-BE49-F238E27FC236}">
                  <a16:creationId xmlns:a16="http://schemas.microsoft.com/office/drawing/2014/main" id="{F10A29DA-D200-4526-9805-4F46B088199E}"/>
                </a:ext>
              </a:extLst>
            </p:cNvPr>
            <p:cNvSpPr txBox="1">
              <a:spLocks/>
            </p:cNvSpPr>
            <p:nvPr/>
          </p:nvSpPr>
          <p:spPr>
            <a:xfrm>
              <a:off x="716760" y="1283040"/>
              <a:ext cx="5487480" cy="4788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45720" rIns="91440" bIns="4572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sz="1800" i="1" spc="-1" dirty="0" err="1">
                  <a:solidFill>
                    <a:srgbClr val="D8D8D8"/>
                  </a:solidFill>
                  <a:latin typeface="Calibri"/>
                  <a:ea typeface="Calibri"/>
                </a:rPr>
                <a:t>Daily</a:t>
              </a:r>
              <a:r>
                <a:rPr lang="es-ES" sz="1800" i="1" spc="-1" dirty="0">
                  <a:solidFill>
                    <a:srgbClr val="D8D8D8"/>
                  </a:solidFill>
                  <a:latin typeface="Calibri"/>
                  <a:ea typeface="Calibri"/>
                </a:rPr>
                <a:t> Scrum</a:t>
              </a:r>
            </a:p>
          </p:txBody>
        </p:sp>
      </p:grpSp>
      <p:sp>
        <p:nvSpPr>
          <p:cNvPr id="16" name="Text 7">
            <a:extLst>
              <a:ext uri="{FF2B5EF4-FFF2-40B4-BE49-F238E27FC236}">
                <a16:creationId xmlns:a16="http://schemas.microsoft.com/office/drawing/2014/main" id="{05AC7F89-02A6-446E-8CEA-C08B16C3C276}"/>
              </a:ext>
            </a:extLst>
          </p:cNvPr>
          <p:cNvSpPr/>
          <p:nvPr/>
        </p:nvSpPr>
        <p:spPr>
          <a:xfrm>
            <a:off x="7653155" y="1990950"/>
            <a:ext cx="4341622" cy="3604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b="1" dirty="0">
                <a:solidFill>
                  <a:srgbClr val="FF33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¿De qué se habla cada mañana?</a:t>
            </a:r>
          </a:p>
          <a:p>
            <a:endParaRPr lang="es-ES" sz="1400" b="1" dirty="0">
              <a:solidFill>
                <a:srgbClr val="FF3300"/>
              </a:solidFill>
              <a:latin typeface="Funnel Sans" pitchFamily="34" charset="0"/>
              <a:ea typeface="Funnel Sans" pitchFamily="34" charset="-122"/>
              <a:cs typeface="Funnel Sans" pitchFamily="34" charset="-120"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400" dirty="0" err="1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</a:t>
            </a:r>
            <a:r>
              <a:rPr lang="en-US" sz="14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una </a:t>
            </a:r>
            <a:r>
              <a:rPr lang="en-US" sz="1400" dirty="0" err="1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tecnológica</a:t>
            </a:r>
            <a:r>
              <a:rPr lang="en-US" sz="14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(SW):</a:t>
            </a:r>
          </a:p>
          <a:p>
            <a:r>
              <a:rPr lang="es-ES" sz="14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    "Ayer terminé el botón de registro.“</a:t>
            </a:r>
          </a:p>
          <a:p>
            <a:r>
              <a:rPr lang="es-ES" sz="14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    "Hoy voy a conectar la base de datos.“</a:t>
            </a:r>
          </a:p>
          <a:p>
            <a:r>
              <a:rPr lang="es-ES" sz="14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    "Bloqueo: El servidor de test está caído.“</a:t>
            </a:r>
          </a:p>
          <a:p>
            <a:endParaRPr lang="es-ES" sz="1400" b="1" dirty="0">
              <a:solidFill>
                <a:schemeClr val="bg1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r>
              <a:rPr lang="es-ES" sz="1400" b="1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Foco</a:t>
            </a:r>
            <a:r>
              <a:rPr lang="es-ES" sz="14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: El progreso de la construcción del producto.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s-ES" sz="1400" dirty="0">
              <a:solidFill>
                <a:schemeClr val="bg1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marL="285750" indent="-285750" algn="just">
              <a:buFont typeface="Wingdings" panose="05000000000000000000" pitchFamily="2" charset="2"/>
              <a:buChar char="à"/>
            </a:pPr>
            <a:r>
              <a:rPr lang="es-ES" sz="14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</a:rPr>
              <a:t>En Data </a:t>
            </a:r>
            <a:r>
              <a:rPr lang="es-ES" sz="1400" dirty="0" err="1">
                <a:solidFill>
                  <a:schemeClr val="bg1"/>
                </a:solidFill>
                <a:latin typeface="Funnel Sans" pitchFamily="34" charset="0"/>
                <a:ea typeface="Funnel Sans" pitchFamily="34" charset="-122"/>
              </a:rPr>
              <a:t>Science</a:t>
            </a:r>
            <a:r>
              <a:rPr lang="es-ES" sz="14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</a:rPr>
              <a:t>:  </a:t>
            </a:r>
          </a:p>
          <a:p>
            <a:pPr algn="just"/>
            <a:r>
              <a:rPr lang="es-ES" sz="14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</a:rPr>
              <a:t>      "Ayer limpié los nulos del </a:t>
            </a:r>
            <a:r>
              <a:rPr lang="es-ES" sz="1400" dirty="0" err="1">
                <a:solidFill>
                  <a:schemeClr val="bg1"/>
                </a:solidFill>
                <a:latin typeface="Funnel Sans" pitchFamily="34" charset="0"/>
                <a:ea typeface="Funnel Sans" pitchFamily="34" charset="-122"/>
              </a:rPr>
              <a:t>dataset</a:t>
            </a:r>
            <a:r>
              <a:rPr lang="es-ES" sz="14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</a:rPr>
              <a:t> de ventas.“</a:t>
            </a:r>
          </a:p>
          <a:p>
            <a:pPr algn="just"/>
            <a:r>
              <a:rPr lang="es-ES" sz="14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</a:rPr>
              <a:t>      "Hoy voy a lanzar el primer modelo </a:t>
            </a:r>
            <a:r>
              <a:rPr lang="es-ES" sz="1400" dirty="0" err="1">
                <a:solidFill>
                  <a:schemeClr val="bg1"/>
                </a:solidFill>
                <a:latin typeface="Funnel Sans" pitchFamily="34" charset="0"/>
                <a:ea typeface="Funnel Sans" pitchFamily="34" charset="-122"/>
              </a:rPr>
              <a:t>Baseline</a:t>
            </a:r>
            <a:r>
              <a:rPr lang="es-ES" sz="14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</a:rPr>
              <a:t>.“</a:t>
            </a:r>
          </a:p>
          <a:p>
            <a:pPr algn="just"/>
            <a:r>
              <a:rPr lang="es-ES" sz="14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</a:rPr>
              <a:t>      "Bloqueo: Los datos tienen un sesgo que no esperaba.“</a:t>
            </a:r>
          </a:p>
          <a:p>
            <a:pPr algn="just"/>
            <a:endParaRPr lang="es-ES" sz="1400" dirty="0">
              <a:solidFill>
                <a:schemeClr val="bg1"/>
              </a:solidFill>
              <a:latin typeface="Funnel Sans" pitchFamily="34" charset="0"/>
              <a:ea typeface="Funnel Sans" pitchFamily="34" charset="-122"/>
            </a:endParaRPr>
          </a:p>
          <a:p>
            <a:pPr algn="just"/>
            <a:r>
              <a:rPr lang="es-ES" sz="1400" b="1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</a:rPr>
              <a:t>Foco</a:t>
            </a:r>
            <a:r>
              <a:rPr lang="es-ES" sz="14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</a:rPr>
              <a:t>: El progreso de la validación de la hipótesis.</a:t>
            </a:r>
            <a:endParaRPr lang="en-US" sz="1400" dirty="0">
              <a:solidFill>
                <a:schemeClr val="bg1"/>
              </a:solidFill>
              <a:latin typeface="Funnel Sans" pitchFamily="34" charset="0"/>
              <a:ea typeface="Funnel Sans" pitchFamily="34" charset="-122"/>
            </a:endParaRPr>
          </a:p>
        </p:txBody>
      </p:sp>
      <p:pic>
        <p:nvPicPr>
          <p:cNvPr id="3074" name="Picture 2" descr="Scrum Events #3 Daily Scrum">
            <a:extLst>
              <a:ext uri="{FF2B5EF4-FFF2-40B4-BE49-F238E27FC236}">
                <a16:creationId xmlns:a16="http://schemas.microsoft.com/office/drawing/2014/main" id="{7282B13D-D9E7-4A71-BD17-E8C6A3E04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177" y="1968728"/>
            <a:ext cx="6499412" cy="360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BAE1426E-1BE1-42BF-91A9-4E58431E04AD}"/>
              </a:ext>
            </a:extLst>
          </p:cNvPr>
          <p:cNvSpPr txBox="1"/>
          <p:nvPr/>
        </p:nvSpPr>
        <p:spPr>
          <a:xfrm>
            <a:off x="1494831" y="6179585"/>
            <a:ext cx="8446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i="1" dirty="0">
                <a:solidFill>
                  <a:schemeClr val="bg1"/>
                </a:solidFill>
              </a:rPr>
              <a:t>'Tengo un bloqueo con la red neuronal, ¿quién me ayuda después </a:t>
            </a:r>
            <a:r>
              <a:rPr lang="es-ES" sz="1400" i="1" dirty="0">
                <a:solidFill>
                  <a:schemeClr val="bg1"/>
                </a:solidFill>
              </a:rPr>
              <a:t>de</a:t>
            </a:r>
            <a:r>
              <a:rPr lang="es-ES" i="1" dirty="0">
                <a:solidFill>
                  <a:schemeClr val="bg1"/>
                </a:solidFill>
              </a:rPr>
              <a:t> la </a:t>
            </a:r>
            <a:r>
              <a:rPr lang="es-ES" i="1" dirty="0" err="1">
                <a:solidFill>
                  <a:schemeClr val="bg1"/>
                </a:solidFill>
              </a:rPr>
              <a:t>Daily</a:t>
            </a:r>
            <a:r>
              <a:rPr lang="es-ES" i="1" dirty="0">
                <a:solidFill>
                  <a:schemeClr val="bg1"/>
                </a:solidFill>
              </a:rPr>
              <a:t>?'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4B3DAA-17ED-4897-8602-C91A8D79F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566" y="5722687"/>
            <a:ext cx="102515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 </a:t>
            </a:r>
            <a:r>
              <a:rPr kumimoji="0" lang="es-ES" altLang="es-ES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Daily</a:t>
            </a:r>
            <a:r>
              <a:rPr kumimoji="0" lang="es-ES" altLang="es-E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 es para resolver problemas</a:t>
            </a:r>
            <a:r>
              <a:rPr kumimoji="0" lang="es-ES" altLang="es-E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sino para hacer visibles bloqueos y coordinar el trabajo.</a:t>
            </a:r>
          </a:p>
        </p:txBody>
      </p:sp>
    </p:spTree>
    <p:extLst>
      <p:ext uri="{BB962C8B-B14F-4D97-AF65-F5344CB8AC3E}">
        <p14:creationId xmlns:p14="http://schemas.microsoft.com/office/powerpoint/2010/main" val="1156208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o 15">
            <a:extLst>
              <a:ext uri="{FF2B5EF4-FFF2-40B4-BE49-F238E27FC236}">
                <a16:creationId xmlns:a16="http://schemas.microsoft.com/office/drawing/2014/main" id="{99FB22D3-4035-4217-AC97-90F7F94792A0}"/>
              </a:ext>
            </a:extLst>
          </p:cNvPr>
          <p:cNvGrpSpPr/>
          <p:nvPr/>
        </p:nvGrpSpPr>
        <p:grpSpPr>
          <a:xfrm>
            <a:off x="477350" y="2036933"/>
            <a:ext cx="5969799" cy="2774580"/>
            <a:chOff x="2012851" y="1283494"/>
            <a:chExt cx="4371044" cy="2005930"/>
          </a:xfrm>
        </p:grpSpPr>
        <p:sp>
          <p:nvSpPr>
            <p:cNvPr id="5" name="Text 3"/>
            <p:cNvSpPr/>
            <p:nvPr/>
          </p:nvSpPr>
          <p:spPr>
            <a:xfrm>
              <a:off x="2012851" y="1283494"/>
              <a:ext cx="4349651" cy="6194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/>
              <a:r>
                <a:rPr lang="en-US" sz="1600" b="1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Kanban es un método visual para gestionar el trabajo </a:t>
              </a: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que se centra en </a:t>
              </a:r>
              <a:r>
                <a:rPr lang="en-US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el flujo continuo</a:t>
              </a: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y la </a:t>
              </a:r>
              <a:r>
                <a:rPr lang="en-US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limitación de tareas en progreso (WIP)</a:t>
              </a: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 Su principio fundamental es "detener de empezar, empezar de terminar".</a:t>
              </a:r>
            </a:p>
          </p:txBody>
        </p:sp>
        <p:sp>
          <p:nvSpPr>
            <p:cNvPr id="6" name="Text 4"/>
            <p:cNvSpPr/>
            <p:nvPr/>
          </p:nvSpPr>
          <p:spPr>
            <a:xfrm>
              <a:off x="2012851" y="1915403"/>
              <a:ext cx="4349651" cy="20647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just"/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 basa en:</a:t>
              </a:r>
            </a:p>
          </p:txBody>
        </p:sp>
        <p:sp>
          <p:nvSpPr>
            <p:cNvPr id="7" name="Text 5"/>
            <p:cNvSpPr/>
            <p:nvPr/>
          </p:nvSpPr>
          <p:spPr>
            <a:xfrm>
              <a:off x="2012851" y="2166763"/>
              <a:ext cx="4349651" cy="4129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39" indent="-285739" algn="just">
                <a:buSzPct val="100000"/>
                <a:buChar char="•"/>
              </a:pPr>
              <a:r>
                <a:rPr lang="en-US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Visualización del flujo de trabajo</a:t>
              </a: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Uso de tableros con columnas (por ejemplo, "Pendiente", "En Progreso", "Hecho").</a:t>
              </a:r>
            </a:p>
          </p:txBody>
        </p:sp>
        <p:sp>
          <p:nvSpPr>
            <p:cNvPr id="8" name="Text 6"/>
            <p:cNvSpPr/>
            <p:nvPr/>
          </p:nvSpPr>
          <p:spPr>
            <a:xfrm>
              <a:off x="2012851" y="2624856"/>
              <a:ext cx="4349651" cy="4129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39" indent="-285739" algn="just">
                <a:buSzPct val="100000"/>
                <a:buChar char="•"/>
              </a:pPr>
              <a:r>
                <a:rPr lang="en-US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Límites de WIP</a:t>
              </a: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Establecer un número máximo de tareas en cada columna para evitar la sobrecarga.</a:t>
              </a:r>
            </a:p>
          </p:txBody>
        </p:sp>
        <p:sp>
          <p:nvSpPr>
            <p:cNvPr id="9" name="Text 7"/>
            <p:cNvSpPr/>
            <p:nvPr/>
          </p:nvSpPr>
          <p:spPr>
            <a:xfrm>
              <a:off x="2012851" y="3082950"/>
              <a:ext cx="4371044" cy="2064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39" indent="-285739" algn="just">
                <a:buSzPct val="100000"/>
                <a:buChar char="•"/>
              </a:pPr>
              <a:r>
                <a:rPr lang="en-US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Gestión del </a:t>
              </a:r>
              <a:r>
                <a:rPr lang="en-US" sz="1600" b="1" dirty="0" err="1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flujo</a:t>
              </a:r>
              <a:r>
                <a:rPr lang="en-US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Optimizar la eficiencia y reducir los cuellos de botella.</a:t>
              </a:r>
            </a:p>
          </p:txBody>
        </p:sp>
      </p:grpSp>
      <p:sp>
        <p:nvSpPr>
          <p:cNvPr id="4" name="Text 2"/>
          <p:cNvSpPr/>
          <p:nvPr/>
        </p:nvSpPr>
        <p:spPr>
          <a:xfrm>
            <a:off x="2012851" y="2510334"/>
            <a:ext cx="5026323" cy="322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endParaRPr lang="en-US" sz="2000" dirty="0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B1EDB5EA-2B4E-4C3A-89FF-959A9FB93B12}"/>
              </a:ext>
            </a:extLst>
          </p:cNvPr>
          <p:cNvGrpSpPr/>
          <p:nvPr/>
        </p:nvGrpSpPr>
        <p:grpSpPr>
          <a:xfrm>
            <a:off x="497520" y="309240"/>
            <a:ext cx="10950768" cy="1452600"/>
            <a:chOff x="497520" y="309240"/>
            <a:chExt cx="10734480" cy="1452600"/>
          </a:xfrm>
        </p:grpSpPr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9D4B9CC1-C06D-40A6-A3B2-C0513B961509}"/>
                </a:ext>
              </a:extLst>
            </p:cNvPr>
            <p:cNvGrpSpPr/>
            <p:nvPr/>
          </p:nvGrpSpPr>
          <p:grpSpPr>
            <a:xfrm>
              <a:off x="497520" y="309240"/>
              <a:ext cx="10734480" cy="1325160"/>
              <a:chOff x="497520" y="309240"/>
              <a:chExt cx="10734480" cy="1325160"/>
            </a:xfrm>
          </p:grpSpPr>
          <p:sp>
            <p:nvSpPr>
              <p:cNvPr id="20" name="PlaceHolder 1">
                <a:extLst>
                  <a:ext uri="{FF2B5EF4-FFF2-40B4-BE49-F238E27FC236}">
                    <a16:creationId xmlns:a16="http://schemas.microsoft.com/office/drawing/2014/main" id="{7113718A-341A-4C1B-8D65-07EEB275DE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760" y="309240"/>
                <a:ext cx="10515240" cy="13251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tabLst>
                    <a:tab pos="0" algn="l"/>
                  </a:tabLst>
                </a:pPr>
                <a:r>
                  <a:rPr lang="es-ES" sz="4400" i="1" spc="-1" dirty="0">
                    <a:solidFill>
                      <a:srgbClr val="D8D8D8"/>
                    </a:solidFill>
                    <a:latin typeface="Calibri"/>
                    <a:ea typeface="Calibri"/>
                  </a:rPr>
                  <a:t>Kanban</a:t>
                </a:r>
                <a:endParaRPr lang="es-ES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" name="Google Shape;93;p2">
                <a:extLst>
                  <a:ext uri="{FF2B5EF4-FFF2-40B4-BE49-F238E27FC236}">
                    <a16:creationId xmlns:a16="http://schemas.microsoft.com/office/drawing/2014/main" id="{4C8ECF7D-6E9F-4F3E-A012-96CF8E1CE53A}"/>
                  </a:ext>
                </a:extLst>
              </p:cNvPr>
              <p:cNvSpPr/>
              <p:nvPr/>
            </p:nvSpPr>
            <p:spPr>
              <a:xfrm>
                <a:off x="497520" y="763200"/>
                <a:ext cx="89640" cy="654120"/>
              </a:xfrm>
              <a:prstGeom prst="rect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s-ES" sz="1800" b="0" strike="noStrike" spc="-1">
                  <a:solidFill>
                    <a:schemeClr val="lt1"/>
                  </a:solidFill>
                  <a:latin typeface="Calibri"/>
                  <a:ea typeface="Calibri"/>
                </a:endParaRPr>
              </a:p>
            </p:txBody>
          </p:sp>
        </p:grpSp>
        <p:sp>
          <p:nvSpPr>
            <p:cNvPr id="19" name="PlaceHolder 2">
              <a:extLst>
                <a:ext uri="{FF2B5EF4-FFF2-40B4-BE49-F238E27FC236}">
                  <a16:creationId xmlns:a16="http://schemas.microsoft.com/office/drawing/2014/main" id="{4B2DEA0B-B9FF-4999-896B-078F4218CF16}"/>
                </a:ext>
              </a:extLst>
            </p:cNvPr>
            <p:cNvSpPr txBox="1">
              <a:spLocks/>
            </p:cNvSpPr>
            <p:nvPr/>
          </p:nvSpPr>
          <p:spPr>
            <a:xfrm>
              <a:off x="716760" y="1283040"/>
              <a:ext cx="5487480" cy="4788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45720" rIns="91440" bIns="4572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sz="1800" i="1" spc="-1" dirty="0">
                  <a:solidFill>
                    <a:srgbClr val="D8D8D8"/>
                  </a:solidFill>
                  <a:latin typeface="Calibri"/>
                  <a:ea typeface="Calibri"/>
                </a:rPr>
                <a:t>Visualizando el Flujo de Trabajo</a:t>
              </a:r>
            </a:p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s-ES" sz="1800" i="1" spc="-1" dirty="0">
                <a:solidFill>
                  <a:srgbClr val="D8D8D8"/>
                </a:solidFill>
                <a:latin typeface="Calibri"/>
                <a:ea typeface="Calibri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s-ES" sz="1800" i="1" spc="-1" dirty="0">
                <a:solidFill>
                  <a:srgbClr val="D8D8D8"/>
                </a:solidFill>
                <a:latin typeface="Calibri"/>
                <a:ea typeface="Calibri"/>
              </a:endParaRP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58F8901A-D5A8-4DB9-B0A1-783416898CBA}"/>
              </a:ext>
            </a:extLst>
          </p:cNvPr>
          <p:cNvGrpSpPr/>
          <p:nvPr/>
        </p:nvGrpSpPr>
        <p:grpSpPr>
          <a:xfrm>
            <a:off x="6944655" y="6100459"/>
            <a:ext cx="5088849" cy="516632"/>
            <a:chOff x="2249785" y="6006107"/>
            <a:chExt cx="7692430" cy="516632"/>
          </a:xfrm>
        </p:grpSpPr>
        <p:sp>
          <p:nvSpPr>
            <p:cNvPr id="37" name="Shape 9">
              <a:extLst>
                <a:ext uri="{FF2B5EF4-FFF2-40B4-BE49-F238E27FC236}">
                  <a16:creationId xmlns:a16="http://schemas.microsoft.com/office/drawing/2014/main" id="{E5453B2B-A208-49E2-98FA-D24B8D53A833}"/>
                </a:ext>
              </a:extLst>
            </p:cNvPr>
            <p:cNvSpPr/>
            <p:nvPr/>
          </p:nvSpPr>
          <p:spPr>
            <a:xfrm>
              <a:off x="2249785" y="6006107"/>
              <a:ext cx="7692430" cy="516632"/>
            </a:xfrm>
            <a:prstGeom prst="roundRect">
              <a:avLst>
                <a:gd name="adj" fmla="val 9887"/>
              </a:avLst>
            </a:prstGeom>
            <a:solidFill>
              <a:srgbClr val="D4D6DE"/>
            </a:solidFill>
            <a:ln/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38" name="Image 1" descr="preencoded.png">
              <a:extLst>
                <a:ext uri="{FF2B5EF4-FFF2-40B4-BE49-F238E27FC236}">
                  <a16:creationId xmlns:a16="http://schemas.microsoft.com/office/drawing/2014/main" id="{59E64DD3-CC5D-4D1E-A896-A4EDFB445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29862" y="6133851"/>
              <a:ext cx="273545" cy="218729"/>
            </a:xfrm>
            <a:prstGeom prst="rect">
              <a:avLst/>
            </a:prstGeom>
          </p:spPr>
        </p:pic>
        <p:sp>
          <p:nvSpPr>
            <p:cNvPr id="39" name="Text 10">
              <a:extLst>
                <a:ext uri="{FF2B5EF4-FFF2-40B4-BE49-F238E27FC236}">
                  <a16:creationId xmlns:a16="http://schemas.microsoft.com/office/drawing/2014/main" id="{5368FDDC-6126-4349-A5EE-92730D12934A}"/>
                </a:ext>
              </a:extLst>
            </p:cNvPr>
            <p:cNvSpPr/>
            <p:nvPr/>
          </p:nvSpPr>
          <p:spPr>
            <a:xfrm>
              <a:off x="2685529" y="6112649"/>
              <a:ext cx="7175797" cy="39215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r>
                <a:rPr lang="en-US" sz="1100" dirty="0">
                  <a:solidFill>
                    <a:srgbClr val="0000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The Official Guide to the Kanban Method </a:t>
              </a:r>
            </a:p>
            <a:p>
              <a:r>
                <a:rPr lang="en-US" sz="1000" dirty="0">
                  <a:solidFill>
                    <a:srgbClr val="0000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  <a:hlinkClick r:id="rId4"/>
                </a:rPr>
                <a:t>http://kanban.university/kanban-guide/</a:t>
              </a:r>
              <a:r>
                <a:rPr lang="en-US" sz="1000" dirty="0">
                  <a:solidFill>
                    <a:srgbClr val="0000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</a:t>
              </a:r>
              <a:endParaRPr lang="es-ES" sz="10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endParaRPr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AF9CB212-FBE2-4F40-BFF7-DD9D7889D69D}"/>
              </a:ext>
            </a:extLst>
          </p:cNvPr>
          <p:cNvGrpSpPr/>
          <p:nvPr/>
        </p:nvGrpSpPr>
        <p:grpSpPr>
          <a:xfrm>
            <a:off x="497520" y="5227262"/>
            <a:ext cx="11182664" cy="929041"/>
            <a:chOff x="2249785" y="5206802"/>
            <a:chExt cx="9933542" cy="929041"/>
          </a:xfrm>
        </p:grpSpPr>
        <p:sp>
          <p:nvSpPr>
            <p:cNvPr id="41" name="Text 7">
              <a:extLst>
                <a:ext uri="{FF2B5EF4-FFF2-40B4-BE49-F238E27FC236}">
                  <a16:creationId xmlns:a16="http://schemas.microsoft.com/office/drawing/2014/main" id="{A5C6B95B-9E17-4AC2-9A03-75154184848F}"/>
                </a:ext>
              </a:extLst>
            </p:cNvPr>
            <p:cNvSpPr/>
            <p:nvPr/>
          </p:nvSpPr>
          <p:spPr>
            <a:xfrm>
              <a:off x="2432150" y="5343525"/>
              <a:ext cx="9751177" cy="7923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b="1" dirty="0" err="1">
                  <a:solidFill>
                    <a:srgbClr val="FF33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En</a:t>
              </a:r>
              <a:r>
                <a:rPr lang="en-US" b="1" dirty="0">
                  <a:solidFill>
                    <a:srgbClr val="FF33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Data Science</a:t>
              </a:r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, </a:t>
              </a:r>
              <a:r>
                <a:rPr lang="es-E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Kanban es muy utilizado en entornos de análisis y operaciones de datos. Permite una priorización flexible y un enfoque en el impacto real, ideal para proyectos donde las prioridades pueden cambiar rápidamente o para la gestión de solicitudes recurrentes.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42" name="Shape 8">
              <a:extLst>
                <a:ext uri="{FF2B5EF4-FFF2-40B4-BE49-F238E27FC236}">
                  <a16:creationId xmlns:a16="http://schemas.microsoft.com/office/drawing/2014/main" id="{1CAC1C62-B9D0-4D9F-BC71-DD272C07A86E}"/>
                </a:ext>
              </a:extLst>
            </p:cNvPr>
            <p:cNvSpPr/>
            <p:nvPr/>
          </p:nvSpPr>
          <p:spPr>
            <a:xfrm>
              <a:off x="2249785" y="5206802"/>
              <a:ext cx="12700" cy="662583"/>
            </a:xfrm>
            <a:prstGeom prst="rect">
              <a:avLst/>
            </a:prstGeom>
            <a:solidFill>
              <a:srgbClr val="373B48"/>
            </a:solidFill>
            <a:ln/>
          </p:spPr>
        </p:sp>
      </p:grpSp>
      <p:pic>
        <p:nvPicPr>
          <p:cNvPr id="2050" name="Picture 2" descr="Cómo usar trello: modo básico">
            <a:extLst>
              <a:ext uri="{FF2B5EF4-FFF2-40B4-BE49-F238E27FC236}">
                <a16:creationId xmlns:a16="http://schemas.microsoft.com/office/drawing/2014/main" id="{EF4056B2-F15A-42F8-9FB2-B4120901C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393" y="2757771"/>
            <a:ext cx="4953082" cy="2258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3FD3BBC1-D562-4DF3-9CDE-0F469E7A0A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0899" y="903155"/>
            <a:ext cx="2720576" cy="1699407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2A846B6F-56C0-486A-832E-41EC4AA034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2382" y="1014246"/>
            <a:ext cx="2331922" cy="15698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n 41">
            <a:extLst>
              <a:ext uri="{FF2B5EF4-FFF2-40B4-BE49-F238E27FC236}">
                <a16:creationId xmlns:a16="http://schemas.microsoft.com/office/drawing/2014/main" id="{7C2F00AA-C353-4F76-8D20-32E8EA70B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492" y="1634400"/>
            <a:ext cx="3541614" cy="3312900"/>
          </a:xfrm>
          <a:prstGeom prst="rect">
            <a:avLst/>
          </a:prstGeom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77BDECE9-C60A-47E9-B760-5B8B7A74F953}"/>
              </a:ext>
            </a:extLst>
          </p:cNvPr>
          <p:cNvGrpSpPr/>
          <p:nvPr/>
        </p:nvGrpSpPr>
        <p:grpSpPr>
          <a:xfrm>
            <a:off x="492121" y="2036932"/>
            <a:ext cx="6948582" cy="3077016"/>
            <a:chOff x="2356742" y="1175047"/>
            <a:chExt cx="3683460" cy="2796481"/>
          </a:xfrm>
        </p:grpSpPr>
        <p:sp>
          <p:nvSpPr>
            <p:cNvPr id="5" name="Text 3"/>
            <p:cNvSpPr/>
            <p:nvPr/>
          </p:nvSpPr>
          <p:spPr>
            <a:xfrm>
              <a:off x="2356744" y="1175047"/>
              <a:ext cx="3595093" cy="6514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/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CRISP-DM (Cross-Industry Standard Process for Data Mining) </a:t>
              </a:r>
              <a:r>
                <a:rPr lang="en-US" sz="1600" b="1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es una metodología clásica y ampliamente reconocida para el desarrollo de proyectos de minería de datos y Data Science.</a:t>
              </a:r>
            </a:p>
          </p:txBody>
        </p:sp>
        <p:sp>
          <p:nvSpPr>
            <p:cNvPr id="6" name="Text 4"/>
            <p:cNvSpPr/>
            <p:nvPr/>
          </p:nvSpPr>
          <p:spPr>
            <a:xfrm>
              <a:off x="2356742" y="1865337"/>
              <a:ext cx="3683460" cy="4386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/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Proporciona un marco estructurado y repetible para el ciclo de vida de un proyecto, dividiéndolo en seis fases interconectadas:</a:t>
              </a:r>
            </a:p>
          </p:txBody>
        </p:sp>
        <p:sp>
          <p:nvSpPr>
            <p:cNvPr id="7" name="Text 5"/>
            <p:cNvSpPr/>
            <p:nvPr/>
          </p:nvSpPr>
          <p:spPr>
            <a:xfrm>
              <a:off x="2356744" y="2374562"/>
              <a:ext cx="3595093" cy="1892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39" indent="-285739" algn="just">
                <a:buSzPct val="100000"/>
                <a:buFont typeface="+mj-lt"/>
                <a:buAutoNum type="arabicPeriod"/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Comprensión del Negocio</a:t>
              </a:r>
            </a:p>
          </p:txBody>
        </p:sp>
        <p:sp>
          <p:nvSpPr>
            <p:cNvPr id="8" name="Text 6"/>
            <p:cNvSpPr/>
            <p:nvPr/>
          </p:nvSpPr>
          <p:spPr>
            <a:xfrm>
              <a:off x="2356744" y="2605147"/>
              <a:ext cx="3595093" cy="1892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39" indent="-285739" algn="just">
                <a:buSzPct val="100000"/>
                <a:buFont typeface="+mj-lt"/>
                <a:buAutoNum type="arabicPeriod" startAt="2"/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Comprensión de los Datos</a:t>
              </a:r>
            </a:p>
          </p:txBody>
        </p:sp>
        <p:sp>
          <p:nvSpPr>
            <p:cNvPr id="9" name="Text 7"/>
            <p:cNvSpPr/>
            <p:nvPr/>
          </p:nvSpPr>
          <p:spPr>
            <a:xfrm>
              <a:off x="2356744" y="2835731"/>
              <a:ext cx="3595093" cy="1892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39" indent="-285739" algn="just">
                <a:buSzPct val="100000"/>
                <a:buFont typeface="+mj-lt"/>
                <a:buAutoNum type="arabicPeriod" startAt="3"/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Preparación de los Datos</a:t>
              </a:r>
            </a:p>
          </p:txBody>
        </p:sp>
        <p:sp>
          <p:nvSpPr>
            <p:cNvPr id="10" name="Text 8"/>
            <p:cNvSpPr/>
            <p:nvPr/>
          </p:nvSpPr>
          <p:spPr>
            <a:xfrm>
              <a:off x="2356744" y="3066315"/>
              <a:ext cx="3595093" cy="1892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39" indent="-285739" algn="just">
                <a:buSzPct val="100000"/>
                <a:buFont typeface="+mj-lt"/>
                <a:buAutoNum type="arabicPeriod" startAt="4"/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Modelado</a:t>
              </a:r>
            </a:p>
          </p:txBody>
        </p:sp>
        <p:sp>
          <p:nvSpPr>
            <p:cNvPr id="11" name="Text 9"/>
            <p:cNvSpPr/>
            <p:nvPr/>
          </p:nvSpPr>
          <p:spPr>
            <a:xfrm>
              <a:off x="2356744" y="3296899"/>
              <a:ext cx="3595093" cy="1892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39" indent="-285739" algn="just">
                <a:buSzPct val="100000"/>
                <a:buFont typeface="+mj-lt"/>
                <a:buAutoNum type="arabicPeriod" startAt="5"/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Evaluación</a:t>
              </a:r>
            </a:p>
          </p:txBody>
        </p:sp>
        <p:sp>
          <p:nvSpPr>
            <p:cNvPr id="12" name="Text 10"/>
            <p:cNvSpPr/>
            <p:nvPr/>
          </p:nvSpPr>
          <p:spPr>
            <a:xfrm>
              <a:off x="2356744" y="3527483"/>
              <a:ext cx="3595093" cy="1892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39" indent="-285739" algn="just">
                <a:buSzPct val="100000"/>
                <a:buFont typeface="+mj-lt"/>
                <a:buAutoNum type="arabicPeriod" startAt="6"/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Despliegue</a:t>
              </a:r>
            </a:p>
          </p:txBody>
        </p:sp>
        <p:sp>
          <p:nvSpPr>
            <p:cNvPr id="13" name="Text 11"/>
            <p:cNvSpPr/>
            <p:nvPr/>
          </p:nvSpPr>
          <p:spPr>
            <a:xfrm>
              <a:off x="2356744" y="3782318"/>
              <a:ext cx="3595093" cy="1892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just"/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 pesar de su antigüedad, </a:t>
              </a:r>
              <a:r>
                <a:rPr lang="en-US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sigue siendo relevante</a:t>
              </a: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013904BA-9F37-4621-8362-D710D5ED75D1}"/>
              </a:ext>
            </a:extLst>
          </p:cNvPr>
          <p:cNvGrpSpPr/>
          <p:nvPr/>
        </p:nvGrpSpPr>
        <p:grpSpPr>
          <a:xfrm>
            <a:off x="6944655" y="6100459"/>
            <a:ext cx="5088849" cy="516632"/>
            <a:chOff x="2249785" y="6006107"/>
            <a:chExt cx="7692430" cy="516632"/>
          </a:xfrm>
        </p:grpSpPr>
        <p:sp>
          <p:nvSpPr>
            <p:cNvPr id="22" name="Shape 9">
              <a:extLst>
                <a:ext uri="{FF2B5EF4-FFF2-40B4-BE49-F238E27FC236}">
                  <a16:creationId xmlns:a16="http://schemas.microsoft.com/office/drawing/2014/main" id="{F6847F40-828E-4494-BC83-3151C4B0BB62}"/>
                </a:ext>
              </a:extLst>
            </p:cNvPr>
            <p:cNvSpPr/>
            <p:nvPr/>
          </p:nvSpPr>
          <p:spPr>
            <a:xfrm>
              <a:off x="2249785" y="6006107"/>
              <a:ext cx="7692430" cy="516632"/>
            </a:xfrm>
            <a:prstGeom prst="roundRect">
              <a:avLst>
                <a:gd name="adj" fmla="val 9887"/>
              </a:avLst>
            </a:prstGeom>
            <a:solidFill>
              <a:srgbClr val="D4D6DE"/>
            </a:solidFill>
            <a:ln/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23" name="Image 1" descr="preencoded.png">
              <a:extLst>
                <a:ext uri="{FF2B5EF4-FFF2-40B4-BE49-F238E27FC236}">
                  <a16:creationId xmlns:a16="http://schemas.microsoft.com/office/drawing/2014/main" id="{778EEEB9-F4F4-4042-91E2-61F78C79B3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29862" y="6133851"/>
              <a:ext cx="273545" cy="218729"/>
            </a:xfrm>
            <a:prstGeom prst="rect">
              <a:avLst/>
            </a:prstGeom>
          </p:spPr>
        </p:pic>
        <p:sp>
          <p:nvSpPr>
            <p:cNvPr id="24" name="Text 10">
              <a:extLst>
                <a:ext uri="{FF2B5EF4-FFF2-40B4-BE49-F238E27FC236}">
                  <a16:creationId xmlns:a16="http://schemas.microsoft.com/office/drawing/2014/main" id="{464C462F-F76C-44BA-A434-C1114CDA80B5}"/>
                </a:ext>
              </a:extLst>
            </p:cNvPr>
            <p:cNvSpPr/>
            <p:nvPr/>
          </p:nvSpPr>
          <p:spPr>
            <a:xfrm>
              <a:off x="2644874" y="6175405"/>
              <a:ext cx="7175797" cy="194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/>
              <a:r>
                <a:rPr lang="es-ES" sz="1000" dirty="0">
                  <a:solidFill>
                    <a:srgbClr val="000000"/>
                  </a:solidFill>
                  <a:latin typeface="Funnel Sans" panose="020B0604020202020204" charset="0"/>
                  <a:ea typeface="Funnel Sans" pitchFamily="34" charset="-122"/>
                  <a:cs typeface="Funnel Sans" pitchFamily="34" charset="-120"/>
                </a:rPr>
                <a:t>CRISP-DM – IBM SPSS </a:t>
              </a:r>
              <a:r>
                <a:rPr lang="es-ES" sz="1000" dirty="0" err="1">
                  <a:solidFill>
                    <a:srgbClr val="000000"/>
                  </a:solidFill>
                  <a:latin typeface="Funnel Sans" panose="020B0604020202020204" charset="0"/>
                  <a:ea typeface="Funnel Sans" pitchFamily="34" charset="-122"/>
                  <a:cs typeface="Funnel Sans" pitchFamily="34" charset="-120"/>
                </a:rPr>
                <a:t>Modeler</a:t>
              </a:r>
              <a:r>
                <a:rPr lang="es-ES" sz="1000" dirty="0">
                  <a:solidFill>
                    <a:srgbClr val="000000"/>
                  </a:solidFill>
                  <a:latin typeface="Funnel Sans" panose="020B0604020202020204" charset="0"/>
                  <a:ea typeface="Funnel Sans" pitchFamily="34" charset="-122"/>
                  <a:cs typeface="Funnel Sans" pitchFamily="34" charset="-120"/>
                </a:rPr>
                <a:t> </a:t>
              </a:r>
              <a:r>
                <a:rPr lang="es-ES" sz="1000" b="0" i="0" u="sng" strike="noStrike" dirty="0">
                  <a:solidFill>
                    <a:srgbClr val="99C3FF"/>
                  </a:solidFill>
                  <a:effectLst/>
                  <a:latin typeface="Funnel Sans" panose="020B0604020202020204" charset="0"/>
                  <a:hlinkClick r:id="rId5"/>
                </a:rPr>
                <a:t>Guía de CRISP-DM de IBM SPSS </a:t>
              </a:r>
              <a:r>
                <a:rPr lang="es-ES" sz="1000" b="0" i="0" u="sng" strike="noStrike" dirty="0" err="1">
                  <a:solidFill>
                    <a:srgbClr val="99C3FF"/>
                  </a:solidFill>
                  <a:effectLst/>
                  <a:latin typeface="Funnel Sans" panose="020B0604020202020204" charset="0"/>
                  <a:hlinkClick r:id="rId5"/>
                </a:rPr>
                <a:t>Modeler</a:t>
              </a:r>
              <a:endParaRPr lang="es-ES" sz="1000" b="0" i="0" u="sng" strike="noStrike" dirty="0">
                <a:solidFill>
                  <a:srgbClr val="99C3FF"/>
                </a:solidFill>
                <a:effectLst/>
                <a:latin typeface="Funnel Sans" panose="020B0604020202020204" charset="0"/>
                <a:hlinkClick r:id="rId5"/>
              </a:endParaRPr>
            </a:p>
            <a:p>
              <a:br>
                <a:rPr lang="es-ES" sz="1000" b="0" i="0" u="none" strike="noStrike" dirty="0">
                  <a:solidFill>
                    <a:srgbClr val="99C3FF"/>
                  </a:solidFill>
                  <a:effectLst/>
                  <a:latin typeface="Arial" panose="020B0604020202020204" pitchFamily="34" charset="0"/>
                  <a:hlinkClick r:id="rId5"/>
                </a:rPr>
              </a:br>
              <a:r>
                <a:rPr lang="es-ES" sz="1000" dirty="0">
                  <a:solidFill>
                    <a:srgbClr val="0000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</a:t>
              </a: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9879F5B1-DC37-47C3-A7BD-4D268F09DF11}"/>
              </a:ext>
            </a:extLst>
          </p:cNvPr>
          <p:cNvGrpSpPr/>
          <p:nvPr/>
        </p:nvGrpSpPr>
        <p:grpSpPr>
          <a:xfrm>
            <a:off x="497520" y="5227262"/>
            <a:ext cx="11535984" cy="986947"/>
            <a:chOff x="2249785" y="5206802"/>
            <a:chExt cx="10247395" cy="986947"/>
          </a:xfrm>
        </p:grpSpPr>
        <p:sp>
          <p:nvSpPr>
            <p:cNvPr id="26" name="Text 7">
              <a:extLst>
                <a:ext uri="{FF2B5EF4-FFF2-40B4-BE49-F238E27FC236}">
                  <a16:creationId xmlns:a16="http://schemas.microsoft.com/office/drawing/2014/main" id="{7A4A2BC2-5CB0-4A91-BDC9-503903B230BC}"/>
                </a:ext>
              </a:extLst>
            </p:cNvPr>
            <p:cNvSpPr/>
            <p:nvPr/>
          </p:nvSpPr>
          <p:spPr>
            <a:xfrm>
              <a:off x="2432150" y="5343524"/>
              <a:ext cx="10065030" cy="8502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b="1" dirty="0" err="1">
                  <a:solidFill>
                    <a:srgbClr val="FF33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En</a:t>
              </a:r>
              <a:r>
                <a:rPr lang="en-US" b="1" dirty="0">
                  <a:solidFill>
                    <a:srgbClr val="FF33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Data Science</a:t>
              </a:r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, </a:t>
              </a:r>
              <a:r>
                <a:rPr lang="es-E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CRISP-DM ofrece una guía sólida para estructurar el ciclo analítico completo. Se combina perfectamente con Agile: las fases de CRISP-DM pueden gestionarse de forma iterativa dentro de </a:t>
              </a:r>
              <a:r>
                <a:rPr lang="es-ES" dirty="0" err="1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sprints</a:t>
              </a:r>
              <a:r>
                <a:rPr lang="es-E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Agile, aportando estructura al "qué" y agilidad al "cómo“.</a:t>
              </a:r>
            </a:p>
            <a:p>
              <a:endParaRPr lang="en-US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7" name="Shape 8">
              <a:extLst>
                <a:ext uri="{FF2B5EF4-FFF2-40B4-BE49-F238E27FC236}">
                  <a16:creationId xmlns:a16="http://schemas.microsoft.com/office/drawing/2014/main" id="{F88E4D61-1140-400C-B7B1-CC826171A9B8}"/>
                </a:ext>
              </a:extLst>
            </p:cNvPr>
            <p:cNvSpPr/>
            <p:nvPr/>
          </p:nvSpPr>
          <p:spPr>
            <a:xfrm>
              <a:off x="2249785" y="5206802"/>
              <a:ext cx="12700" cy="662583"/>
            </a:xfrm>
            <a:prstGeom prst="rect">
              <a:avLst/>
            </a:prstGeom>
            <a:solidFill>
              <a:srgbClr val="373B48"/>
            </a:solidFill>
            <a:ln/>
          </p:spPr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C0685672-C81E-4F41-98B8-EDA200288D84}"/>
              </a:ext>
            </a:extLst>
          </p:cNvPr>
          <p:cNvGrpSpPr/>
          <p:nvPr/>
        </p:nvGrpSpPr>
        <p:grpSpPr>
          <a:xfrm>
            <a:off x="497520" y="309240"/>
            <a:ext cx="10950768" cy="1452600"/>
            <a:chOff x="497520" y="309240"/>
            <a:chExt cx="10734480" cy="1452600"/>
          </a:xfrm>
        </p:grpSpPr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AB164AA0-A30C-48E4-BC23-D5452CE89C14}"/>
                </a:ext>
              </a:extLst>
            </p:cNvPr>
            <p:cNvGrpSpPr/>
            <p:nvPr/>
          </p:nvGrpSpPr>
          <p:grpSpPr>
            <a:xfrm>
              <a:off x="497520" y="309240"/>
              <a:ext cx="10734480" cy="1325160"/>
              <a:chOff x="497520" y="309240"/>
              <a:chExt cx="10734480" cy="1325160"/>
            </a:xfrm>
          </p:grpSpPr>
          <p:sp>
            <p:nvSpPr>
              <p:cNvPr id="31" name="PlaceHolder 1">
                <a:extLst>
                  <a:ext uri="{FF2B5EF4-FFF2-40B4-BE49-F238E27FC236}">
                    <a16:creationId xmlns:a16="http://schemas.microsoft.com/office/drawing/2014/main" id="{24F01C63-5145-455B-89E9-83EB195ED7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760" y="309240"/>
                <a:ext cx="10515240" cy="13251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tabLst>
                    <a:tab pos="0" algn="l"/>
                  </a:tabLst>
                </a:pPr>
                <a:r>
                  <a:rPr lang="es-ES" sz="4400" i="1" spc="-1" dirty="0">
                    <a:solidFill>
                      <a:srgbClr val="D8D8D8"/>
                    </a:solidFill>
                    <a:latin typeface="Calibri"/>
                    <a:ea typeface="Calibri"/>
                  </a:rPr>
                  <a:t>CRISP-DM</a:t>
                </a:r>
                <a:endParaRPr lang="es-ES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" name="Google Shape;93;p2">
                <a:extLst>
                  <a:ext uri="{FF2B5EF4-FFF2-40B4-BE49-F238E27FC236}">
                    <a16:creationId xmlns:a16="http://schemas.microsoft.com/office/drawing/2014/main" id="{D434AA93-9EBE-4294-A75B-C3745D563C18}"/>
                  </a:ext>
                </a:extLst>
              </p:cNvPr>
              <p:cNvSpPr/>
              <p:nvPr/>
            </p:nvSpPr>
            <p:spPr>
              <a:xfrm>
                <a:off x="497520" y="763200"/>
                <a:ext cx="89640" cy="654120"/>
              </a:xfrm>
              <a:prstGeom prst="rect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s-ES" sz="1800" b="0" strike="noStrike" spc="-1">
                  <a:solidFill>
                    <a:schemeClr val="lt1"/>
                  </a:solidFill>
                  <a:latin typeface="Calibri"/>
                  <a:ea typeface="Calibri"/>
                </a:endParaRPr>
              </a:p>
            </p:txBody>
          </p:sp>
        </p:grpSp>
        <p:sp>
          <p:nvSpPr>
            <p:cNvPr id="30" name="PlaceHolder 2">
              <a:extLst>
                <a:ext uri="{FF2B5EF4-FFF2-40B4-BE49-F238E27FC236}">
                  <a16:creationId xmlns:a16="http://schemas.microsoft.com/office/drawing/2014/main" id="{1123E9BB-1C06-4E95-B56C-0DA989F6739E}"/>
                </a:ext>
              </a:extLst>
            </p:cNvPr>
            <p:cNvSpPr txBox="1">
              <a:spLocks/>
            </p:cNvSpPr>
            <p:nvPr/>
          </p:nvSpPr>
          <p:spPr>
            <a:xfrm>
              <a:off x="716760" y="1283040"/>
              <a:ext cx="5487480" cy="4788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45720" rIns="91440" bIns="4572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sz="1800" i="1" spc="-1" dirty="0">
                  <a:solidFill>
                    <a:srgbClr val="D8D8D8"/>
                  </a:solidFill>
                  <a:latin typeface="Calibri"/>
                  <a:ea typeface="Calibri"/>
                </a:rPr>
                <a:t>Un Estándar para Proyectos de Datos</a:t>
              </a:r>
            </a:p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s-ES" sz="1800" i="1" spc="-1" dirty="0">
                <a:solidFill>
                  <a:srgbClr val="D8D8D8"/>
                </a:solidFill>
                <a:latin typeface="Calibri"/>
                <a:ea typeface="Calibri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s-ES" sz="1800" i="1" spc="-1" dirty="0">
                <a:solidFill>
                  <a:srgbClr val="D8D8D8"/>
                </a:solidFill>
                <a:latin typeface="Calibri"/>
                <a:ea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B45A641F-6171-450F-BDF7-8D606288D433}"/>
              </a:ext>
            </a:extLst>
          </p:cNvPr>
          <p:cNvGrpSpPr/>
          <p:nvPr/>
        </p:nvGrpSpPr>
        <p:grpSpPr>
          <a:xfrm>
            <a:off x="497520" y="309240"/>
            <a:ext cx="10950768" cy="1452600"/>
            <a:chOff x="497520" y="309240"/>
            <a:chExt cx="10734480" cy="1452600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CBF0A8A6-C4F2-4560-BEF8-C09CFA8803A6}"/>
                </a:ext>
              </a:extLst>
            </p:cNvPr>
            <p:cNvGrpSpPr/>
            <p:nvPr/>
          </p:nvGrpSpPr>
          <p:grpSpPr>
            <a:xfrm>
              <a:off x="497520" y="309240"/>
              <a:ext cx="10734480" cy="1325160"/>
              <a:chOff x="497520" y="309240"/>
              <a:chExt cx="10734480" cy="1325160"/>
            </a:xfrm>
          </p:grpSpPr>
          <p:sp>
            <p:nvSpPr>
              <p:cNvPr id="5" name="PlaceHolder 1">
                <a:extLst>
                  <a:ext uri="{FF2B5EF4-FFF2-40B4-BE49-F238E27FC236}">
                    <a16:creationId xmlns:a16="http://schemas.microsoft.com/office/drawing/2014/main" id="{9A465457-78F3-47FC-BFAA-FCAAFA1C3F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760" y="309240"/>
                <a:ext cx="10515240" cy="13251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tabLst>
                    <a:tab pos="0" algn="l"/>
                  </a:tabLst>
                </a:pPr>
                <a:r>
                  <a:rPr lang="fr-FR" sz="4400" dirty="0">
                    <a:solidFill>
                      <a:schemeClr val="bg1"/>
                    </a:solidFill>
                    <a:latin typeface="Mona Sans Semi Bold" pitchFamily="34" charset="0"/>
                    <a:ea typeface="Mona Sans Semi Bold" pitchFamily="34" charset="-122"/>
                    <a:cs typeface="Mona Sans Semi Bold" pitchFamily="34" charset="-120"/>
                  </a:rPr>
                  <a:t>Agile Data Science y MLOPS</a:t>
                </a:r>
                <a:endParaRPr lang="es-ES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" name="Google Shape;93;p2">
                <a:extLst>
                  <a:ext uri="{FF2B5EF4-FFF2-40B4-BE49-F238E27FC236}">
                    <a16:creationId xmlns:a16="http://schemas.microsoft.com/office/drawing/2014/main" id="{A0DDA3B3-CAE1-4174-9C0D-861E608DD8D1}"/>
                  </a:ext>
                </a:extLst>
              </p:cNvPr>
              <p:cNvSpPr/>
              <p:nvPr/>
            </p:nvSpPr>
            <p:spPr>
              <a:xfrm>
                <a:off x="497520" y="763200"/>
                <a:ext cx="89640" cy="654120"/>
              </a:xfrm>
              <a:prstGeom prst="rect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s-ES" sz="1800" b="0" strike="noStrike" spc="-1">
                  <a:solidFill>
                    <a:schemeClr val="lt1"/>
                  </a:solidFill>
                  <a:latin typeface="Calibri"/>
                  <a:ea typeface="Calibri"/>
                </a:endParaRPr>
              </a:p>
            </p:txBody>
          </p:sp>
        </p:grpSp>
        <p:sp>
          <p:nvSpPr>
            <p:cNvPr id="4" name="PlaceHolder 2">
              <a:extLst>
                <a:ext uri="{FF2B5EF4-FFF2-40B4-BE49-F238E27FC236}">
                  <a16:creationId xmlns:a16="http://schemas.microsoft.com/office/drawing/2014/main" id="{5F701DE1-C796-4B2D-B2EB-23046041E98A}"/>
                </a:ext>
              </a:extLst>
            </p:cNvPr>
            <p:cNvSpPr txBox="1">
              <a:spLocks/>
            </p:cNvSpPr>
            <p:nvPr/>
          </p:nvSpPr>
          <p:spPr>
            <a:xfrm>
              <a:off x="716760" y="1283040"/>
              <a:ext cx="5487480" cy="4788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45720" rIns="91440" bIns="4572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sz="1800" i="1" spc="-1" dirty="0">
                  <a:solidFill>
                    <a:srgbClr val="D8D8D8"/>
                  </a:solidFill>
                  <a:latin typeface="Calibri"/>
                  <a:ea typeface="Calibri"/>
                </a:rPr>
                <a:t>Del Laboratorio a la Producción</a:t>
              </a:r>
            </a:p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s-ES" sz="1800" i="1" spc="-1" dirty="0">
                <a:solidFill>
                  <a:srgbClr val="D8D8D8"/>
                </a:solidFill>
                <a:latin typeface="Calibri"/>
                <a:ea typeface="Calibri"/>
              </a:endParaRP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268396A5-3DB1-40FD-B184-FE515D4CDA20}"/>
              </a:ext>
            </a:extLst>
          </p:cNvPr>
          <p:cNvGrpSpPr/>
          <p:nvPr/>
        </p:nvGrpSpPr>
        <p:grpSpPr>
          <a:xfrm>
            <a:off x="497520" y="5227262"/>
            <a:ext cx="11182664" cy="1000637"/>
            <a:chOff x="2249785" y="5206802"/>
            <a:chExt cx="9933542" cy="1000637"/>
          </a:xfrm>
        </p:grpSpPr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6B5E9B62-8EBA-41D4-AE8F-ABEAD88CD261}"/>
                </a:ext>
              </a:extLst>
            </p:cNvPr>
            <p:cNvSpPr/>
            <p:nvPr/>
          </p:nvSpPr>
          <p:spPr>
            <a:xfrm>
              <a:off x="2432150" y="5343525"/>
              <a:ext cx="9751177" cy="8639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600" b="1" dirty="0" err="1">
                  <a:solidFill>
                    <a:srgbClr val="FF33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En</a:t>
              </a:r>
              <a:r>
                <a:rPr lang="en-US" sz="1600" b="1" dirty="0">
                  <a:solidFill>
                    <a:srgbClr val="FF33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Data Science</a:t>
              </a:r>
              <a:r>
                <a:rPr lang="en-US" sz="1600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, </a:t>
              </a:r>
              <a:r>
                <a:rPr lang="es-ES" sz="1600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el verdadero valor de nuestros modelos no reside solo en su entrenamiento, sino en su puesta en producción y en  la capacidad de iterar y mejorar continuamente. Agile nos ofrece un marco robusto para lograrlo, extendiendo sus principios al ciclo de vida completo del modelo, un concepto central en </a:t>
              </a:r>
              <a:r>
                <a:rPr lang="es-ES" sz="1600" dirty="0" err="1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MLOps</a:t>
              </a:r>
              <a:r>
                <a:rPr lang="es-ES" sz="1600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.</a:t>
              </a:r>
              <a:endParaRPr lang="en-US" sz="16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" name="Shape 8">
              <a:extLst>
                <a:ext uri="{FF2B5EF4-FFF2-40B4-BE49-F238E27FC236}">
                  <a16:creationId xmlns:a16="http://schemas.microsoft.com/office/drawing/2014/main" id="{7771B31A-3F00-49AE-BFEE-5CBF00E5BD4E}"/>
                </a:ext>
              </a:extLst>
            </p:cNvPr>
            <p:cNvSpPr/>
            <p:nvPr/>
          </p:nvSpPr>
          <p:spPr>
            <a:xfrm>
              <a:off x="2249785" y="5206802"/>
              <a:ext cx="12700" cy="662583"/>
            </a:xfrm>
            <a:prstGeom prst="rect">
              <a:avLst/>
            </a:prstGeom>
            <a:solidFill>
              <a:srgbClr val="373B48"/>
            </a:solidFill>
            <a:ln/>
          </p:spPr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62616326-A591-4911-A100-8ADB9B15CBC7}"/>
              </a:ext>
            </a:extLst>
          </p:cNvPr>
          <p:cNvGrpSpPr/>
          <p:nvPr/>
        </p:nvGrpSpPr>
        <p:grpSpPr>
          <a:xfrm>
            <a:off x="6944655" y="6100459"/>
            <a:ext cx="5088849" cy="516632"/>
            <a:chOff x="2249785" y="6006107"/>
            <a:chExt cx="7692430" cy="516632"/>
          </a:xfrm>
        </p:grpSpPr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9AD1B26B-72C2-4205-BA90-8893BC9D498E}"/>
                </a:ext>
              </a:extLst>
            </p:cNvPr>
            <p:cNvSpPr/>
            <p:nvPr/>
          </p:nvSpPr>
          <p:spPr>
            <a:xfrm>
              <a:off x="2249785" y="6006107"/>
              <a:ext cx="7692430" cy="516632"/>
            </a:xfrm>
            <a:prstGeom prst="roundRect">
              <a:avLst>
                <a:gd name="adj" fmla="val 9887"/>
              </a:avLst>
            </a:prstGeom>
            <a:solidFill>
              <a:srgbClr val="D4D6DE"/>
            </a:solidFill>
            <a:ln/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" name="Image 1" descr="preencoded.png">
              <a:extLst>
                <a:ext uri="{FF2B5EF4-FFF2-40B4-BE49-F238E27FC236}">
                  <a16:creationId xmlns:a16="http://schemas.microsoft.com/office/drawing/2014/main" id="{D8F066D9-0723-404B-BF3C-76CCA0073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29862" y="6133851"/>
              <a:ext cx="273545" cy="218729"/>
            </a:xfrm>
            <a:prstGeom prst="rect">
              <a:avLst/>
            </a:prstGeom>
          </p:spPr>
        </p:pic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17145034-08CB-4FA5-8AB3-FC15CA51FEFC}"/>
                </a:ext>
              </a:extLst>
            </p:cNvPr>
            <p:cNvSpPr/>
            <p:nvPr/>
          </p:nvSpPr>
          <p:spPr>
            <a:xfrm>
              <a:off x="2712632" y="6121613"/>
              <a:ext cx="7175797" cy="32061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73B48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Doing Data Science - </a:t>
              </a:r>
              <a:r>
                <a:rPr lang="en-US" sz="1000" u="sng" dirty="0">
                  <a:solidFill>
                    <a:srgbClr val="373B48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Agile Data Science_ – Russell </a:t>
              </a:r>
              <a:r>
                <a:rPr lang="en-US" sz="1000" u="sng" dirty="0" err="1">
                  <a:solidFill>
                    <a:srgbClr val="373B48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Jurney</a:t>
              </a:r>
              <a:r>
                <a:rPr lang="en-US" sz="1000" u="sng" dirty="0">
                  <a:solidFill>
                    <a:srgbClr val="373B48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(O’Reilly)</a:t>
              </a:r>
              <a:r>
                <a:rPr lang="en-US" sz="10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</a:t>
              </a:r>
              <a:endParaRPr lang="en-US" sz="1000" dirty="0"/>
            </a:p>
            <a:p>
              <a:pPr marL="0" indent="0" algn="l">
                <a:buNone/>
              </a:pPr>
              <a:r>
                <a:rPr lang="en-US" sz="1000" dirty="0">
                  <a:solidFill>
                    <a:srgbClr val="373B48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Google </a:t>
              </a:r>
              <a:r>
                <a:rPr lang="en-US" sz="1000" dirty="0" err="1">
                  <a:solidFill>
                    <a:srgbClr val="373B48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MLOps</a:t>
              </a:r>
              <a:r>
                <a:rPr lang="en-US" sz="1000" dirty="0">
                  <a:solidFill>
                    <a:srgbClr val="373B48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: </a:t>
              </a:r>
              <a:r>
                <a:rPr lang="en-US" sz="1000" u="sng" dirty="0">
                  <a:solidFill>
                    <a:srgbClr val="373B48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Continuous Delivery and Automation Pipelines</a:t>
              </a:r>
              <a:endParaRPr lang="es-ES" sz="10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endParaRP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134637FD-E5C2-4CB0-9DBA-FFF4EC22EFE7}"/>
              </a:ext>
            </a:extLst>
          </p:cNvPr>
          <p:cNvGrpSpPr/>
          <p:nvPr/>
        </p:nvGrpSpPr>
        <p:grpSpPr>
          <a:xfrm>
            <a:off x="355838" y="1803698"/>
            <a:ext cx="11544777" cy="3171895"/>
            <a:chOff x="355838" y="1803698"/>
            <a:chExt cx="11544777" cy="3171895"/>
          </a:xfrm>
        </p:grpSpPr>
        <p:sp>
          <p:nvSpPr>
            <p:cNvPr id="48" name="Shape 8">
              <a:extLst>
                <a:ext uri="{FF2B5EF4-FFF2-40B4-BE49-F238E27FC236}">
                  <a16:creationId xmlns:a16="http://schemas.microsoft.com/office/drawing/2014/main" id="{43680458-B149-40C4-BB4E-DF7FAA0121D7}"/>
                </a:ext>
              </a:extLst>
            </p:cNvPr>
            <p:cNvSpPr/>
            <p:nvPr/>
          </p:nvSpPr>
          <p:spPr>
            <a:xfrm>
              <a:off x="355838" y="2042261"/>
              <a:ext cx="3732490" cy="91440"/>
            </a:xfrm>
            <a:prstGeom prst="roundRect">
              <a:avLst>
                <a:gd name="adj" fmla="val 83971"/>
              </a:avLst>
            </a:prstGeom>
            <a:solidFill>
              <a:srgbClr val="373B48"/>
            </a:solidFill>
            <a:ln/>
          </p:spPr>
        </p:sp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ED54BB3D-0B6E-45E3-A939-35CD4F95A07C}"/>
                </a:ext>
              </a:extLst>
            </p:cNvPr>
            <p:cNvGrpSpPr/>
            <p:nvPr/>
          </p:nvGrpSpPr>
          <p:grpSpPr>
            <a:xfrm>
              <a:off x="543243" y="1803698"/>
              <a:ext cx="11357372" cy="3171895"/>
              <a:chOff x="1739265" y="3241358"/>
              <a:chExt cx="11357372" cy="3171895"/>
            </a:xfrm>
          </p:grpSpPr>
          <p:sp>
            <p:nvSpPr>
              <p:cNvPr id="34" name="Shape 4">
                <a:extLst>
                  <a:ext uri="{FF2B5EF4-FFF2-40B4-BE49-F238E27FC236}">
                    <a16:creationId xmlns:a16="http://schemas.microsoft.com/office/drawing/2014/main" id="{6EC5D996-0DFB-4C5F-81EE-AAEF5D06533C}"/>
                  </a:ext>
                </a:extLst>
              </p:cNvPr>
              <p:cNvSpPr/>
              <p:nvPr/>
            </p:nvSpPr>
            <p:spPr>
              <a:xfrm>
                <a:off x="3125629" y="3241358"/>
                <a:ext cx="548402" cy="548402"/>
              </a:xfrm>
              <a:prstGeom prst="roundRect">
                <a:avLst>
                  <a:gd name="adj" fmla="val 166739"/>
                </a:avLst>
              </a:prstGeom>
              <a:solidFill>
                <a:srgbClr val="373B48"/>
              </a:solidFill>
              <a:ln/>
            </p:spPr>
          </p:sp>
          <p:pic>
            <p:nvPicPr>
              <p:cNvPr id="35" name="Image 0" descr="preencoded.png">
                <a:extLst>
                  <a:ext uri="{FF2B5EF4-FFF2-40B4-BE49-F238E27FC236}">
                    <a16:creationId xmlns:a16="http://schemas.microsoft.com/office/drawing/2014/main" id="{6D31E6D8-7996-4E62-A6A8-9B56F5FACC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290173" y="3405783"/>
                <a:ext cx="219313" cy="219313"/>
              </a:xfrm>
              <a:prstGeom prst="rect">
                <a:avLst/>
              </a:prstGeom>
            </p:spPr>
          </p:pic>
          <p:sp>
            <p:nvSpPr>
              <p:cNvPr id="36" name="Text 5">
                <a:extLst>
                  <a:ext uri="{FF2B5EF4-FFF2-40B4-BE49-F238E27FC236}">
                    <a16:creationId xmlns:a16="http://schemas.microsoft.com/office/drawing/2014/main" id="{174D38EE-E557-433E-97E7-510FC8A1C260}"/>
                  </a:ext>
                </a:extLst>
              </p:cNvPr>
              <p:cNvSpPr/>
              <p:nvPr/>
            </p:nvSpPr>
            <p:spPr>
              <a:xfrm>
                <a:off x="1739265" y="3972520"/>
                <a:ext cx="2471380" cy="28551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200"/>
                  </a:lnSpc>
                  <a:buNone/>
                </a:pPr>
                <a:r>
                  <a:rPr lang="en-US" sz="1600" dirty="0">
                    <a:solidFill>
                      <a:schemeClr val="bg1"/>
                    </a:solidFill>
                    <a:latin typeface="Mona Sans Semi Bold" pitchFamily="34" charset="0"/>
                    <a:ea typeface="Mona Sans Semi Bold" pitchFamily="34" charset="-122"/>
                    <a:cs typeface="Mona Sans Semi Bold" pitchFamily="34" charset="-120"/>
                  </a:rPr>
                  <a:t>El Valor en Producción</a:t>
                </a: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Text 6">
                <a:extLst>
                  <a:ext uri="{FF2B5EF4-FFF2-40B4-BE49-F238E27FC236}">
                    <a16:creationId xmlns:a16="http://schemas.microsoft.com/office/drawing/2014/main" id="{FD5F2AAA-D009-4E1A-8726-805306F635F6}"/>
                  </a:ext>
                </a:extLst>
              </p:cNvPr>
              <p:cNvSpPr/>
              <p:nvPr/>
            </p:nvSpPr>
            <p:spPr>
              <a:xfrm>
                <a:off x="1739265" y="4367689"/>
                <a:ext cx="3321248" cy="17545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300"/>
                  </a:lnSpc>
                  <a:buNone/>
                </a:pPr>
                <a:r>
                  <a:rPr lang="en-US" sz="1400" dirty="0">
                    <a:solidFill>
                      <a:schemeClr val="bg1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El objetivo final de cualquier proyecto de Data Science es que sus resultados generen un impacto real. Esto solo se consigue cuando los modelos están operativos, son accesibles y aportan valor de forma continua.</a:t>
                </a:r>
                <a:endParaRPr lang="en-US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Shape 8">
                <a:extLst>
                  <a:ext uri="{FF2B5EF4-FFF2-40B4-BE49-F238E27FC236}">
                    <a16:creationId xmlns:a16="http://schemas.microsoft.com/office/drawing/2014/main" id="{AD0467F2-6B2A-4E94-86C6-E0E0CB017ACA}"/>
                  </a:ext>
                </a:extLst>
              </p:cNvPr>
              <p:cNvSpPr/>
              <p:nvPr/>
            </p:nvSpPr>
            <p:spPr>
              <a:xfrm>
                <a:off x="5448895" y="3492698"/>
                <a:ext cx="3732490" cy="91440"/>
              </a:xfrm>
              <a:prstGeom prst="roundRect">
                <a:avLst>
                  <a:gd name="adj" fmla="val 83971"/>
                </a:avLst>
              </a:prstGeom>
              <a:solidFill>
                <a:srgbClr val="373B48"/>
              </a:solidFill>
              <a:ln/>
            </p:spPr>
          </p:sp>
          <p:sp>
            <p:nvSpPr>
              <p:cNvPr id="39" name="Shape 9">
                <a:extLst>
                  <a:ext uri="{FF2B5EF4-FFF2-40B4-BE49-F238E27FC236}">
                    <a16:creationId xmlns:a16="http://schemas.microsoft.com/office/drawing/2014/main" id="{A3EF9B05-7473-46F9-8B64-DA951E1D9FE0}"/>
                  </a:ext>
                </a:extLst>
              </p:cNvPr>
              <p:cNvSpPr/>
              <p:nvPr/>
            </p:nvSpPr>
            <p:spPr>
              <a:xfrm>
                <a:off x="7040880" y="3241358"/>
                <a:ext cx="548402" cy="548402"/>
              </a:xfrm>
              <a:prstGeom prst="roundRect">
                <a:avLst>
                  <a:gd name="adj" fmla="val 166739"/>
                </a:avLst>
              </a:prstGeom>
              <a:solidFill>
                <a:srgbClr val="373B48"/>
              </a:solidFill>
              <a:ln/>
            </p:spPr>
          </p:sp>
          <p:pic>
            <p:nvPicPr>
              <p:cNvPr id="40" name="Image 1" descr="preencoded.png">
                <a:extLst>
                  <a:ext uri="{FF2B5EF4-FFF2-40B4-BE49-F238E27FC236}">
                    <a16:creationId xmlns:a16="http://schemas.microsoft.com/office/drawing/2014/main" id="{1ACE6A93-83EF-47E0-BD84-A90CF8ED26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205424" y="3405783"/>
                <a:ext cx="219313" cy="219313"/>
              </a:xfrm>
              <a:prstGeom prst="rect">
                <a:avLst/>
              </a:prstGeom>
            </p:spPr>
          </p:pic>
          <p:sp>
            <p:nvSpPr>
              <p:cNvPr id="41" name="Text 10">
                <a:extLst>
                  <a:ext uri="{FF2B5EF4-FFF2-40B4-BE49-F238E27FC236}">
                    <a16:creationId xmlns:a16="http://schemas.microsoft.com/office/drawing/2014/main" id="{19366A0F-3E42-4F32-860A-E708FCBC9FEB}"/>
                  </a:ext>
                </a:extLst>
              </p:cNvPr>
              <p:cNvSpPr/>
              <p:nvPr/>
            </p:nvSpPr>
            <p:spPr>
              <a:xfrm>
                <a:off x="5654516" y="3972520"/>
                <a:ext cx="2394466" cy="28551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200"/>
                  </a:lnSpc>
                  <a:buNone/>
                </a:pPr>
                <a:r>
                  <a:rPr lang="en-US" sz="1600" dirty="0">
                    <a:solidFill>
                      <a:schemeClr val="bg1"/>
                    </a:solidFill>
                    <a:latin typeface="Mona Sans Semi Bold" pitchFamily="34" charset="0"/>
                    <a:ea typeface="Mona Sans Semi Bold" pitchFamily="34" charset="-122"/>
                    <a:cs typeface="Mona Sans Semi Bold" pitchFamily="34" charset="-120"/>
                  </a:rPr>
                  <a:t>Agile en Data Science</a:t>
                </a: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Text 11">
                <a:extLst>
                  <a:ext uri="{FF2B5EF4-FFF2-40B4-BE49-F238E27FC236}">
                    <a16:creationId xmlns:a16="http://schemas.microsoft.com/office/drawing/2014/main" id="{A638EE15-67ED-4117-9D1F-DE9AD3E1F8E0}"/>
                  </a:ext>
                </a:extLst>
              </p:cNvPr>
              <p:cNvSpPr/>
              <p:nvPr/>
            </p:nvSpPr>
            <p:spPr>
              <a:xfrm>
                <a:off x="5654516" y="4367689"/>
                <a:ext cx="3321248" cy="17545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300"/>
                  </a:lnSpc>
                  <a:buNone/>
                </a:pPr>
                <a:r>
                  <a:rPr lang="en-US" sz="1400" dirty="0">
                    <a:solidFill>
                      <a:schemeClr val="bg1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Los principios de Agile, como la iteración, la adaptación y la entrega continua, son perfectamente aplicables al desarrollo y despliegue de modelos de Machine Learning. Es una filosofía que impulsa la eficiencia y la relevancia.</a:t>
                </a:r>
                <a:endParaRPr lang="en-US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Shape 13">
                <a:extLst>
                  <a:ext uri="{FF2B5EF4-FFF2-40B4-BE49-F238E27FC236}">
                    <a16:creationId xmlns:a16="http://schemas.microsoft.com/office/drawing/2014/main" id="{FB291ED9-A4AE-40D6-BBC0-524E469BF8A2}"/>
                  </a:ext>
                </a:extLst>
              </p:cNvPr>
              <p:cNvSpPr/>
              <p:nvPr/>
            </p:nvSpPr>
            <p:spPr>
              <a:xfrm>
                <a:off x="9364147" y="3492698"/>
                <a:ext cx="3732490" cy="91440"/>
              </a:xfrm>
              <a:prstGeom prst="roundRect">
                <a:avLst>
                  <a:gd name="adj" fmla="val 83971"/>
                </a:avLst>
              </a:prstGeom>
              <a:solidFill>
                <a:srgbClr val="373B48"/>
              </a:solidFill>
              <a:ln/>
            </p:spPr>
          </p:sp>
          <p:sp>
            <p:nvSpPr>
              <p:cNvPr id="44" name="Shape 14">
                <a:extLst>
                  <a:ext uri="{FF2B5EF4-FFF2-40B4-BE49-F238E27FC236}">
                    <a16:creationId xmlns:a16="http://schemas.microsoft.com/office/drawing/2014/main" id="{A9BA6529-C342-42DD-93D3-9852BB57AFE6}"/>
                  </a:ext>
                </a:extLst>
              </p:cNvPr>
              <p:cNvSpPr/>
              <p:nvPr/>
            </p:nvSpPr>
            <p:spPr>
              <a:xfrm>
                <a:off x="10956131" y="3241358"/>
                <a:ext cx="548402" cy="548402"/>
              </a:xfrm>
              <a:prstGeom prst="roundRect">
                <a:avLst>
                  <a:gd name="adj" fmla="val 166739"/>
                </a:avLst>
              </a:prstGeom>
              <a:solidFill>
                <a:srgbClr val="373B48"/>
              </a:solidFill>
              <a:ln/>
            </p:spPr>
          </p:sp>
          <p:pic>
            <p:nvPicPr>
              <p:cNvPr id="45" name="Image 2" descr="preencoded.png">
                <a:extLst>
                  <a:ext uri="{FF2B5EF4-FFF2-40B4-BE49-F238E27FC236}">
                    <a16:creationId xmlns:a16="http://schemas.microsoft.com/office/drawing/2014/main" id="{4CC35BB3-1013-490C-B2F7-21DCFA3A44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120676" y="3405783"/>
                <a:ext cx="219313" cy="219313"/>
              </a:xfrm>
              <a:prstGeom prst="rect">
                <a:avLst/>
              </a:prstGeom>
            </p:spPr>
          </p:pic>
          <p:sp>
            <p:nvSpPr>
              <p:cNvPr id="46" name="Text 15">
                <a:extLst>
                  <a:ext uri="{FF2B5EF4-FFF2-40B4-BE49-F238E27FC236}">
                    <a16:creationId xmlns:a16="http://schemas.microsoft.com/office/drawing/2014/main" id="{762717E8-3FD4-4A25-B956-223173FBDEAD}"/>
                  </a:ext>
                </a:extLst>
              </p:cNvPr>
              <p:cNvSpPr/>
              <p:nvPr/>
            </p:nvSpPr>
            <p:spPr>
              <a:xfrm>
                <a:off x="9569768" y="3972520"/>
                <a:ext cx="3321248" cy="5710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200"/>
                  </a:lnSpc>
                  <a:buNone/>
                </a:pPr>
                <a:r>
                  <a:rPr lang="en-US" sz="1600" dirty="0">
                    <a:solidFill>
                      <a:schemeClr val="bg1"/>
                    </a:solidFill>
                    <a:latin typeface="Mona Sans Semi Bold" pitchFamily="34" charset="0"/>
                    <a:ea typeface="Mona Sans Semi Bold" pitchFamily="34" charset="-122"/>
                    <a:cs typeface="Mona Sans Semi Bold" pitchFamily="34" charset="-120"/>
                  </a:rPr>
                  <a:t>Iteración y Monitorización Constante</a:t>
                </a: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Text 16">
                <a:extLst>
                  <a:ext uri="{FF2B5EF4-FFF2-40B4-BE49-F238E27FC236}">
                    <a16:creationId xmlns:a16="http://schemas.microsoft.com/office/drawing/2014/main" id="{0DD73195-3235-4F01-8F8D-CDF9E9C1731D}"/>
                  </a:ext>
                </a:extLst>
              </p:cNvPr>
              <p:cNvSpPr/>
              <p:nvPr/>
            </p:nvSpPr>
            <p:spPr>
              <a:xfrm>
                <a:off x="9569768" y="4366330"/>
                <a:ext cx="3321248" cy="204692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300"/>
                  </a:lnSpc>
                  <a:buNone/>
                </a:pPr>
                <a:r>
                  <a:rPr lang="en-US" sz="1400" dirty="0">
                    <a:solidFill>
                      <a:schemeClr val="bg1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Un modelo no es un entregable estático. Requiere monitorización continua, reentrenamiento y ajustes para mantener su rendimiento óptimo y adaptarse a los cambios en los datos y el entorno. Entrenar el modelo es solo el principio, no el fin.</a:t>
                </a:r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31074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A643231C-1C97-460C-974C-C06602A1570E}"/>
              </a:ext>
            </a:extLst>
          </p:cNvPr>
          <p:cNvGrpSpPr/>
          <p:nvPr/>
        </p:nvGrpSpPr>
        <p:grpSpPr>
          <a:xfrm>
            <a:off x="497520" y="309240"/>
            <a:ext cx="10950768" cy="1452600"/>
            <a:chOff x="497520" y="309240"/>
            <a:chExt cx="10734480" cy="1452600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67D4E964-3FC3-449B-B8CC-6BDCC1A02016}"/>
                </a:ext>
              </a:extLst>
            </p:cNvPr>
            <p:cNvGrpSpPr/>
            <p:nvPr/>
          </p:nvGrpSpPr>
          <p:grpSpPr>
            <a:xfrm>
              <a:off x="497520" y="309240"/>
              <a:ext cx="10734480" cy="1325160"/>
              <a:chOff x="497520" y="309240"/>
              <a:chExt cx="10734480" cy="1325160"/>
            </a:xfrm>
          </p:grpSpPr>
          <p:sp>
            <p:nvSpPr>
              <p:cNvPr id="5" name="PlaceHolder 1">
                <a:extLst>
                  <a:ext uri="{FF2B5EF4-FFF2-40B4-BE49-F238E27FC236}">
                    <a16:creationId xmlns:a16="http://schemas.microsoft.com/office/drawing/2014/main" id="{BF8DA4FD-A305-4056-810B-89ABF312330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760" y="309240"/>
                <a:ext cx="10515240" cy="13251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tabLst>
                    <a:tab pos="0" algn="l"/>
                  </a:tabLst>
                </a:pPr>
                <a:r>
                  <a:rPr lang="en-US" sz="4400" dirty="0" err="1">
                    <a:solidFill>
                      <a:schemeClr val="bg1"/>
                    </a:solidFill>
                    <a:latin typeface="Mona Sans Semi Bold" pitchFamily="34" charset="0"/>
                    <a:ea typeface="Mona Sans Semi Bold" pitchFamily="34" charset="-122"/>
                    <a:cs typeface="Mona Sans Semi Bold" pitchFamily="34" charset="-120"/>
                  </a:rPr>
                  <a:t>Herramientas</a:t>
                </a:r>
                <a:endParaRPr lang="es-ES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" name="Google Shape;93;p2">
                <a:extLst>
                  <a:ext uri="{FF2B5EF4-FFF2-40B4-BE49-F238E27FC236}">
                    <a16:creationId xmlns:a16="http://schemas.microsoft.com/office/drawing/2014/main" id="{C208CFDD-EE5B-47C3-B8FD-5BB68BDC6E57}"/>
                  </a:ext>
                </a:extLst>
              </p:cNvPr>
              <p:cNvSpPr/>
              <p:nvPr/>
            </p:nvSpPr>
            <p:spPr>
              <a:xfrm>
                <a:off x="497520" y="763200"/>
                <a:ext cx="89640" cy="654120"/>
              </a:xfrm>
              <a:prstGeom prst="rect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s-ES" sz="1800" b="0" strike="noStrike" spc="-1">
                  <a:solidFill>
                    <a:schemeClr val="lt1"/>
                  </a:solidFill>
                  <a:latin typeface="Calibri"/>
                  <a:ea typeface="Calibri"/>
                </a:endParaRPr>
              </a:p>
            </p:txBody>
          </p:sp>
        </p:grpSp>
        <p:sp>
          <p:nvSpPr>
            <p:cNvPr id="4" name="PlaceHolder 2">
              <a:extLst>
                <a:ext uri="{FF2B5EF4-FFF2-40B4-BE49-F238E27FC236}">
                  <a16:creationId xmlns:a16="http://schemas.microsoft.com/office/drawing/2014/main" id="{A58EB28F-79D7-4694-9D44-CA7FF3F5279C}"/>
                </a:ext>
              </a:extLst>
            </p:cNvPr>
            <p:cNvSpPr txBox="1">
              <a:spLocks/>
            </p:cNvSpPr>
            <p:nvPr/>
          </p:nvSpPr>
          <p:spPr>
            <a:xfrm>
              <a:off x="716760" y="1283040"/>
              <a:ext cx="5487480" cy="4788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45720" rIns="91440" bIns="4572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sz="1800" i="1" spc="-1" dirty="0">
                  <a:solidFill>
                    <a:srgbClr val="D8D8D8"/>
                  </a:solidFill>
                  <a:latin typeface="Calibri"/>
                  <a:ea typeface="Calibri"/>
                </a:rPr>
                <a:t>Facilitadoras, no Impulsoras de Agile</a:t>
              </a:r>
            </a:p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s-ES" sz="1800" i="1" spc="-1" dirty="0">
                <a:solidFill>
                  <a:srgbClr val="D8D8D8"/>
                </a:solidFill>
                <a:latin typeface="Calibri"/>
                <a:ea typeface="Calibri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279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s-ES" sz="1800" i="1" spc="-1" dirty="0">
                <a:solidFill>
                  <a:srgbClr val="D8D8D8"/>
                </a:solidFill>
                <a:latin typeface="Calibri"/>
                <a:ea typeface="Calibri"/>
              </a:endParaRP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B85B3A0B-1F3A-4661-8A67-B7B18CD741C6}"/>
              </a:ext>
            </a:extLst>
          </p:cNvPr>
          <p:cNvGrpSpPr/>
          <p:nvPr/>
        </p:nvGrpSpPr>
        <p:grpSpPr>
          <a:xfrm>
            <a:off x="497520" y="5227262"/>
            <a:ext cx="11182664" cy="1054899"/>
            <a:chOff x="2249785" y="5206802"/>
            <a:chExt cx="9933542" cy="1054899"/>
          </a:xfrm>
        </p:grpSpPr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D8FAE72B-2CF9-48B3-A8EC-811C1F53F923}"/>
                </a:ext>
              </a:extLst>
            </p:cNvPr>
            <p:cNvSpPr/>
            <p:nvPr/>
          </p:nvSpPr>
          <p:spPr>
            <a:xfrm>
              <a:off x="2432150" y="5343524"/>
              <a:ext cx="9751177" cy="9181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b="1" dirty="0" err="1">
                  <a:solidFill>
                    <a:srgbClr val="FF33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En</a:t>
              </a:r>
              <a:r>
                <a:rPr lang="en-US" b="1" dirty="0">
                  <a:solidFill>
                    <a:srgbClr val="FF3300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Data Science</a:t>
              </a:r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, </a:t>
              </a:r>
              <a:r>
                <a:rPr lang="es-ES" dirty="0">
                  <a:solidFill>
                    <a:schemeClr val="bg1">
                      <a:lumMod val="6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es fundamental entender que las herramientas son solo un apoyo; por sí solas, no implementan la metodología Agile. La verdadera esencia de Agile radica en la colaboración, la comunicación y la mentalidad del equipo, especialmente en este contexto.</a:t>
              </a:r>
            </a:p>
            <a:p>
              <a:endParaRPr lang="en-US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" name="Shape 8">
              <a:extLst>
                <a:ext uri="{FF2B5EF4-FFF2-40B4-BE49-F238E27FC236}">
                  <a16:creationId xmlns:a16="http://schemas.microsoft.com/office/drawing/2014/main" id="{0C67030F-568D-4566-9717-3657FBD60E2B}"/>
                </a:ext>
              </a:extLst>
            </p:cNvPr>
            <p:cNvSpPr/>
            <p:nvPr/>
          </p:nvSpPr>
          <p:spPr>
            <a:xfrm>
              <a:off x="2249785" y="5206802"/>
              <a:ext cx="12700" cy="662583"/>
            </a:xfrm>
            <a:prstGeom prst="rect">
              <a:avLst/>
            </a:prstGeom>
            <a:solidFill>
              <a:srgbClr val="373B48"/>
            </a:solidFill>
            <a:ln/>
          </p:spPr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EA1BE40D-A5D4-4A68-A219-D61440CE29EC}"/>
              </a:ext>
            </a:extLst>
          </p:cNvPr>
          <p:cNvGrpSpPr/>
          <p:nvPr/>
        </p:nvGrpSpPr>
        <p:grpSpPr>
          <a:xfrm>
            <a:off x="773918" y="2143090"/>
            <a:ext cx="10835164" cy="2372558"/>
            <a:chOff x="1897499" y="2761655"/>
            <a:chExt cx="10835164" cy="2372558"/>
          </a:xfrm>
        </p:grpSpPr>
        <p:sp>
          <p:nvSpPr>
            <p:cNvPr id="18" name="Shape 2">
              <a:extLst>
                <a:ext uri="{FF2B5EF4-FFF2-40B4-BE49-F238E27FC236}">
                  <a16:creationId xmlns:a16="http://schemas.microsoft.com/office/drawing/2014/main" id="{C4FFAB6C-EBF8-4368-BEA9-FBCDE66618F0}"/>
                </a:ext>
              </a:extLst>
            </p:cNvPr>
            <p:cNvSpPr/>
            <p:nvPr/>
          </p:nvSpPr>
          <p:spPr>
            <a:xfrm>
              <a:off x="1897499" y="2761655"/>
              <a:ext cx="3497580" cy="2372558"/>
            </a:xfrm>
            <a:prstGeom prst="roundRect">
              <a:avLst>
                <a:gd name="adj" fmla="val 17329"/>
              </a:avLst>
            </a:prstGeom>
            <a:solidFill>
              <a:srgbClr val="E2E4E9"/>
            </a:solidFill>
            <a:ln w="7620">
              <a:solidFill>
                <a:srgbClr val="C8CACF"/>
              </a:solidFill>
              <a:prstDash val="solid"/>
            </a:ln>
          </p:spPr>
        </p:sp>
        <p:sp>
          <p:nvSpPr>
            <p:cNvPr id="19" name="Text 3">
              <a:extLst>
                <a:ext uri="{FF2B5EF4-FFF2-40B4-BE49-F238E27FC236}">
                  <a16:creationId xmlns:a16="http://schemas.microsoft.com/office/drawing/2014/main" id="{3906976B-1808-4217-995E-CCDFA9B71BE3}"/>
                </a:ext>
              </a:extLst>
            </p:cNvPr>
            <p:cNvSpPr/>
            <p:nvPr/>
          </p:nvSpPr>
          <p:spPr>
            <a:xfrm>
              <a:off x="2076331" y="2940487"/>
              <a:ext cx="2702123" cy="2676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50" dirty="0">
                  <a:solidFill>
                    <a:srgbClr val="52586B"/>
                  </a:solidFill>
                  <a:latin typeface="Mona Sans Semi Bold" pitchFamily="34" charset="0"/>
                  <a:ea typeface="Mona Sans Semi Bold" pitchFamily="34" charset="-122"/>
                  <a:cs typeface="Mona Sans Semi Bold" pitchFamily="34" charset="-120"/>
                </a:rPr>
                <a:t>El Rol de las Herramientas</a:t>
              </a:r>
              <a:endParaRPr lang="en-US" sz="1650" dirty="0"/>
            </a:p>
          </p:txBody>
        </p:sp>
        <p:sp>
          <p:nvSpPr>
            <p:cNvPr id="20" name="Text 4">
              <a:extLst>
                <a:ext uri="{FF2B5EF4-FFF2-40B4-BE49-F238E27FC236}">
                  <a16:creationId xmlns:a16="http://schemas.microsoft.com/office/drawing/2014/main" id="{84AAFBA7-E83B-432E-87C2-D33BB1D78881}"/>
                </a:ext>
              </a:extLst>
            </p:cNvPr>
            <p:cNvSpPr/>
            <p:nvPr/>
          </p:nvSpPr>
          <p:spPr>
            <a:xfrm>
              <a:off x="2076331" y="3310890"/>
              <a:ext cx="3139916" cy="13704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50"/>
                </a:lnSpc>
                <a:buNone/>
              </a:pPr>
              <a:r>
                <a:rPr lang="en-US" sz="13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Las plataformas como </a:t>
              </a:r>
              <a:r>
                <a:rPr lang="en-US" sz="13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  <a:hlinkClick r:id="rId2"/>
                </a:rPr>
                <a:t>Trello</a:t>
              </a:r>
              <a:r>
                <a:rPr lang="en-US" sz="13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, </a:t>
              </a:r>
              <a:r>
                <a:rPr lang="en-US" sz="13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  <a:hlinkClick r:id="rId3"/>
                </a:rPr>
                <a:t>Jira</a:t>
              </a:r>
              <a:r>
                <a:rPr lang="en-US" sz="13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, </a:t>
              </a:r>
              <a:r>
                <a:rPr lang="en-US" sz="13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  <a:hlinkClick r:id="rId4"/>
                </a:rPr>
                <a:t>Notion</a:t>
              </a:r>
              <a:r>
                <a:rPr lang="en-US" sz="13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o </a:t>
              </a:r>
              <a:r>
                <a:rPr lang="en-US" sz="13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  <a:hlinkClick r:id="rId5"/>
                </a:rPr>
                <a:t>Asana</a:t>
              </a:r>
              <a:r>
                <a:rPr lang="en-US" sz="13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son excelentes para organizar tareas, visualizar el progreso y facilitar la comunicación, pero la adhesión a los principios Agile debe venir del equipo.</a:t>
              </a:r>
              <a:endParaRPr lang="en-US" sz="1300" dirty="0"/>
            </a:p>
          </p:txBody>
        </p:sp>
        <p:sp>
          <p:nvSpPr>
            <p:cNvPr id="21" name="Shape 5">
              <a:extLst>
                <a:ext uri="{FF2B5EF4-FFF2-40B4-BE49-F238E27FC236}">
                  <a16:creationId xmlns:a16="http://schemas.microsoft.com/office/drawing/2014/main" id="{C0E70F7A-3143-45AA-866D-C6121EAE7A46}"/>
                </a:ext>
              </a:extLst>
            </p:cNvPr>
            <p:cNvSpPr/>
            <p:nvPr/>
          </p:nvSpPr>
          <p:spPr>
            <a:xfrm>
              <a:off x="5566291" y="2761655"/>
              <a:ext cx="3497580" cy="2372558"/>
            </a:xfrm>
            <a:prstGeom prst="roundRect">
              <a:avLst>
                <a:gd name="adj" fmla="val 17329"/>
              </a:avLst>
            </a:prstGeom>
            <a:solidFill>
              <a:srgbClr val="E2E4E9"/>
            </a:solidFill>
            <a:ln w="7620">
              <a:solidFill>
                <a:srgbClr val="C8CACF"/>
              </a:solidFill>
              <a:prstDash val="solid"/>
            </a:ln>
          </p:spPr>
        </p:sp>
        <p:sp>
          <p:nvSpPr>
            <p:cNvPr id="22" name="Text 6">
              <a:extLst>
                <a:ext uri="{FF2B5EF4-FFF2-40B4-BE49-F238E27FC236}">
                  <a16:creationId xmlns:a16="http://schemas.microsoft.com/office/drawing/2014/main" id="{8765BA78-5AD8-45FA-8BF4-87920EFB8FB2}"/>
                </a:ext>
              </a:extLst>
            </p:cNvPr>
            <p:cNvSpPr/>
            <p:nvPr/>
          </p:nvSpPr>
          <p:spPr>
            <a:xfrm>
              <a:off x="5745123" y="2940487"/>
              <a:ext cx="2820472" cy="2676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50" dirty="0">
                  <a:solidFill>
                    <a:srgbClr val="52586B"/>
                  </a:solidFill>
                  <a:latin typeface="Mona Sans Semi Bold" pitchFamily="34" charset="0"/>
                  <a:ea typeface="Mona Sans Semi Bold" pitchFamily="34" charset="-122"/>
                  <a:cs typeface="Mona Sans Semi Bold" pitchFamily="34" charset="-120"/>
                </a:rPr>
                <a:t>Prioridad a la Colaboración</a:t>
              </a:r>
              <a:endParaRPr lang="en-US" sz="1650" dirty="0"/>
            </a:p>
          </p:txBody>
        </p:sp>
        <p:sp>
          <p:nvSpPr>
            <p:cNvPr id="23" name="Text 7">
              <a:extLst>
                <a:ext uri="{FF2B5EF4-FFF2-40B4-BE49-F238E27FC236}">
                  <a16:creationId xmlns:a16="http://schemas.microsoft.com/office/drawing/2014/main" id="{52B4C33F-AB0C-44E1-AED3-3F83BD757356}"/>
                </a:ext>
              </a:extLst>
            </p:cNvPr>
            <p:cNvSpPr/>
            <p:nvPr/>
          </p:nvSpPr>
          <p:spPr>
            <a:xfrm>
              <a:off x="5745123" y="3310890"/>
              <a:ext cx="3139916" cy="1644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50"/>
                </a:lnSpc>
                <a:buNone/>
              </a:pPr>
              <a:r>
                <a:rPr lang="en-US" sz="13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En Data Science, la colaboración efectiva entre </a:t>
              </a:r>
              <a:r>
                <a:rPr lang="en-US" sz="1300" dirty="0" err="1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científicos</a:t>
              </a:r>
              <a:r>
                <a:rPr lang="en-US" sz="13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/as de datos, </a:t>
              </a:r>
              <a:r>
                <a:rPr lang="en-US" sz="1300" dirty="0" err="1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ingenieros</a:t>
              </a:r>
              <a:r>
                <a:rPr lang="en-US" sz="13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/as y stakeholders es más crucial que la elección de un software específico. Un buen equipo puede ser Agile con herramientas sencillas.</a:t>
              </a:r>
              <a:endParaRPr lang="en-US" sz="1300" dirty="0"/>
            </a:p>
          </p:txBody>
        </p:sp>
        <p:sp>
          <p:nvSpPr>
            <p:cNvPr id="24" name="Shape 8">
              <a:extLst>
                <a:ext uri="{FF2B5EF4-FFF2-40B4-BE49-F238E27FC236}">
                  <a16:creationId xmlns:a16="http://schemas.microsoft.com/office/drawing/2014/main" id="{B64F6521-6C76-4F3C-A630-3B0743EF80A2}"/>
                </a:ext>
              </a:extLst>
            </p:cNvPr>
            <p:cNvSpPr/>
            <p:nvPr/>
          </p:nvSpPr>
          <p:spPr>
            <a:xfrm>
              <a:off x="9235083" y="2761655"/>
              <a:ext cx="3497580" cy="2372558"/>
            </a:xfrm>
            <a:prstGeom prst="roundRect">
              <a:avLst>
                <a:gd name="adj" fmla="val 17329"/>
              </a:avLst>
            </a:prstGeom>
            <a:solidFill>
              <a:srgbClr val="E2E4E9"/>
            </a:solidFill>
            <a:ln w="7620">
              <a:solidFill>
                <a:srgbClr val="C8CACF"/>
              </a:solidFill>
              <a:prstDash val="solid"/>
            </a:ln>
          </p:spPr>
        </p:sp>
        <p:sp>
          <p:nvSpPr>
            <p:cNvPr id="25" name="Text 9">
              <a:extLst>
                <a:ext uri="{FF2B5EF4-FFF2-40B4-BE49-F238E27FC236}">
                  <a16:creationId xmlns:a16="http://schemas.microsoft.com/office/drawing/2014/main" id="{7CE390D4-8127-4368-BE46-9DA06C83D19D}"/>
                </a:ext>
              </a:extLst>
            </p:cNvPr>
            <p:cNvSpPr/>
            <p:nvPr/>
          </p:nvSpPr>
          <p:spPr>
            <a:xfrm>
              <a:off x="9413915" y="2940487"/>
              <a:ext cx="2141339" cy="2676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50" dirty="0">
                  <a:solidFill>
                    <a:srgbClr val="52586B"/>
                  </a:solidFill>
                  <a:latin typeface="Mona Sans Semi Bold" pitchFamily="34" charset="0"/>
                  <a:ea typeface="Mona Sans Semi Bold" pitchFamily="34" charset="-122"/>
                  <a:cs typeface="Mona Sans Semi Bold" pitchFamily="34" charset="-120"/>
                </a:rPr>
                <a:t>Foco en el Proceso</a:t>
              </a:r>
              <a:endParaRPr lang="en-US" sz="1650" dirty="0"/>
            </a:p>
          </p:txBody>
        </p:sp>
        <p:sp>
          <p:nvSpPr>
            <p:cNvPr id="26" name="Text 10">
              <a:extLst>
                <a:ext uri="{FF2B5EF4-FFF2-40B4-BE49-F238E27FC236}">
                  <a16:creationId xmlns:a16="http://schemas.microsoft.com/office/drawing/2014/main" id="{3907A85B-554B-4E48-85CE-FB541CF44409}"/>
                </a:ext>
              </a:extLst>
            </p:cNvPr>
            <p:cNvSpPr/>
            <p:nvPr/>
          </p:nvSpPr>
          <p:spPr>
            <a:xfrm>
              <a:off x="9413915" y="3310890"/>
              <a:ext cx="3139916" cy="1644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50"/>
                </a:lnSpc>
                <a:buNone/>
              </a:pPr>
              <a:r>
                <a:rPr lang="en-US" sz="13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El proceso Agile se centra en la adaptabilidad y la entrega de valor incremental. Las herramientas deben ajustarse a este proceso y no al revés, permitiendo flexibilidad y transparencia en cada etapa del proyecto.</a:t>
              </a:r>
              <a:endParaRPr lang="en-US" sz="1300" dirty="0"/>
            </a:p>
          </p:txBody>
        </p:sp>
      </p:grpSp>
      <p:pic>
        <p:nvPicPr>
          <p:cNvPr id="28" name="Gráfico 27">
            <a:extLst>
              <a:ext uri="{FF2B5EF4-FFF2-40B4-BE49-F238E27FC236}">
                <a16:creationId xmlns:a16="http://schemas.microsoft.com/office/drawing/2014/main" id="{25BB7F72-08E5-4D39-8757-C1818DF8A7F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3268291" y="4088436"/>
            <a:ext cx="715541" cy="47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518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0666A60-0ED0-4591-A242-A74077AFFCB5}"/>
              </a:ext>
            </a:extLst>
          </p:cNvPr>
          <p:cNvSpPr txBox="1"/>
          <p:nvPr/>
        </p:nvSpPr>
        <p:spPr>
          <a:xfrm>
            <a:off x="4912659" y="2844225"/>
            <a:ext cx="1828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33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¡Gracias!</a:t>
            </a:r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2114087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428</TotalTime>
  <Words>2009</Words>
  <Application>Microsoft Office PowerPoint</Application>
  <PresentationFormat>Panorámica</PresentationFormat>
  <Paragraphs>170</Paragraphs>
  <Slides>17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17</vt:i4>
      </vt:variant>
    </vt:vector>
  </HeadingPairs>
  <TitlesOfParts>
    <vt:vector size="26" baseType="lpstr">
      <vt:lpstr>Arial</vt:lpstr>
      <vt:lpstr>Calibri</vt:lpstr>
      <vt:lpstr>Funnel Sans</vt:lpstr>
      <vt:lpstr>Mona Sans Semi Bold</vt:lpstr>
      <vt:lpstr>Symbol</vt:lpstr>
      <vt:lpstr>Times New Roman</vt:lpstr>
      <vt:lpstr>Wingdings</vt:lpstr>
      <vt:lpstr>Office Theme</vt:lpstr>
      <vt:lpstr>Office Theme</vt:lpstr>
      <vt:lpstr>Aterrizando la cultura Agile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</dc:title>
  <dc:subject/>
  <dc:creator>Daniel Ortiz</dc:creator>
  <dc:description/>
  <cp:lastModifiedBy>usuario</cp:lastModifiedBy>
  <cp:revision>44</cp:revision>
  <dcterms:created xsi:type="dcterms:W3CDTF">2020-10-12T14:09:12Z</dcterms:created>
  <dcterms:modified xsi:type="dcterms:W3CDTF">2026-01-25T19:50:24Z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Widescreen</vt:lpwstr>
  </property>
  <property fmtid="{D5CDD505-2E9C-101B-9397-08002B2CF9AE}" pid="4" name="Slides">
    <vt:i4>18</vt:i4>
  </property>
</Properties>
</file>